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dia/image1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0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Respaldo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Pt>
            <c:idx val="0"/>
            <c:spPr>
              <a:solidFill>
                <a:srgbClr val="00B0F0"/>
              </a:solidFill>
            </c:spPr>
          </c:dPt>
          <c:dPt>
            <c:idx val="1"/>
            <c:spPr>
              <a:solidFill>
                <a:srgbClr val="00B0F0"/>
              </a:solidFill>
            </c:spPr>
          </c:dPt>
          <c:dPt>
            <c:idx val="2"/>
            <c:spPr>
              <a:solidFill>
                <a:srgbClr val="00B0F0"/>
              </a:solidFill>
            </c:spPr>
          </c:dPt>
          <c:dPt>
            <c:idx val="3"/>
            <c:spPr>
              <a:solidFill>
                <a:srgbClr val="002060"/>
              </a:solidFill>
            </c:spPr>
          </c:dPt>
          <c:cat>
            <c:strRef>
              <c:f>Sheet1!$A$2:$A$5</c:f>
              <c:strCache>
                <c:ptCount val="4"/>
                <c:pt idx="0">
                  <c:v>Asignaturas</c:v>
                </c:pt>
                <c:pt idx="1">
                  <c:v>Competencias</c:v>
                </c:pt>
                <c:pt idx="2">
                  <c:v>Resultados de aprendizaje</c:v>
                </c:pt>
                <c:pt idx="3">
                  <c:v>Las tres capas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95.2</c:v>
                </c:pt>
                <c:pt idx="1">
                  <c:v>75.6</c:v>
                </c:pt>
                <c:pt idx="2">
                  <c:v>72.4</c:v>
                </c:pt>
                <c:pt idx="3">
                  <c:v>65.7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sz="1300">
                  <a:solidFill>
                    <a:srgbClr val="002060"/>
                  </a:solidFill>
                  <a:latin typeface="Area Normal Trial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1300">
                <a:solidFill>
                  <a:srgbClr val="00206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dPt>
            <c:idx val="0"/>
            <c:spPr>
              <a:solidFill>
                <a:srgbClr val="00B0F0"/>
              </a:solidFill>
              <a:ln>
                <a:solidFill>
                  <a:srgbClr val="002060"/>
                </a:solidFill>
              </a:ln>
            </c:spPr>
          </c:dPt>
          <c:dPt>
            <c:idx val="1"/>
            <c:spPr>
              <a:solidFill>
                <a:srgbClr val="FFFFFF"/>
              </a:solidFill>
              <a:ln>
                <a:solidFill>
                  <a:srgbClr val="002060"/>
                </a:solidFill>
              </a:ln>
            </c:spPr>
          </c:dPt>
          <c:dPt>
            <c:idx val="2"/>
            <c:spPr>
              <a:solidFill>
                <a:srgbClr val="B8C4D8"/>
              </a:solidFill>
              <a:ln>
                <a:solidFill>
                  <a:srgbClr val="002060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Saber</c:v>
                </c:pt>
                <c:pt idx="1">
                  <c:v>Saber hacer</c:v>
                </c:pt>
                <c:pt idx="2">
                  <c:v>Saber ser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47.6</c:v>
                </c:pt>
                <c:pt idx="1">
                  <c:v>36.4</c:v>
                </c:pt>
                <c:pt idx="2">
                  <c:v>16.0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sz="1400" b="1">
                  <a:solidFill>
                    <a:srgbClr val="002060"/>
                  </a:solidFill>
                  <a:latin typeface="Area Normal T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rea Normal Trial Ligh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Area Normal Trial Light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Usos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Dominar</c:v>
                </c:pt>
                <c:pt idx="1">
                  <c:v>Aplicar</c:v>
                </c:pt>
                <c:pt idx="2">
                  <c:v>Implementar</c:v>
                </c:pt>
                <c:pt idx="3">
                  <c:v>Desarrollar</c:v>
                </c:pt>
                <c:pt idx="4">
                  <c:v>Diseñar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22</c:v>
                </c:pt>
                <c:pt idx="2">
                  <c:v>20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Area Normal Trial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4D8"/>
            </a:solidFill>
          </a:ln>
        </c:spPr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C9D1DE"/>
            </a:solidFill>
          </c:spPr>
          <c:dPt>
            <c:idx val="0"/>
            <c:spPr>
              <a:solidFill>
                <a:srgbClr val="C9D1DE"/>
              </a:solidFill>
            </c:spPr>
          </c:dPt>
          <c:dPt>
            <c:idx val="1"/>
            <c:spPr>
              <a:solidFill>
                <a:srgbClr val="002060"/>
              </a:solidFill>
            </c:spPr>
          </c:dPt>
          <c:dPt>
            <c:idx val="2"/>
            <c:spPr>
              <a:solidFill>
                <a:srgbClr val="C9D1DE"/>
              </a:solidFill>
            </c:spPr>
          </c:dPt>
          <c:dPt>
            <c:idx val="3"/>
            <c:spPr>
              <a:solidFill>
                <a:srgbClr val="002060"/>
              </a:solidFill>
            </c:spPr>
          </c:dPt>
          <c:dPt>
            <c:idx val="4"/>
            <c:spPr>
              <a:solidFill>
                <a:srgbClr val="C9D1DE"/>
              </a:solidFill>
            </c:spPr>
          </c:dPt>
          <c:dPt>
            <c:idx val="5"/>
            <c:spPr>
              <a:solidFill>
                <a:srgbClr val="C9D1DE"/>
              </a:solidFill>
            </c:spPr>
          </c:dPt>
          <c:cat>
            <c:strRef>
              <c:f>Sheet1!$A$2:$A$7</c:f>
              <c:strCache>
                <c:ptCount val="6"/>
                <c:pt idx="0">
                  <c:v>Conocimiento</c:v>
                </c:pt>
                <c:pt idx="1">
                  <c:v>Comprensión</c:v>
                </c:pt>
                <c:pt idx="2">
                  <c:v>Aplicación</c:v>
                </c:pt>
                <c:pt idx="3">
                  <c:v>Análisis</c:v>
                </c:pt>
                <c:pt idx="4">
                  <c:v>Síntesis</c:v>
                </c:pt>
                <c:pt idx="5">
                  <c:v>Evaluación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68</c:v>
                </c:pt>
                <c:pt idx="2">
                  <c:v>9</c:v>
                </c:pt>
                <c:pt idx="3">
                  <c:v>66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002060"/>
                  </a:solidFill>
                  <a:latin typeface="Area Normal Trial Blac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 rot="0" vert="horz"/>
          <a:lstStyle/>
          <a:p>
            <a:pPr>
              <a:defRPr sz="1100">
                <a:solidFill>
                  <a:srgbClr val="00206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Estrategias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Pt>
            <c:idx val="0"/>
            <c:spPr>
              <a:solidFill>
                <a:srgbClr val="C9D1DE"/>
              </a:solidFill>
            </c:spPr>
          </c:dPt>
          <c:dPt>
            <c:idx val="1"/>
            <c:spPr>
              <a:solidFill>
                <a:srgbClr val="002060"/>
              </a:solidFill>
            </c:spPr>
          </c:dPt>
          <c:dPt>
            <c:idx val="2"/>
            <c:spPr>
              <a:solidFill>
                <a:srgbClr val="00B0F0"/>
              </a:solidFill>
            </c:spPr>
          </c:dPt>
          <c:dPt>
            <c:idx val="3"/>
            <c:spPr>
              <a:solidFill>
                <a:srgbClr val="00B0F0"/>
              </a:solidFill>
            </c:spPr>
          </c:dPt>
          <c:dPt>
            <c:idx val="4"/>
            <c:spPr>
              <a:solidFill>
                <a:srgbClr val="C9D1DE"/>
              </a:solidFill>
            </c:spPr>
          </c:dPt>
          <c:cat>
            <c:strRef>
              <c:f>Sheet1!$A$2:$A$6</c:f>
              <c:strCache>
                <c:ptCount val="5"/>
                <c:pt idx="0">
                  <c:v>N1 Implementación</c:v>
                </c:pt>
                <c:pt idx="1">
                  <c:v>N2 Percepción y reacción</c:v>
                </c:pt>
                <c:pt idx="2">
                  <c:v>N3 Aprendizaje demostrado</c:v>
                </c:pt>
                <c:pt idx="3">
                  <c:v>N4 Transferencia</c:v>
                </c:pt>
                <c:pt idx="4">
                  <c:v>N5 Efecto externo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369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02060"/>
                  </a:solidFill>
                  <a:latin typeface="Area Normal Trial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1200">
                <a:solidFill>
                  <a:srgbClr val="00206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Asignaturas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dPt>
            <c:idx val="0"/>
            <c:spPr>
              <a:solidFill>
                <a:srgbClr val="C9D1DE"/>
              </a:solidFill>
            </c:spPr>
          </c:dPt>
          <c:dPt>
            <c:idx val="1"/>
            <c:spPr>
              <a:solidFill>
                <a:srgbClr val="002060"/>
              </a:solidFill>
            </c:spPr>
          </c:dPt>
          <c:dPt>
            <c:idx val="2"/>
            <c:spPr>
              <a:solidFill>
                <a:srgbClr val="00B0F0"/>
              </a:solidFill>
            </c:spPr>
          </c:dPt>
          <c:cat>
            <c:strRef>
              <c:f>Sheet1!$A$2:$A$4</c:f>
              <c:strCache>
                <c:ptCount val="3"/>
                <c:pt idx="0">
                  <c:v>Idénticas (≥ 0,95)</c:v>
                </c:pt>
                <c:pt idx="1">
                  <c:v>Alta similitud</c:v>
                </c:pt>
                <c:pt idx="2">
                  <c:v>Divergentes (&lt; 0,60)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11</c:v>
                </c:pt>
                <c:pt idx="2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002060"/>
                  </a:solidFill>
                  <a:latin typeface="Area Normal Trial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1200">
                <a:solidFill>
                  <a:srgbClr val="00206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Amplitud: % de programas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Marketing y comunicación</c:v>
                </c:pt>
                <c:pt idx="1">
                  <c:v>Transformación digital y datos</c:v>
                </c:pt>
                <c:pt idx="2">
                  <c:v>Estrategia y proyectos</c:v>
                </c:pt>
                <c:pt idx="3">
                  <c:v>Finanzas y negocios int.</c:v>
                </c:pt>
                <c:pt idx="4">
                  <c:v>Diseño y economía creativa</c:v>
                </c:pt>
                <c:pt idx="5">
                  <c:v>STEM y lógico-matemático</c:v>
                </c:pt>
                <c:pt idx="6">
                  <c:v>Innovación educativa e inclusión</c:v>
                </c:pt>
                <c:pt idx="7">
                  <c:v>Derecho y regulación</c:v>
                </c:pt>
                <c:pt idx="8">
                  <c:v>Sostenibilidad y ESG</c:v>
                </c:pt>
                <c:pt idx="9">
                  <c:v>Ética y políticas públicas</c:v>
                </c:pt>
                <c:pt idx="10">
                  <c:v>Operaciones y turismo</c:v>
                </c:pt>
                <c:pt idx="11">
                  <c:v>Innovación y emprendimiento</c:v>
                </c:pt>
                <c:pt idx="12">
                  <c:v>Inteligencia artificial</c:v>
                </c:pt>
                <c:pt idx="13">
                  <c:v>Talento humano y bienestar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82.1</c:v>
                </c:pt>
                <c:pt idx="1">
                  <c:v>89.7</c:v>
                </c:pt>
                <c:pt idx="2">
                  <c:v>89.7</c:v>
                </c:pt>
                <c:pt idx="3">
                  <c:v>59.0</c:v>
                </c:pt>
                <c:pt idx="4">
                  <c:v>76.9</c:v>
                </c:pt>
                <c:pt idx="5">
                  <c:v>84.6</c:v>
                </c:pt>
                <c:pt idx="6">
                  <c:v>33.3</c:v>
                </c:pt>
                <c:pt idx="7">
                  <c:v>53.8</c:v>
                </c:pt>
                <c:pt idx="8">
                  <c:v>79.5</c:v>
                </c:pt>
                <c:pt idx="9">
                  <c:v>87.2</c:v>
                </c:pt>
                <c:pt idx="10">
                  <c:v>41.0</c:v>
                </c:pt>
                <c:pt idx="11">
                  <c:v>82.1</c:v>
                </c:pt>
                <c:pt idx="12">
                  <c:v>76.9</c:v>
                </c:pt>
                <c:pt idx="13">
                  <c:v>41.0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Profundidad: % de asignaturas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Marketing y comunicación</c:v>
                </c:pt>
                <c:pt idx="1">
                  <c:v>Transformación digital y datos</c:v>
                </c:pt>
                <c:pt idx="2">
                  <c:v>Estrategia y proyectos</c:v>
                </c:pt>
                <c:pt idx="3">
                  <c:v>Finanzas y negocios int.</c:v>
                </c:pt>
                <c:pt idx="4">
                  <c:v>Diseño y economía creativa</c:v>
                </c:pt>
                <c:pt idx="5">
                  <c:v>STEM y lógico-matemático</c:v>
                </c:pt>
                <c:pt idx="6">
                  <c:v>Innovación educativa e inclusión</c:v>
                </c:pt>
                <c:pt idx="7">
                  <c:v>Derecho y regulación</c:v>
                </c:pt>
                <c:pt idx="8">
                  <c:v>Sostenibilidad y ESG</c:v>
                </c:pt>
                <c:pt idx="9">
                  <c:v>Ética y políticas públicas</c:v>
                </c:pt>
                <c:pt idx="10">
                  <c:v>Operaciones y turismo</c:v>
                </c:pt>
                <c:pt idx="11">
                  <c:v>Innovación y emprendimiento</c:v>
                </c:pt>
                <c:pt idx="12">
                  <c:v>Inteligencia artificial</c:v>
                </c:pt>
                <c:pt idx="13">
                  <c:v>Talento humano y bienestar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16.1</c:v>
                </c:pt>
                <c:pt idx="1">
                  <c:v>15.8</c:v>
                </c:pt>
                <c:pt idx="2">
                  <c:v>15.5</c:v>
                </c:pt>
                <c:pt idx="3">
                  <c:v>14.0</c:v>
                </c:pt>
                <c:pt idx="4">
                  <c:v>13.6</c:v>
                </c:pt>
                <c:pt idx="5">
                  <c:v>13.5</c:v>
                </c:pt>
                <c:pt idx="6">
                  <c:v>8.3</c:v>
                </c:pt>
                <c:pt idx="7">
                  <c:v>8.2</c:v>
                </c:pt>
                <c:pt idx="8">
                  <c:v>7.7</c:v>
                </c:pt>
                <c:pt idx="9">
                  <c:v>7.5</c:v>
                </c:pt>
                <c:pt idx="10">
                  <c:v>5.5</c:v>
                </c:pt>
                <c:pt idx="11">
                  <c:v>4.8</c:v>
                </c:pt>
                <c:pt idx="12">
                  <c:v>3.5</c:v>
                </c:pt>
                <c:pt idx="13">
                  <c:v>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  <a:latin typeface="Area Normal Trial Ligh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8C4D8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Area Normal Trial Light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FFFFFF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Asignaturas propias</c:v>
                </c:pt>
              </c:strCache>
            </c:strRef>
          </c:tx>
          <c:spPr>
            <a:solidFill>
              <a:srgbClr val="002060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</c:v>
                </c:pt>
                <c:pt idx="1">
                  <c:v>29</c:v>
                </c:pt>
                <c:pt idx="2">
                  <c:v>28</c:v>
                </c:pt>
                <c:pt idx="3">
                  <c:v>27</c:v>
                </c:pt>
                <c:pt idx="4">
                  <c:v>26</c:v>
                </c:pt>
                <c:pt idx="5">
                  <c:v>23</c:v>
                </c:pt>
                <c:pt idx="6">
                  <c:v>21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16</c:v>
                </c:pt>
                <c:pt idx="11">
                  <c:v>16</c:v>
                </c:pt>
                <c:pt idx="12">
                  <c:v>13</c:v>
                </c:pt>
                <c:pt idx="1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Solo por el núcleo común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21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la tiene</c:v>
                </c:pt>
              </c:strCache>
            </c:strRef>
          </c:tx>
          <c:spPr>
            <a:solidFill>
              <a:srgbClr val="C9D1DE"/>
            </a:solidFill>
          </c:spPr>
          <c:invertIfNegative val="0"/>
          <c:dLbls>
            <c:numFmt formatCode="0;;" sourceLinked="0"/>
            <c:txPr>
              <a:bodyPr/>
              <a:lstStyle/>
              <a:p>
                <a:pPr>
                  <a:defRPr sz="1100">
                    <a:solidFill>
                      <a:srgbClr val="002060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Estrategia y proyectos</c:v>
                </c:pt>
                <c:pt idx="1">
                  <c:v>Marketing y comunicación</c:v>
                </c:pt>
                <c:pt idx="2">
                  <c:v>Transformación digital y datos</c:v>
                </c:pt>
                <c:pt idx="3">
                  <c:v>Ética y políticas públicas</c:v>
                </c:pt>
                <c:pt idx="4">
                  <c:v>STEM y lógico-matemático</c:v>
                </c:pt>
                <c:pt idx="5">
                  <c:v>Finanzas y negocios int.</c:v>
                </c:pt>
                <c:pt idx="6">
                  <c:v>Derecho y regulación</c:v>
                </c:pt>
                <c:pt idx="7">
                  <c:v>Sostenibilidad y ESG</c:v>
                </c:pt>
                <c:pt idx="8">
                  <c:v>Innovación y emprendimiento</c:v>
                </c:pt>
                <c:pt idx="9">
                  <c:v>Diseño y economía creativa</c:v>
                </c:pt>
                <c:pt idx="10">
                  <c:v>Talento humano y bienestar</c:v>
                </c:pt>
                <c:pt idx="11">
                  <c:v>Operaciones y turismo</c:v>
                </c:pt>
                <c:pt idx="12">
                  <c:v>Innovación educativa e inclusión</c:v>
                </c:pt>
                <c:pt idx="13">
                  <c:v>Inteligencia artificial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4</c:v>
                </c:pt>
                <c:pt idx="1">
                  <c:v>7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16</c:v>
                </c:pt>
                <c:pt idx="6">
                  <c:v>18</c:v>
                </c:pt>
                <c:pt idx="7">
                  <c:v>8</c:v>
                </c:pt>
                <c:pt idx="8">
                  <c:v>7</c:v>
                </c:pt>
                <c:pt idx="9">
                  <c:v>9</c:v>
                </c:pt>
                <c:pt idx="10">
                  <c:v>23</c:v>
                </c:pt>
                <c:pt idx="11">
                  <c:v>23</c:v>
                </c:pt>
                <c:pt idx="12">
                  <c:v>26</c:v>
                </c:pt>
                <c:pt idx="13">
                  <c:v>9</c:v>
                </c:pt>
              </c:numCache>
            </c:numRef>
          </c:val>
        </c:ser>
        <c:dLbls>
          <c:numFmt formatCode="0;;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  <a:latin typeface="Area Normal Trial Ligh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1DE"/>
            </a:solidFill>
          </a:ln>
        </c:spPr>
        <c:txPr>
          <a:bodyPr/>
          <a:lstStyle/>
          <a:p>
            <a:pPr>
              <a:defRPr sz="1100">
                <a:solidFill>
                  <a:srgbClr val="00206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9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002060"/>
              </a:solidFill>
              <a:latin typeface="Area Normal Trial Light"/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002060"/>
          </a:solidFill>
          <a:latin typeface="Area Normal Trial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de apertura: el currículo está bien articulado en el papel; la brecha está en cómo se formula y cómo se demuestra el aprendizaje. La IA generativa asiste el análisis; la decisión es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corpus son las 50 matrices curriculares (39 programas por sede y modalidad). Se audita la ruta perfil, competencias, RA, estrategias e indicadores. La IAg asiste; el análisis es determinista y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96,2 % de atributos en alguna capa. V2 90 % (5 matrices de 3 programas repiten verbo). V3 100 % lo fija la plantilla. V4 87,0 % (294 de 338 RA; 98,0 % sin el RA genérico). V5 95,4 % de estrategias con evidencia N2 o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96,2 % del perfil tiene respaldo en alguna capa, pero la formulación como competencia (75,6 %) o RA (72,4 %) es menor. Los vacíos se concentran en escenarios concretos de desempeño (poblaciones), no en competencias generales. Decisión: incorporar contenido o acotar el perfil que se difunde.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RA únicos: Saber 47,6 %, Saber hacer 36,4 %, Saber ser 16,0 %. En registros la plantilla fija la paridad (37,9/31,1/31,1), por eso no es hallazgo. Entre competencias específicas predominan Dominar, Aplicar e Implementar.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taxonomías conviven: Bloom clásica y BAK (aportes de Krathwohl, con escalas propias para lo procedimental y actitudinal). Los niveles cognitivos se concentran en Comprensión y Análisis. El índice de exigencia no se reporta en el artículo; se presenta solo como lectura descriptiva.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391 estrategias cumplen el requisito de la plantilla (indicador e instrumento), pero 808 indicadores miden implementación y 371 percepción; solo 5 miden aprendizaje demostrado. La trazabilidad tiene dos causas: 38 de 44 RA sin estrategia son el genérico institucional (decisión institucional) y 6 son decisiones de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159 denominaciones concentran 937 de 1.616 asignaturas. Seis forman el núcleo común institucional. De las 159 homónimas, 133 son idénticas y 15 divergen. Hay 203 pares con nombre distinto y contenido similar: 14 variantes de nombre y 189 candidatos a homologación (con falsos positivos léxicos).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Amplitud: proporción de programas con al menos una asignatura asociada. Profundidad: proporción de asignaturas. Las de mayor profundidad son marketing, transformación digital, estrategia y finanzas. Las de menor amplitud: innovación educativa (13 programas), talento humano y operaciones (16 cada una). La lista de tendencias es una decisión institucional que debe deliberarse.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de integración: por tendencia, cuántos programas la tienen en asignaturas propias, solo por el núcleo común institucional, o no la tienen. La IA aparece en 57 de 1.616 asignaturas (3,5 %): 21 programas la tienen solo por un núcleo de Análisis y Visualización de Datos; siete la integran en asignaturas propias y dos tienen asignaturas dedicadas. Mensaje: afirmar cobertura, no especialización.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artículo es global; el dashboard debe leerse por matriz sin perder la referencia institucional. Cuidados: 19 matrices pertenecen a 8 programas multisede con RA idénticos y no se comparan entre sí; no hay puntaje compuesto; las pruebas inferenciales solo existen para el conjunto.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cinco decisiones, cada una anclada en una cifra. Las cautelas son parte del hallazgo: el diseño es descriptivo y la lectura de referencia del perfil no está validada por el comité.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BA0C2-BB59-9FDF-0B19-EA7AE2638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7C6B2D-0868-8793-002A-965498EF8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75DDB-D20B-505A-910A-6166705D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251CD0-79F2-CE83-5C94-FAF7408F0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57C795-B8C6-6F4F-8CC1-56A835EE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067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953EB-F2CE-7FED-5A8D-7B64A405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D948D0-8864-F4FC-57D8-233EDE18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8425B1-44B5-FFEB-31AF-6BF7321F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7D222C-6EAB-ECF0-CE40-FFA3C252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13CE6-CFAE-CCC2-4852-C08DA9383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83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1E92-591A-E418-AE84-9C06702F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57FD7C-13A0-5CBB-AB45-BFB0A3767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80AEE6-0174-A967-E7D5-A2790704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5C18E-689D-5606-FFF8-42D2757C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E8489C-F0E2-53AE-7634-11D7A919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213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4F8B9-A406-12B0-6965-74426782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115713-78AB-7EEA-95DA-A1CE7CB01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3129C1-6956-052F-0656-ACBF4A627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D16B14-0078-D9A7-8BE8-E2C4E892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2D8887-8BB4-DEA4-3E8A-2149D41B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BBDE98-90E2-863E-14E5-CD60FDB8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736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3867-B577-E9A8-5E8D-E653EE777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B6E5F0-5BB6-4270-16E7-7AD9A43DF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86D8C1-75D3-DA20-702B-81FD1A4A6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7AC00C-D46A-0C65-264D-57F3CBAB1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DEACBF-F6ED-7EED-9C41-4FA8DFD6A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5B957A-4C3D-80C3-1CAE-B7851DF3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FFFFC1C-BEB9-B052-4C26-450792D0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C757F2-CFD1-63D4-C2DC-D166F3CD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168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00E8D-FFA5-21A6-3D4C-8F626704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4CC961-5865-4568-9E3C-8F0E925E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04724D-29C5-4D59-6D49-767B8B6A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3B3135-5FF8-BDEF-0449-FE910CF8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39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D7D6236-B85A-5EA5-8FC4-D79027E4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313128-CA62-0BBE-8500-EAB75D6E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AE5FAF-232C-315C-DF62-A4045BB0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688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96415-5EFC-9E1B-FF80-DA5493FB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780190-9427-D125-46CC-1C77CE683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32DFDF-AA50-029B-E684-B35D8B805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95C0C4-0CFE-D62D-81CB-F0DA024C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0F89C6-42FE-9073-E66B-EAD06598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9E3066-D6E3-B7C2-C06E-6E137BB8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435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0CA25-4CBC-5958-2E23-224F519E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39A0F1-C9B4-CDB2-1DD3-B981C9E21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16CFC0-3B4D-C5F1-0580-C5E4A9965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EB863D-3F30-F8C7-5E58-76308EE5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06D0D9-472F-0D81-F959-87EC97E0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BC2BF7-7527-E6E7-F313-B9AA576B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881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9D4FA-D32D-1193-A32E-17AEA5D1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163305-391D-72CC-ADC3-5431C2A6F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FF0DB-FDE6-77CE-2481-4760B866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D2B599-DEE5-8377-C8AF-5503714D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224C94-4B38-A17F-E79C-99860757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300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C60608-54B9-C827-47BC-F0C78527E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30E7DA-6EC6-80E2-9991-FE2FB188E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DEDE6E-CDC3-63F6-C146-6264AB40B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F91684-A2F5-9A73-22A1-1E4A73C2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5099AB-CC2E-7B6D-B7E8-76C604F19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2397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E67782-EAE2-6959-270C-7118E3D1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D38941-3C8A-FFBE-3AE1-052EF956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AE7A08-42E4-DD2D-6CF3-1A4410074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592492-CA2A-AD44-8FF6-067AB9C343F7}" type="datetimeFigureOut">
              <a:rPr lang="es-CO" smtClean="0"/>
              <a:t>19/08/2026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37001-F911-068C-6440-999AE6758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99D629-3385-8376-EE96-9DC6EE7E2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E0CC0-4281-2047-BA61-588D1E95227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1475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chart" Target="../charts/chart7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sv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00612E7-7682-3DC8-F2AA-C04F4B4B4B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29" t="43222" b="40119"/>
          <a:stretch>
            <a:fillRect/>
          </a:stretch>
        </p:blipFill>
        <p:spPr>
          <a:xfrm>
            <a:off x="7782560" y="294640"/>
            <a:ext cx="4683760" cy="995680"/>
          </a:xfrm>
          <a:prstGeom prst="rect">
            <a:avLst/>
          </a:prstGeom>
        </p:spPr>
      </p:pic>
      <p:sp>
        <p:nvSpPr>
          <p:cNvPr id="7" name="Titulo"/>
          <p:cNvSpPr txBox="1"/>
          <p:nvPr/>
        </p:nvSpPr>
        <p:spPr>
          <a:xfrm>
            <a:off x="822960" y="214884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ea Normal Trial Black"/>
              </a:rPr>
              <a:t>La inteligencia artificial generativa como infraestructura de decisión curricular</a:t>
            </a:r>
          </a:p>
        </p:txBody>
      </p:sp>
      <p:sp>
        <p:nvSpPr>
          <p:cNvPr id="8" name="Subtitulo"/>
          <p:cNvSpPr txBox="1"/>
          <p:nvPr/>
        </p:nvSpPr>
        <p:spPr>
          <a:xfrm>
            <a:off x="822960" y="42519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ea Normal Trial Light"/>
              </a:rPr>
              <a:t>Coherencia, trazabilidad y evidencia en 50 matrices curriculares del Politécnico Grancolombiano</a:t>
            </a:r>
          </a:p>
        </p:txBody>
      </p:sp>
      <p:sp>
        <p:nvSpPr>
          <p:cNvPr id="9" name="Pie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8C4D8"/>
                </a:solidFill>
                <a:latin typeface="Area Normal Trial Light"/>
              </a:rPr>
              <a:t>Presentación a la Alta Dirección · Vicerrectoría Académica ·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24938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02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Cincuenta matrices, una misma lectura: del perfil al indicador</a:t>
            </a:r>
          </a:p>
        </p:txBody>
      </p:sp>
      <p:sp>
        <p:nvSpPr>
          <p:cNvPr id="10" name="Tarjeta matrices"/>
          <p:cNvSpPr/>
          <p:nvPr/>
        </p:nvSpPr>
        <p:spPr>
          <a:xfrm>
            <a:off x="731520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matrices</a:t>
            </a:r>
          </a:p>
        </p:txBody>
      </p:sp>
      <p:sp>
        <p:nvSpPr>
          <p:cNvPr id="13" name="Tarjeta programas"/>
          <p:cNvSpPr/>
          <p:nvPr/>
        </p:nvSpPr>
        <p:spPr>
          <a:xfrm>
            <a:off x="2532888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programas</a:t>
            </a:r>
          </a:p>
        </p:txBody>
      </p:sp>
      <p:sp>
        <p:nvSpPr>
          <p:cNvPr id="16" name="Tarjeta competencias"/>
          <p:cNvSpPr/>
          <p:nvPr/>
        </p:nvSpPr>
        <p:spPr>
          <a:xfrm>
            <a:off x="4334256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222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competencias</a:t>
            </a:r>
          </a:p>
        </p:txBody>
      </p:sp>
      <p:sp>
        <p:nvSpPr>
          <p:cNvPr id="19" name="Tarjeta RA únicos"/>
          <p:cNvSpPr/>
          <p:nvPr/>
        </p:nvSpPr>
        <p:spPr>
          <a:xfrm>
            <a:off x="6135624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RA únicos</a:t>
            </a:r>
          </a:p>
        </p:txBody>
      </p:sp>
      <p:sp>
        <p:nvSpPr>
          <p:cNvPr id="22" name="Tarjeta estrategias"/>
          <p:cNvSpPr/>
          <p:nvPr/>
        </p:nvSpPr>
        <p:spPr>
          <a:xfrm>
            <a:off x="7936992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391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2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estrategias</a:t>
            </a:r>
          </a:p>
        </p:txBody>
      </p:sp>
      <p:sp>
        <p:nvSpPr>
          <p:cNvPr id="25" name="Tarjeta asignaturas"/>
          <p:cNvSpPr/>
          <p:nvPr/>
        </p:nvSpPr>
        <p:spPr>
          <a:xfrm>
            <a:off x="9738360" y="1783080"/>
            <a:ext cx="16916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96596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002060"/>
                </a:solidFill>
                <a:latin typeface="Area Normal Trial Black"/>
              </a:rPr>
              <a:t>1.757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697480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asignaturas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Area Normal Trial Black"/>
              </a:rPr>
              <a:t>RUTA DE ALINEACIÓN QUE SE AUDITA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01368" y="4160520"/>
            <a:ext cx="855878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412748" y="3771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ea Normal Trial Black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" y="4663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Area Normal Trial Black"/>
              </a:rPr>
              <a:t>Perfil de egreso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2.574 atributos</a:t>
            </a:r>
          </a:p>
        </p:txBody>
      </p:sp>
      <p:sp>
        <p:nvSpPr>
          <p:cNvPr id="33" name="Oval 32"/>
          <p:cNvSpPr/>
          <p:nvPr/>
        </p:nvSpPr>
        <p:spPr>
          <a:xfrm>
            <a:off x="3552444" y="3771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ea Normal Trial Black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35223" y="4663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Area Normal Trial Black"/>
              </a:rPr>
              <a:t>Competencias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5223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222</a:t>
            </a:r>
          </a:p>
        </p:txBody>
      </p:sp>
      <p:sp>
        <p:nvSpPr>
          <p:cNvPr id="36" name="Oval 35"/>
          <p:cNvSpPr/>
          <p:nvPr/>
        </p:nvSpPr>
        <p:spPr>
          <a:xfrm>
            <a:off x="5692140" y="3771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ea Normal Trial Black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19" y="4663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Area Normal Trial Black"/>
              </a:rPr>
              <a:t>Resultados (RA)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19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338 únicos</a:t>
            </a:r>
          </a:p>
        </p:txBody>
      </p:sp>
      <p:sp>
        <p:nvSpPr>
          <p:cNvPr id="39" name="Oval 38"/>
          <p:cNvSpPr/>
          <p:nvPr/>
        </p:nvSpPr>
        <p:spPr>
          <a:xfrm>
            <a:off x="7831836" y="3771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ea Normal Trial Black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4663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Area Normal Trial Black"/>
              </a:rPr>
              <a:t>Estrategias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4616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391</a:t>
            </a:r>
          </a:p>
        </p:txBody>
      </p:sp>
      <p:sp>
        <p:nvSpPr>
          <p:cNvPr id="42" name="Oval 41"/>
          <p:cNvSpPr/>
          <p:nvPr/>
        </p:nvSpPr>
        <p:spPr>
          <a:xfrm>
            <a:off x="9971532" y="3771900"/>
            <a:ext cx="777240" cy="77724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ea Normal Trial Black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46634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02060"/>
                </a:solidFill>
                <a:latin typeface="Area Normal Trial Black"/>
              </a:rPr>
              <a:t>Indicadores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2" y="5010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4D6285"/>
                </a:solidFill>
                <a:latin typeface="Area Normal Trial Light"/>
              </a:rPr>
              <a:t>1.185</a:t>
            </a:r>
          </a:p>
        </p:txBody>
      </p:sp>
      <p:sp>
        <p:nvSpPr>
          <p:cNvPr id="45" name="Bloque de enfasis"/>
          <p:cNvSpPr/>
          <p:nvPr/>
        </p:nvSpPr>
        <p:spPr>
          <a:xfrm>
            <a:off x="731520" y="5486400"/>
            <a:ext cx="10698480" cy="74980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614416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0F0"/>
                </a:solidFill>
                <a:latin typeface="Area Normal Trial Black"/>
              </a:rPr>
              <a:t>MÉTODO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870448"/>
            <a:ext cx="10149840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La IA generativa asiste el análisis y la programación; la decisión curricular sigue siendo del comité académico.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5C0A3-B76B-776B-474F-6DBB4CEF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29B69F8-3A4F-4F47-300D-8C3929E55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7020" y="501724"/>
            <a:ext cx="1161231" cy="2558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529598F-C260-63A8-3FEC-C5E6159E7977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chemeClr val="bg1"/>
                </a:solidFill>
                <a:latin typeface="Montserrat" pitchFamily="2" charset="77"/>
              </a:rPr>
              <a:t>03</a:t>
            </a:r>
          </a:p>
        </p:txBody>
      </p:sp>
      <p:sp>
        <p:nvSpPr>
          <p:cNvPr id="10" name="Titulo"/>
          <p:cNvSpPr txBox="1"/>
          <p:nvPr/>
        </p:nvSpPr>
        <p:spPr>
          <a:xfrm>
            <a:off x="731520" y="502920"/>
            <a:ext cx="8961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ea Normal Trial Black"/>
              </a:rPr>
              <a:t>La articulación formal es alta: lo que falta está en la formulación y la evidencia</a:t>
            </a:r>
          </a:p>
        </p:txBody>
      </p:sp>
      <p:sp>
        <p:nvSpPr>
          <p:cNvPr id="11" name="Tarjeta V1"/>
          <p:cNvSpPr/>
          <p:nvPr/>
        </p:nvSpPr>
        <p:spPr>
          <a:xfrm>
            <a:off x="731520" y="1783080"/>
            <a:ext cx="2011680" cy="2880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B0F0"/>
                </a:solidFill>
                <a:latin typeface="Area Normal Trial Black"/>
              </a:rPr>
              <a:t>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Perfil con respaldo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ea Normal Trial Black"/>
              </a:rPr>
              <a:t>96,2 %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4D8"/>
                </a:solidFill>
                <a:latin typeface="Area Normal Trial Light"/>
              </a:rPr>
              <a:t>de los atributos, en al menos una capa</a:t>
            </a:r>
          </a:p>
        </p:txBody>
      </p:sp>
      <p:sp>
        <p:nvSpPr>
          <p:cNvPr id="16" name="Tarjeta V2"/>
          <p:cNvSpPr/>
          <p:nvPr/>
        </p:nvSpPr>
        <p:spPr>
          <a:xfrm>
            <a:off x="2903220" y="1783080"/>
            <a:ext cx="2011680" cy="2880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610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B0F0"/>
                </a:solidFill>
                <a:latin typeface="Area Normal Trial Black"/>
              </a:rP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6100" y="22402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Competencias sin verbo repetido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6100" y="30175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ea Normal Trial Black"/>
              </a:rPr>
              <a:t>90 %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6100" y="3749039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4D8"/>
                </a:solidFill>
                <a:latin typeface="Area Normal Trial Light"/>
              </a:rPr>
              <a:t>45 de 50 matrices</a:t>
            </a:r>
          </a:p>
        </p:txBody>
      </p:sp>
      <p:sp>
        <p:nvSpPr>
          <p:cNvPr id="21" name="Tarjeta V3"/>
          <p:cNvSpPr/>
          <p:nvPr/>
        </p:nvSpPr>
        <p:spPr>
          <a:xfrm>
            <a:off x="5074920" y="1783080"/>
            <a:ext cx="2011680" cy="2880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B0F0"/>
                </a:solidFill>
                <a:latin typeface="Area Normal Trial Black"/>
              </a:rPr>
              <a:t>V3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22402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RA evaluables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0175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B8C4D8"/>
                </a:solidFill>
                <a:latin typeface="Area Normal Trial Black"/>
              </a:rPr>
              <a:t>100 %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749039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4D8"/>
                </a:solidFill>
                <a:latin typeface="Area Normal Trial Light"/>
              </a:rPr>
              <a:t>Lo fija la plantilla: describe el instrumento, no es fortaleza</a:t>
            </a:r>
          </a:p>
        </p:txBody>
      </p:sp>
      <p:sp>
        <p:nvSpPr>
          <p:cNvPr id="26" name="Tarjeta V4"/>
          <p:cNvSpPr/>
          <p:nvPr/>
        </p:nvSpPr>
        <p:spPr>
          <a:xfrm>
            <a:off x="7246620" y="1783080"/>
            <a:ext cx="2011680" cy="2880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950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B0F0"/>
                </a:solidFill>
                <a:latin typeface="Area Normal Trial Black"/>
              </a:rPr>
              <a:t>V4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0" y="22402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Trazabilidad RA → estrategia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0" y="30175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ea Normal Trial Black"/>
              </a:rPr>
              <a:t>87,0 %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0" y="3749039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4D8"/>
                </a:solidFill>
                <a:latin typeface="Area Normal Trial Light"/>
              </a:rPr>
              <a:t>98,0 % sin el RA genérico institucional</a:t>
            </a:r>
          </a:p>
        </p:txBody>
      </p:sp>
      <p:sp>
        <p:nvSpPr>
          <p:cNvPr id="31" name="Tarjeta V5"/>
          <p:cNvSpPr/>
          <p:nvPr/>
        </p:nvSpPr>
        <p:spPr>
          <a:xfrm>
            <a:off x="9418320" y="1783080"/>
            <a:ext cx="2011680" cy="288036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920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B0F0"/>
                </a:solidFill>
                <a:latin typeface="Area Normal Trial Black"/>
              </a:rPr>
              <a:t>V5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2402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Estrategias con evidencia N2 o superior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01752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ea Normal Trial Black"/>
              </a:rPr>
              <a:t>95,4 %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49039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4D8"/>
                </a:solidFill>
                <a:latin typeface="Area Normal Trial Light"/>
              </a:rPr>
              <a:t>Solo 0,8 % es evidencia directa del aprendizaje</a:t>
            </a:r>
          </a:p>
        </p:txBody>
      </p:sp>
      <p:sp>
        <p:nvSpPr>
          <p:cNvPr id="36" name="Bloque de enfasis"/>
          <p:cNvSpPr/>
          <p:nvPr/>
        </p:nvSpPr>
        <p:spPr>
          <a:xfrm>
            <a:off x="731520" y="489204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20055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Area Normal Trial Black"/>
              </a:rPr>
              <a:t>LECTURA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276088"/>
            <a:ext cx="10149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02060"/>
                </a:solidFill>
                <a:latin typeface="Area Normal Trial Light"/>
              </a:rPr>
              <a:t>Estas cifras miden articulación formal. Las brechas se concentran en tres lugares: la formulación del perfil, la evidencia del aprendizaje y la profundidad de las tendencias.</a:t>
            </a:r>
          </a:p>
        </p:txBody>
      </p:sp>
    </p:spTree>
    <p:extLst>
      <p:ext uri="{BB962C8B-B14F-4D97-AF65-F5344CB8AC3E}">
        <p14:creationId xmlns:p14="http://schemas.microsoft.com/office/powerpoint/2010/main" val="250840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04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El perfil se enseña más de lo que se formula como competencia o RA</a:t>
            </a:r>
          </a:p>
        </p:txBody>
      </p:sp>
      <p:sp>
        <p:nvSpPr>
          <p:cNvPr id="10" name="Fondo grafico"/>
          <p:cNvSpPr/>
          <p:nvPr/>
        </p:nvSpPr>
        <p:spPr>
          <a:xfrm>
            <a:off x="731520" y="1783080"/>
            <a:ext cx="594360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060"/>
                </a:solidFill>
                <a:latin typeface="Area Normal Trial Black"/>
              </a:rPr>
              <a:t>Atributos del perfil con respaldo, por capa (n = 2.574)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14400" y="2423160"/>
          <a:ext cx="557784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arjeta vacio"/>
          <p:cNvSpPr/>
          <p:nvPr/>
        </p:nvSpPr>
        <p:spPr>
          <a:xfrm>
            <a:off x="6949440" y="178308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892807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92807"/>
            <a:ext cx="228600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atributos sin alineación en ninguna capa (3,8 %)</a:t>
            </a:r>
          </a:p>
        </p:txBody>
      </p:sp>
      <p:sp>
        <p:nvSpPr>
          <p:cNvPr id="16" name="Tarjeta vacio"/>
          <p:cNvSpPr/>
          <p:nvPr/>
        </p:nvSpPr>
        <p:spPr>
          <a:xfrm>
            <a:off x="6949440" y="3017520"/>
            <a:ext cx="4480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312724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10,9 %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127248"/>
            <a:ext cx="228600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sin alineación en poblaciones de actuación, frente a 1,7–2,7 % en tareas, áreas y funciones</a:t>
            </a:r>
          </a:p>
        </p:txBody>
      </p:sp>
      <p:sp>
        <p:nvSpPr>
          <p:cNvPr id="19" name="Tarjeta vacio"/>
          <p:cNvSpPr/>
          <p:nvPr/>
        </p:nvSpPr>
        <p:spPr>
          <a:xfrm>
            <a:off x="6949440" y="4251960"/>
            <a:ext cx="448056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4361688"/>
            <a:ext cx="17373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2060"/>
                </a:solidFill>
                <a:latin typeface="Area Normal Trial Black"/>
              </a:rPr>
              <a:t>3 patrones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361688"/>
            <a:ext cx="2286000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docencia sin formación didáctica, dirección sin contenido directivo y poblaciones vulnerables sin tratamiento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D6285"/>
                </a:solidFill>
                <a:latin typeface="Area Normal Trial Light"/>
              </a:rPr>
              <a:t>Referencia de calibración asistida por IAg, no validada por el comité (acuerdo 80,1 %; κ = 0,44). Parte de los casos puede ser falso negativo del emparejamiento automático.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5C0A3-B76B-776B-474F-6DBB4CEF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29B69F8-3A4F-4F47-300D-8C3929E55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7020" y="501724"/>
            <a:ext cx="1161231" cy="2558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529598F-C260-63A8-3FEC-C5E6159E7977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chemeClr val="bg1"/>
                </a:solidFill>
                <a:latin typeface="Montserrat" pitchFamily="2" charset="77"/>
              </a:rPr>
              <a:t>05</a:t>
            </a:r>
          </a:p>
        </p:txBody>
      </p:sp>
      <p:sp>
        <p:nvSpPr>
          <p:cNvPr id="10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ea Normal Trial Black"/>
              </a:rPr>
              <a:t>Taxonomías (1): el currículo formula más saber que actitud</a:t>
            </a:r>
          </a:p>
        </p:txBody>
      </p:sp>
      <p:sp>
        <p:nvSpPr>
          <p:cNvPr id="11" name="Fondo dona"/>
          <p:cNvSpPr/>
          <p:nvPr/>
        </p:nvSpPr>
        <p:spPr>
          <a:xfrm>
            <a:off x="731520" y="1783080"/>
            <a:ext cx="5120640" cy="338328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ea Normal Trial Black"/>
              </a:rPr>
              <a:t>Tipo de saber de los 338 RA únicos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2331720"/>
          <a:ext cx="475488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Fondo verbos"/>
          <p:cNvSpPr/>
          <p:nvPr/>
        </p:nvSpPr>
        <p:spPr>
          <a:xfrm>
            <a:off x="6126480" y="1783080"/>
            <a:ext cx="5303520" cy="3383280"/>
          </a:xfrm>
          <a:prstGeom prst="roundRect">
            <a:avLst>
              <a:gd name="adj" fmla="val 5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ea Normal Trial Black"/>
              </a:rPr>
              <a:t>Verbos de competencias específicas (n.º de usos)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09360" y="2377440"/>
          <a:ext cx="4937760" cy="2697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Bloque de enfasis"/>
          <p:cNvSpPr/>
          <p:nvPr/>
        </p:nvSpPr>
        <p:spPr>
          <a:xfrm>
            <a:off x="73152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77255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Area Normal Trial Black"/>
              </a:rPr>
              <a:t>LECTURA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3328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002060"/>
                </a:solidFill>
                <a:latin typeface="Area Normal Trial Light"/>
              </a:rPr>
              <a:t>Analizar lidera con 50 usos, pero 40 son la competencia genérica institucional. El saber ser pesa 31,1 % en registros y 16,0 % en RA únicos porque se reutiliza en 3,4 competencias.</a:t>
            </a:r>
          </a:p>
        </p:txBody>
      </p:sp>
    </p:spTree>
    <p:extLst>
      <p:ext uri="{BB962C8B-B14F-4D97-AF65-F5344CB8AC3E}">
        <p14:creationId xmlns:p14="http://schemas.microsoft.com/office/powerpoint/2010/main" val="250840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06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Taxonomías (2): dos escalas, una comparación común</a:t>
            </a:r>
          </a:p>
        </p:txBody>
      </p:sp>
      <p:sp>
        <p:nvSpPr>
          <p:cNvPr id="10" name="Tarjeta Bloom"/>
          <p:cNvSpPr/>
          <p:nvPr/>
        </p:nvSpPr>
        <p:spPr>
          <a:xfrm>
            <a:off x="731520" y="178308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D6285"/>
                </a:solidFill>
                <a:latin typeface="Area Normal Trial Black"/>
              </a:rPr>
              <a:t>Bloom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2060"/>
                </a:solidFill>
                <a:latin typeface="Area Normal Trial Black"/>
              </a:rPr>
              <a:t>48,5 %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D6285"/>
                </a:solidFill>
                <a:latin typeface="Area Normal Trial Light"/>
              </a:rPr>
              <a:t>164 RA únicos</a:t>
            </a:r>
          </a:p>
        </p:txBody>
      </p:sp>
      <p:sp>
        <p:nvSpPr>
          <p:cNvPr id="14" name="Tarjeta BAK"/>
          <p:cNvSpPr/>
          <p:nvPr/>
        </p:nvSpPr>
        <p:spPr>
          <a:xfrm>
            <a:off x="3200400" y="1783080"/>
            <a:ext cx="22860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920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D6285"/>
                </a:solidFill>
                <a:latin typeface="Area Normal Trial Black"/>
              </a:rPr>
              <a:t>BAK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402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002060"/>
                </a:solidFill>
                <a:latin typeface="Area Normal Trial Black"/>
              </a:rPr>
              <a:t>51,5 %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80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D6285"/>
                </a:solidFill>
                <a:latin typeface="Area Normal Trial Light"/>
              </a:rPr>
              <a:t>174 RA únicos</a:t>
            </a:r>
          </a:p>
        </p:txBody>
      </p:sp>
      <p:sp>
        <p:nvSpPr>
          <p:cNvPr id="18" name="Tarjeta uso"/>
          <p:cNvSpPr/>
          <p:nvPr/>
        </p:nvSpPr>
        <p:spPr>
          <a:xfrm>
            <a:off x="731520" y="3520440"/>
            <a:ext cx="47548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301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Area Normal Trial Black"/>
              </a:rPr>
              <a:t>Matrices según taxonomía empleada (n = 50)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02060"/>
                </a:solidFill>
                <a:latin typeface="Area Normal Trial Black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285"/>
                </a:solidFill>
                <a:latin typeface="Area Normal Trial Light"/>
              </a:rPr>
              <a:t>usan ambas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0233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02060"/>
                </a:solidFill>
                <a:latin typeface="Area Normal Trial Black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285"/>
                </a:solidFill>
                <a:latin typeface="Area Normal Trial Light"/>
              </a:rPr>
              <a:t>solo Bloom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0233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02060"/>
                </a:solidFill>
                <a:latin typeface="Area Normal T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D6285"/>
                </a:solidFill>
                <a:latin typeface="Area Normal Trial Light"/>
              </a:rPr>
              <a:t>solo BAK</a:t>
            </a:r>
          </a:p>
        </p:txBody>
      </p:sp>
      <p:sp>
        <p:nvSpPr>
          <p:cNvPr id="26" name="Fondo niveles"/>
          <p:cNvSpPr/>
          <p:nvPr/>
        </p:nvSpPr>
        <p:spPr>
          <a:xfrm>
            <a:off x="5760720" y="1783080"/>
            <a:ext cx="56692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9019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060"/>
                </a:solidFill>
                <a:latin typeface="Area Normal Trial Black"/>
              </a:rPr>
              <a:t>Nivel cognitivo de los RA (n = 161 RA únicos del dominio cognitivo)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943600" y="2468880"/>
          <a:ext cx="530352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Bloque de enfasis"/>
          <p:cNvSpPr/>
          <p:nvPr/>
        </p:nvSpPr>
        <p:spPr>
          <a:xfrm>
            <a:off x="731520" y="5394960"/>
            <a:ext cx="10698480" cy="841248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522976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B0F0"/>
                </a:solidFill>
                <a:latin typeface="Area Normal Trial Black"/>
              </a:rPr>
              <a:t>CAUTELA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rea Normal Trial Light"/>
              </a:rPr>
              <a:t>Bloom y BAK se llevaron a una escala común de 1 a 6. La exigencia solo se compara entre matrices del mismo nivel de formación, y es descriptiva.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07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Todas las estrategias miden algo; casi ninguna mide si se aprendió</a:t>
            </a:r>
          </a:p>
        </p:txBody>
      </p:sp>
      <p:sp>
        <p:nvSpPr>
          <p:cNvPr id="10" name="Fondo niveles evidencia"/>
          <p:cNvSpPr/>
          <p:nvPr/>
        </p:nvSpPr>
        <p:spPr>
          <a:xfrm>
            <a:off x="731520" y="1783080"/>
            <a:ext cx="57607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019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02060"/>
                </a:solidFill>
                <a:latin typeface="Area Normal Trial Black"/>
              </a:rPr>
              <a:t>391 estrategias por nivel de evidencia declarado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14400" y="2377440"/>
          <a:ext cx="5394960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arjeta dato"/>
          <p:cNvSpPr/>
          <p:nvPr/>
        </p:nvSpPr>
        <p:spPr>
          <a:xfrm>
            <a:off x="6766560" y="1783080"/>
            <a:ext cx="4663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874519"/>
            <a:ext cx="1783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2060"/>
                </a:solidFill>
                <a:latin typeface="Area Normal Trial Black"/>
              </a:rPr>
              <a:t>99,5 %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874519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de los 1.185 indicadores mide ejecución (N1) o percepción (N2)</a:t>
            </a:r>
          </a:p>
        </p:txBody>
      </p:sp>
      <p:sp>
        <p:nvSpPr>
          <p:cNvPr id="16" name="Tarjeta dato"/>
          <p:cNvSpPr/>
          <p:nvPr/>
        </p:nvSpPr>
        <p:spPr>
          <a:xfrm>
            <a:off x="6766560" y="3108960"/>
            <a:ext cx="4663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200400"/>
            <a:ext cx="1783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2060"/>
                </a:solidFill>
                <a:latin typeface="Area Normal Trial Black"/>
              </a:rPr>
              <a:t>3 de 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estrategias (0,8 %) aportan aprendizaje demostrado (N3)</a:t>
            </a:r>
          </a:p>
        </p:txBody>
      </p:sp>
      <p:sp>
        <p:nvSpPr>
          <p:cNvPr id="19" name="Tarjeta dato"/>
          <p:cNvSpPr/>
          <p:nvPr/>
        </p:nvSpPr>
        <p:spPr>
          <a:xfrm>
            <a:off x="6766560" y="4434840"/>
            <a:ext cx="4663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4526279"/>
            <a:ext cx="1783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02060"/>
                </a:solidFill>
                <a:latin typeface="Area Normal Trial Black"/>
              </a:rPr>
              <a:t>38 de 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526279"/>
            <a:ext cx="2423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A58"/>
                </a:solidFill>
                <a:latin typeface="Area Normal Trial Light"/>
              </a:rPr>
              <a:t>RA sin estrategia son el RA genérico institucional: sin él, la trazabilidad pasa de 87,0 % a 98,0 %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D6285"/>
                </a:solidFill>
                <a:latin typeface="Area Normal Trial Light"/>
              </a:rPr>
              <a:t>Los niveles N1–N5 los clasificó un solo codificador, y la plantilla no exige un nivel mínimo: la lectura es descriptiva, no un incumplimiento.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08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Una quinta parte del catálogo concentra más de la mitad de la actividad</a:t>
            </a:r>
          </a:p>
        </p:txBody>
      </p:sp>
      <p:sp>
        <p:nvSpPr>
          <p:cNvPr id="10" name="Tarjeta compartidas"/>
          <p:cNvSpPr/>
          <p:nvPr/>
        </p:nvSpPr>
        <p:spPr>
          <a:xfrm>
            <a:off x="731520" y="1783080"/>
            <a:ext cx="26517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92807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2060"/>
                </a:solidFill>
                <a:latin typeface="Area Normal Trial Black"/>
              </a:rPr>
              <a:t>22,4 %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de las denominaciones (159 de 709) están en más de un programa</a:t>
            </a:r>
          </a:p>
        </p:txBody>
      </p:sp>
      <p:sp>
        <p:nvSpPr>
          <p:cNvPr id="13" name="Tarjeta compartidas"/>
          <p:cNvSpPr/>
          <p:nvPr/>
        </p:nvSpPr>
        <p:spPr>
          <a:xfrm>
            <a:off x="3566160" y="1783080"/>
            <a:ext cx="26517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92807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2060"/>
                </a:solidFill>
                <a:latin typeface="Area Normal Trial Black"/>
              </a:rPr>
              <a:t>58,0 %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4871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de las asignaturas (937 de 1.616) pertenecen a esas denominaciones</a:t>
            </a:r>
          </a:p>
        </p:txBody>
      </p:sp>
      <p:sp>
        <p:nvSpPr>
          <p:cNvPr id="16" name="Fondo consistencia"/>
          <p:cNvSpPr/>
          <p:nvPr/>
        </p:nvSpPr>
        <p:spPr>
          <a:xfrm>
            <a:off x="731520" y="347472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Area Normal Trial Black"/>
              </a:rPr>
              <a:t>159 homónimas según similitud de contenido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914400" y="3840480"/>
          <a:ext cx="512064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arjeta accion"/>
          <p:cNvSpPr/>
          <p:nvPr/>
        </p:nvSpPr>
        <p:spPr>
          <a:xfrm>
            <a:off x="6492240" y="1783080"/>
            <a:ext cx="4937760" cy="1161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874519"/>
            <a:ext cx="141732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2060"/>
                </a:solidFill>
                <a:latin typeface="Area Normal Trial Black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874519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asignaturas forman el núcleo común: en los 29 pregrados y en ningún posgrado</a:t>
            </a:r>
          </a:p>
        </p:txBody>
      </p:sp>
      <p:sp>
        <p:nvSpPr>
          <p:cNvPr id="22" name="Tarjeta accion"/>
          <p:cNvSpPr/>
          <p:nvPr/>
        </p:nvSpPr>
        <p:spPr>
          <a:xfrm>
            <a:off x="6492240" y="3081528"/>
            <a:ext cx="4937760" cy="1161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172968"/>
            <a:ext cx="141732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2060"/>
                </a:solidFill>
                <a:latin typeface="Area Normal Trial Black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17296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homónimas divergentes (Prácticas, Investigación, Formulación y Evaluación de Proyectos): revisar primero</a:t>
            </a:r>
          </a:p>
        </p:txBody>
      </p:sp>
      <p:sp>
        <p:nvSpPr>
          <p:cNvPr id="25" name="Tarjeta accion"/>
          <p:cNvSpPr/>
          <p:nvPr/>
        </p:nvSpPr>
        <p:spPr>
          <a:xfrm>
            <a:off x="6492240" y="4379976"/>
            <a:ext cx="4937760" cy="11612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471416"/>
            <a:ext cx="141732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02060"/>
                </a:solidFill>
                <a:latin typeface="Area Normal Trial Black"/>
              </a:rPr>
              <a:t>14 + 189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4714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variantes de nombre para corregir y candidatos a homologación para validar por disciplina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D6285"/>
                </a:solidFill>
                <a:latin typeface="Area Normal Trial Light"/>
              </a:rPr>
              <a:t>El umbral 0,60 es operativo, no calibrado; la similitud léxica no equivale a equivalencia formativa.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5C0A3-B76B-776B-474F-6DBB4CEF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29B69F8-3A4F-4F47-300D-8C3929E55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7020" y="501724"/>
            <a:ext cx="1161231" cy="2558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529598F-C260-63A8-3FEC-C5E6159E7977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chemeClr val="bg1"/>
                </a:solidFill>
                <a:latin typeface="Montserrat" pitchFamily="2" charset="77"/>
              </a:rPr>
              <a:t>09</a:t>
            </a:r>
          </a:p>
        </p:txBody>
      </p:sp>
      <p:sp>
        <p:nvSpPr>
          <p:cNvPr id="10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ea Normal Trial Black"/>
              </a:rPr>
              <a:t>Tendencias globales: amplitud alta, profundidad desigual</a:t>
            </a:r>
          </a:p>
        </p:txBody>
      </p:sp>
      <p:sp>
        <p:nvSpPr>
          <p:cNvPr id="11" name="Fondo tendencias"/>
          <p:cNvSpPr/>
          <p:nvPr/>
        </p:nvSpPr>
        <p:spPr>
          <a:xfrm>
            <a:off x="731520" y="1691640"/>
            <a:ext cx="7315200" cy="4526280"/>
          </a:xfrm>
          <a:prstGeom prst="roundRect">
            <a:avLst>
              <a:gd name="adj" fmla="val 4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ea Normal Trial Black"/>
              </a:rPr>
              <a:t>Amplitud (% de los 39 programas) y profundidad (% de las 1.616 asignaturas)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2103120"/>
          <a:ext cx="7040880" cy="4069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arjeta tendencia"/>
          <p:cNvSpPr/>
          <p:nvPr/>
        </p:nvSpPr>
        <p:spPr>
          <a:xfrm>
            <a:off x="8275320" y="169164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B0F0"/>
                </a:solidFill>
                <a:latin typeface="Area Normal Trial Black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40280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ea Normal Trial Light"/>
              </a:rPr>
              <a:t>tendencias de la lista institucional; la formación ciudadana e investigativa se trata como componente del currículo</a:t>
            </a:r>
          </a:p>
        </p:txBody>
      </p:sp>
      <p:sp>
        <p:nvSpPr>
          <p:cNvPr id="17" name="Tarjeta tendencia"/>
          <p:cNvSpPr/>
          <p:nvPr/>
        </p:nvSpPr>
        <p:spPr>
          <a:xfrm>
            <a:off x="8275320" y="324612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3375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B0F0"/>
                </a:solidFill>
                <a:latin typeface="Area Normal Trial Black"/>
              </a:rPr>
              <a:t>16 %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794759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ea Normal Trial Light"/>
              </a:rPr>
              <a:t>es la mayor profundidad (marketing y comunicación): ninguna tendencia supera una de cada seis asignaturas</a:t>
            </a:r>
          </a:p>
        </p:txBody>
      </p:sp>
      <p:sp>
        <p:nvSpPr>
          <p:cNvPr id="20" name="Tarjeta tendencia"/>
          <p:cNvSpPr/>
          <p:nvPr/>
        </p:nvSpPr>
        <p:spPr>
          <a:xfrm>
            <a:off x="8275320" y="4800600"/>
            <a:ext cx="3154680" cy="141732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89204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0B0F0"/>
                </a:solidFill>
                <a:latin typeface="Area Normal Trial Black"/>
              </a:rPr>
              <a:t>Presencia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5349240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ea Normal Trial Light"/>
              </a:rPr>
              <a:t>declarativa por palabras clave: no mide calidad ni actualidad, y la lista la define la institución</a:t>
            </a:r>
          </a:p>
        </p:txBody>
      </p:sp>
    </p:spTree>
    <p:extLst>
      <p:ext uri="{BB962C8B-B14F-4D97-AF65-F5344CB8AC3E}">
        <p14:creationId xmlns:p14="http://schemas.microsoft.com/office/powerpoint/2010/main" val="250840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10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500" b="1" i="0">
                <a:solidFill>
                  <a:srgbClr val="002060"/>
                </a:solidFill>
                <a:latin typeface="Area Normal Trial Black"/>
              </a:rPr>
              <a:t>Asociación programa–tendencia: la IA llega a 30 de 39 programas, casi siempre por el núcleo común</a:t>
            </a:r>
          </a:p>
        </p:txBody>
      </p:sp>
      <p:sp>
        <p:nvSpPr>
          <p:cNvPr id="10" name="Fondo mapa"/>
          <p:cNvSpPr/>
          <p:nvPr/>
        </p:nvSpPr>
        <p:spPr>
          <a:xfrm>
            <a:off x="731520" y="1828800"/>
            <a:ext cx="722376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Area Normal Trial Black"/>
              </a:rPr>
              <a:t>Cómo integra cada tendencia los 39 programas (n.º de programas)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14400" y="2194560"/>
          <a:ext cx="694944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arjeta asociacion"/>
          <p:cNvSpPr/>
          <p:nvPr/>
        </p:nvSpPr>
        <p:spPr>
          <a:xfrm>
            <a:off x="8229600" y="1828800"/>
            <a:ext cx="32004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30 de 39 programas; 21 solo por «Análisis y Visualización de Datos» y 9 con asignaturas propias</a:t>
            </a:r>
          </a:p>
        </p:txBody>
      </p:sp>
      <p:sp>
        <p:nvSpPr>
          <p:cNvPr id="16" name="Tarjeta asociacion"/>
          <p:cNvSpPr/>
          <p:nvPr/>
        </p:nvSpPr>
        <p:spPr>
          <a:xfrm>
            <a:off x="8229600" y="3291840"/>
            <a:ext cx="32004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Sostenibilidad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49039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31 programas, pero solo 18 la tratan fuera del núcleo común</a:t>
            </a:r>
          </a:p>
        </p:txBody>
      </p:sp>
      <p:sp>
        <p:nvSpPr>
          <p:cNvPr id="19" name="Tarjeta asociacion"/>
          <p:cNvSpPr/>
          <p:nvPr/>
        </p:nvSpPr>
        <p:spPr>
          <a:xfrm>
            <a:off x="8229600" y="4754880"/>
            <a:ext cx="3200400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846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Menor amplitud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21208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A58"/>
                </a:solidFill>
                <a:latin typeface="Area Normal Trial Light"/>
              </a:rPr>
              <a:t>innovación educativa (13 programas), talento humano y operaciones (16 cada una)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C96067F-5FE7-A635-0EB8-03836570487B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rgbClr val="002060"/>
                </a:solidFill>
                <a:latin typeface="Montserrat" pitchFamily="2" charset="77"/>
              </a:rPr>
              <a:t>11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002060"/>
                </a:solidFill>
                <a:latin typeface="Area Normal Trial Black"/>
              </a:rPr>
              <a:t>Dashboard: de la mirada institucional a la matriz de cada programa</a:t>
            </a:r>
          </a:p>
        </p:txBody>
      </p:sp>
      <p:sp>
        <p:nvSpPr>
          <p:cNvPr id="10" name="Tarjeta paso"/>
          <p:cNvSpPr/>
          <p:nvPr/>
        </p:nvSpPr>
        <p:spPr>
          <a:xfrm>
            <a:off x="731520" y="1783080"/>
            <a:ext cx="34290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057400"/>
            <a:ext cx="731520" cy="7315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ea Normal T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Elegir una matriz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A58"/>
                </a:solidFill>
                <a:latin typeface="Area Normal Trial Light"/>
              </a:rPr>
              <a:t>Un selector programa–modalidad–sede. La referencia sigue siendo el conjunto de las 50 matrices.</a:t>
            </a:r>
          </a:p>
        </p:txBody>
      </p:sp>
      <p:sp>
        <p:nvSpPr>
          <p:cNvPr id="14" name="Tarjeta paso"/>
          <p:cNvSpPr/>
          <p:nvPr/>
        </p:nvSpPr>
        <p:spPr>
          <a:xfrm>
            <a:off x="4366260" y="1783080"/>
            <a:ext cx="34290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4860" y="2057400"/>
            <a:ext cx="731520" cy="7315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ea Normal T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926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Leer su ficha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0580" y="30632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A58"/>
                </a:solidFill>
                <a:latin typeface="Area Normal Trial Light"/>
              </a:rPr>
              <a:t>V1–V5 con «x de n», posición frente a la mediana (por debajo, igual, por encima), tendencias y evidencia de cada asociación.</a:t>
            </a:r>
          </a:p>
        </p:txBody>
      </p:sp>
      <p:sp>
        <p:nvSpPr>
          <p:cNvPr id="18" name="Tarjeta paso"/>
          <p:cNvSpPr/>
          <p:nvPr/>
        </p:nvSpPr>
        <p:spPr>
          <a:xfrm>
            <a:off x="8001000" y="1783080"/>
            <a:ext cx="34290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2057400"/>
            <a:ext cx="731520" cy="731520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Area Normal T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02060"/>
                </a:solidFill>
                <a:latin typeface="Area Normal Trial Black"/>
              </a:rPr>
              <a:t>Actuar por causa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063240"/>
            <a:ext cx="28803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63A58"/>
                </a:solidFill>
                <a:latin typeface="Area Normal Trial Light"/>
              </a:rPr>
              <a:t>Plan de acción diferenciado, por ejemplo RA genérico frente a RA de programa; PDF y Excel de la matriz.</a:t>
            </a:r>
          </a:p>
        </p:txBody>
      </p:sp>
      <p:sp>
        <p:nvSpPr>
          <p:cNvPr id="22" name="Principio"/>
          <p:cNvSpPr/>
          <p:nvPr/>
        </p:nvSpPr>
        <p:spPr>
          <a:xfrm>
            <a:off x="731520" y="4937760"/>
            <a:ext cx="2560320" cy="685800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ea Normal Trial Black"/>
              </a:rPr>
              <a:t>Siempre «x de n»</a:t>
            </a:r>
          </a:p>
        </p:txBody>
      </p:sp>
      <p:sp>
        <p:nvSpPr>
          <p:cNvPr id="24" name="Principio"/>
          <p:cNvSpPr/>
          <p:nvPr/>
        </p:nvSpPr>
        <p:spPr>
          <a:xfrm>
            <a:off x="3444240" y="4937760"/>
            <a:ext cx="2560320" cy="685800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1400" y="49377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ea Normal Trial Black"/>
              </a:rPr>
              <a:t>Sin puntaje compuesto</a:t>
            </a:r>
          </a:p>
        </p:txBody>
      </p:sp>
      <p:sp>
        <p:nvSpPr>
          <p:cNvPr id="26" name="Principio"/>
          <p:cNvSpPr/>
          <p:nvPr/>
        </p:nvSpPr>
        <p:spPr>
          <a:xfrm>
            <a:off x="6156959" y="4937760"/>
            <a:ext cx="2560320" cy="685800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4120" y="49377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ea Normal Trial Black"/>
              </a:rPr>
              <a:t>Matrices gemelas: no se comparan</a:t>
            </a:r>
          </a:p>
        </p:txBody>
      </p:sp>
      <p:sp>
        <p:nvSpPr>
          <p:cNvPr id="28" name="Principio"/>
          <p:cNvSpPr/>
          <p:nvPr/>
        </p:nvSpPr>
        <p:spPr>
          <a:xfrm>
            <a:off x="8869680" y="4937760"/>
            <a:ext cx="2560320" cy="685800"/>
          </a:xfrm>
          <a:prstGeom prst="roundRect">
            <a:avLst>
              <a:gd name="adj" fmla="val 3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49377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ea Normal Trial Black"/>
              </a:rPr>
              <a:t>Lo inferencial, solo en el conjunto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D6285"/>
                </a:solidFill>
                <a:latin typeface="Area Normal Trial Light"/>
              </a:rPr>
              <a:t>Diseño propuesto para el dashboard; su alcance e implementación se definen con la Vicerrectoría.</a:t>
            </a:r>
          </a:p>
        </p:txBody>
      </p:sp>
    </p:spTree>
    <p:extLst>
      <p:ext uri="{BB962C8B-B14F-4D97-AF65-F5344CB8AC3E}">
        <p14:creationId xmlns:p14="http://schemas.microsoft.com/office/powerpoint/2010/main" val="4111034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5C0A3-B76B-776B-474F-6DBB4CEF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29B69F8-3A4F-4F47-300D-8C3929E55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27020" y="501724"/>
            <a:ext cx="1161231" cy="2558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529598F-C260-63A8-3FEC-C5E6159E7977}"/>
              </a:ext>
            </a:extLst>
          </p:cNvPr>
          <p:cNvSpPr txBox="1"/>
          <p:nvPr/>
        </p:nvSpPr>
        <p:spPr>
          <a:xfrm>
            <a:off x="11452881" y="6335184"/>
            <a:ext cx="405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100" spc="300">
                <a:solidFill>
                  <a:schemeClr val="bg1"/>
                </a:solidFill>
                <a:latin typeface="Montserrat" pitchFamily="2" charset="77"/>
              </a:rPr>
              <a:t>12</a:t>
            </a:r>
          </a:p>
        </p:txBody>
      </p:sp>
      <p:sp>
        <p:nvSpPr>
          <p:cNvPr id="10" name="Titulo"/>
          <p:cNvSpPr txBox="1"/>
          <p:nvPr/>
        </p:nvSpPr>
        <p:spPr>
          <a:xfrm>
            <a:off x="731520" y="502920"/>
            <a:ext cx="8778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ea Normal Trial Black"/>
              </a:rPr>
              <a:t>Cinco decisiones para la Vicerrectoría Académica</a:t>
            </a:r>
          </a:p>
        </p:txBody>
      </p:sp>
      <p:sp>
        <p:nvSpPr>
          <p:cNvPr id="11" name="Oval 10"/>
          <p:cNvSpPr/>
          <p:nvPr/>
        </p:nvSpPr>
        <p:spPr>
          <a:xfrm>
            <a:off x="813815" y="160020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002060"/>
                </a:solidFill>
                <a:latin typeface="Area Normal T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5448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ea Normal Trial Black"/>
              </a:rPr>
              <a:t>Planear el RA genérico institucional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0195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4D8"/>
                </a:solidFill>
                <a:latin typeface="Area Normal Trial Light"/>
              </a:rPr>
              <a:t>Resuelve 38 de 44 RA sin estrategia: la trazabilidad pasa de 87,0 % a 98,0 %.</a:t>
            </a:r>
          </a:p>
        </p:txBody>
      </p:sp>
      <p:sp>
        <p:nvSpPr>
          <p:cNvPr id="14" name="Oval 13"/>
          <p:cNvSpPr/>
          <p:nvPr/>
        </p:nvSpPr>
        <p:spPr>
          <a:xfrm>
            <a:off x="813815" y="233172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002060"/>
                </a:solidFill>
                <a:latin typeface="Area Normal Trial Blac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28600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ea Normal Trial Black"/>
              </a:rPr>
              <a:t>Revisar la formulación del perfil, las competencias y los 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3347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4D8"/>
                </a:solidFill>
                <a:latin typeface="Area Normal Trial Light"/>
              </a:rPr>
              <a:t>Respaldo en asignaturas 95,2 % frente a 72,4 % en RA; 98 atributos sin alineación: incorporar contenido o acotar el perfil.</a:t>
            </a:r>
          </a:p>
        </p:txBody>
      </p:sp>
      <p:sp>
        <p:nvSpPr>
          <p:cNvPr id="17" name="Oval 16"/>
          <p:cNvSpPr/>
          <p:nvPr/>
        </p:nvSpPr>
        <p:spPr>
          <a:xfrm>
            <a:off x="813815" y="3063239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002060"/>
                </a:solidFill>
                <a:latin typeface="Area Normal T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01752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ea Normal Trial Black"/>
              </a:rPr>
              <a:t>Exigir un indicador de aprendizaje demostrado (N3) por estrategia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64991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4D8"/>
                </a:solidFill>
                <a:latin typeface="Area Normal Trial Light"/>
              </a:rPr>
              <a:t>Hoy solo 3 de 391 estrategias lo tienen.</a:t>
            </a:r>
          </a:p>
        </p:txBody>
      </p:sp>
      <p:sp>
        <p:nvSpPr>
          <p:cNvPr id="20" name="Oval 19"/>
          <p:cNvSpPr/>
          <p:nvPr/>
        </p:nvSpPr>
        <p:spPr>
          <a:xfrm>
            <a:off x="813815" y="379476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002060"/>
                </a:solidFill>
                <a:latin typeface="Area Normal T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4904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ea Normal Trial Black"/>
              </a:rPr>
              <a:t>Definir el contenido de las 15 homónimas divergentes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9651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4D8"/>
                </a:solidFill>
                <a:latin typeface="Area Normal Trial Light"/>
              </a:rPr>
              <a:t>Corregir 14 nombres y validar por disciplina los 189 candidatos a homologación.</a:t>
            </a:r>
          </a:p>
        </p:txBody>
      </p:sp>
      <p:sp>
        <p:nvSpPr>
          <p:cNvPr id="23" name="Oval 22"/>
          <p:cNvSpPr/>
          <p:nvPr/>
        </p:nvSpPr>
        <p:spPr>
          <a:xfrm>
            <a:off x="813815" y="452628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002060"/>
                </a:solidFill>
                <a:latin typeface="Area Normal Trial Black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80560"/>
            <a:ext cx="9784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ea Normal Trial Black"/>
              </a:rPr>
              <a:t>Decidir la agenda de tendencias: cobertura o especialización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2803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8C4D8"/>
                </a:solidFill>
                <a:latin typeface="Area Normal Trial Light"/>
              </a:rPr>
              <a:t>IA: 21 de 30 programas la tienen solo por el núcleo común.</a:t>
            </a:r>
          </a:p>
        </p:txBody>
      </p:sp>
      <p:sp>
        <p:nvSpPr>
          <p:cNvPr id="26" name="Bloque de enfasis"/>
          <p:cNvSpPr/>
          <p:nvPr/>
        </p:nvSpPr>
        <p:spPr>
          <a:xfrm>
            <a:off x="73152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77255"/>
            <a:ext cx="10149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2060"/>
                </a:solidFill>
                <a:latin typeface="Area Normal Trial Black"/>
              </a:rPr>
              <a:t>CAUTELAS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3328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002060"/>
                </a:solidFill>
                <a:latin typeface="Area Normal Trial Light"/>
              </a:rPr>
              <a:t>Referencia del perfil asistida por IAg y no validada por el comité (acuerdo 80,1 %; κ = 0,44) · N1–N5 por un solo codificador · tendencias por palabras clave · diseño descriptivo, no causal.</a:t>
            </a:r>
          </a:p>
        </p:txBody>
      </p:sp>
    </p:spTree>
    <p:extLst>
      <p:ext uri="{BB962C8B-B14F-4D97-AF65-F5344CB8AC3E}">
        <p14:creationId xmlns:p14="http://schemas.microsoft.com/office/powerpoint/2010/main" val="25084039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473</Words>
  <Application>Microsoft Office PowerPoint</Application>
  <PresentationFormat>Panorámica</PresentationFormat>
  <Paragraphs>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Area Normal Trial Black</vt:lpstr>
      <vt:lpstr>Area Normal Trial Extrablack</vt:lpstr>
      <vt:lpstr>Area Normal Trial Light</vt:lpstr>
      <vt:lpstr>Arial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YOVANNY EDDIE BALDOSEA (Omnicom)</dc:creator>
  <cp:lastModifiedBy>Licec Ximena Silva Goyeneche</cp:lastModifiedBy>
  <cp:revision>4</cp:revision>
  <dcterms:created xsi:type="dcterms:W3CDTF">2026-06-09T22:32:06Z</dcterms:created>
  <dcterms:modified xsi:type="dcterms:W3CDTF">2026-08-20T03:22:59Z</dcterms:modified>
</cp:coreProperties>
</file>