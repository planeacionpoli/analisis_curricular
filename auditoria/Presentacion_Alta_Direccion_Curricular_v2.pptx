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slideLayouts/slideLayout4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49" r:id="rId2"/>
    <p:sldMasterId id="2147483650" r:id="rId3"/>
  </p:sldMasterIdLst>
  <p:notesMasterIdLst>
    <p:notesMasterId r:id="rId16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9144000" cy="5143500" type="screen16x9"/>
  <p:notesSz cx="6858000" cy="9144000"/>
  <p:embeddedFontLst>
    <p:embeddedFont>
      <p:font typeface="Fira Sans" panose="020B0503050000020004" pitchFamily="34" charset="0"/>
      <p:regular r:id="rId17"/>
      <p:bold r:id="rId18"/>
    </p:embeddedFont>
    <p:embeddedFont>
      <p:font typeface="Fira Sans Extra Condensed" panose="020B0503050000020004" pitchFamily="34" charset="0"/>
      <p:regular r:id="rId19"/>
      <p:bold r:id="rId20"/>
    </p:embeddedFont>
    <p:embeddedFont>
      <p:font typeface="Fira Sans Extra Condensed Medium" panose="020B0604020202020204" charset="0"/>
      <p:regular r:id="rId21"/>
      <p:bold r:id="rId22"/>
      <p:italic r:id="rId23"/>
      <p:boldItalic r:id="rId24"/>
    </p:embeddedFont>
    <p:embeddedFont>
      <p:font typeface="Roboto" panose="02000000000000000000" pitchFamily="2" charset="0"/>
      <p:regular r:id="rId25"/>
      <p:bold r:id="rId26"/>
      <p:italic r:id="rId27"/>
      <p:boldItalic r:id="rId2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D6AAE15-D904-4D8D-8232-51F914A45FAF}">
  <a:tblStyle styleId="{8D6AAE15-D904-4D8D-8232-51F914A45FA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" Type="http://schemas.openxmlformats.org/officeDocument/2006/relationships/slideMaster" Target="slideMasters/slideMaster3.xml"/><Relationship Id="rId21" Type="http://schemas.openxmlformats.org/officeDocument/2006/relationships/font" Target="fonts/font5.fntdata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33" Type="http://schemas.microsoft.com/office/2016/11/relationships/changesInfo" Target="changesInfos/changesInfo1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font" Target="fonts/font8.fntdata"/><Relationship Id="rId32" Type="http://schemas.openxmlformats.org/officeDocument/2006/relationships/tableStyles" Target="tableStyle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font" Target="fonts/font7.fntdata"/><Relationship Id="rId28" Type="http://schemas.openxmlformats.org/officeDocument/2006/relationships/font" Target="fonts/font12.fntdata"/><Relationship Id="rId10" Type="http://schemas.openxmlformats.org/officeDocument/2006/relationships/slide" Target="slides/slide7.xml"/><Relationship Id="rId19" Type="http://schemas.openxmlformats.org/officeDocument/2006/relationships/font" Target="fonts/font3.fntdata"/><Relationship Id="rId31" Type="http://schemas.openxmlformats.org/officeDocument/2006/relationships/theme" Target="theme/theme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font" Target="fonts/font6.fntdata"/><Relationship Id="rId27" Type="http://schemas.openxmlformats.org/officeDocument/2006/relationships/font" Target="fonts/font11.fntdata"/><Relationship Id="rId30" Type="http://schemas.openxmlformats.org/officeDocument/2006/relationships/viewProps" Target="viewProps.xml"/><Relationship Id="rId8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Ximena Silva" userId="5f15395a9ed9a48f" providerId="LiveId" clId="{F4D67D68-9FC9-4DBC-9DA4-FDA9EE6A202B}"/>
    <pc:docChg chg="modSld">
      <pc:chgData name="Ximena Silva" userId="5f15395a9ed9a48f" providerId="LiveId" clId="{F4D67D68-9FC9-4DBC-9DA4-FDA9EE6A202B}" dt="2026-10-14T19:41:57.673" v="0" actId="1076"/>
      <pc:docMkLst>
        <pc:docMk/>
      </pc:docMkLst>
      <pc:sldChg chg="modSp mod">
        <pc:chgData name="Ximena Silva" userId="5f15395a9ed9a48f" providerId="LiveId" clId="{F4D67D68-9FC9-4DBC-9DA4-FDA9EE6A202B}" dt="2026-10-14T19:41:57.673" v="0" actId="1076"/>
        <pc:sldMkLst>
          <pc:docMk/>
          <pc:sldMk cId="0" sldId="257"/>
        </pc:sldMkLst>
        <pc:grpChg chg="mod">
          <ac:chgData name="Ximena Silva" userId="5f15395a9ed9a48f" providerId="LiveId" clId="{F4D67D68-9FC9-4DBC-9DA4-FDA9EE6A202B}" dt="2026-10-14T19:41:57.673" v="0" actId="1076"/>
          <ac:grpSpMkLst>
            <pc:docMk/>
            <pc:sldMk cId="0" sldId="257"/>
            <ac:grpSpMk id="915" creationId="{00000000-0000-0000-0000-000000000000}"/>
          </ac:grpSpMkLst>
        </pc:gr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MX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C9D1DE"/>
              </a:solidFill>
            </c:spPr>
            <c:extLst>
              <c:ext xmlns:c16="http://schemas.microsoft.com/office/drawing/2014/chart" uri="{C3380CC4-5D6E-409C-BE32-E72D297353CC}">
                <c16:uniqueId val="{00000001-3763-47EE-8FC0-047797BA7002}"/>
              </c:ext>
            </c:extLst>
          </c:dPt>
          <c:dPt>
            <c:idx val="1"/>
            <c:invertIfNegative val="1"/>
            <c:bubble3D val="0"/>
            <c:spPr>
              <a:solidFill>
                <a:srgbClr val="002060"/>
              </a:solidFill>
            </c:spPr>
            <c:extLst>
              <c:ext xmlns:c16="http://schemas.microsoft.com/office/drawing/2014/chart" uri="{C3380CC4-5D6E-409C-BE32-E72D297353CC}">
                <c16:uniqueId val="{00000003-3763-47EE-8FC0-047797BA7002}"/>
              </c:ext>
            </c:extLst>
          </c:dPt>
          <c:dPt>
            <c:idx val="2"/>
            <c:invertIfNegative val="1"/>
            <c:bubble3D val="0"/>
            <c:spPr>
              <a:solidFill>
                <a:srgbClr val="C9D1DE"/>
              </a:solidFill>
            </c:spPr>
            <c:extLst>
              <c:ext xmlns:c16="http://schemas.microsoft.com/office/drawing/2014/chart" uri="{C3380CC4-5D6E-409C-BE32-E72D297353CC}">
                <c16:uniqueId val="{00000005-3763-47EE-8FC0-047797BA7002}"/>
              </c:ext>
            </c:extLst>
          </c:dPt>
          <c:dPt>
            <c:idx val="3"/>
            <c:invertIfNegative val="1"/>
            <c:bubble3D val="0"/>
            <c:spPr>
              <a:solidFill>
                <a:srgbClr val="002060"/>
              </a:solidFill>
            </c:spPr>
            <c:extLst>
              <c:ext xmlns:c16="http://schemas.microsoft.com/office/drawing/2014/chart" uri="{C3380CC4-5D6E-409C-BE32-E72D297353CC}">
                <c16:uniqueId val="{00000007-3763-47EE-8FC0-047797BA7002}"/>
              </c:ext>
            </c:extLst>
          </c:dPt>
          <c:dPt>
            <c:idx val="4"/>
            <c:invertIfNegative val="1"/>
            <c:bubble3D val="0"/>
            <c:spPr>
              <a:solidFill>
                <a:srgbClr val="C9D1DE"/>
              </a:solidFill>
            </c:spPr>
            <c:extLst>
              <c:ext xmlns:c16="http://schemas.microsoft.com/office/drawing/2014/chart" uri="{C3380CC4-5D6E-409C-BE32-E72D297353CC}">
                <c16:uniqueId val="{00000009-3763-47EE-8FC0-047797BA7002}"/>
              </c:ext>
            </c:extLst>
          </c:dPt>
          <c:dPt>
            <c:idx val="5"/>
            <c:invertIfNegative val="1"/>
            <c:bubble3D val="0"/>
            <c:spPr>
              <a:solidFill>
                <a:srgbClr val="C9D1DE"/>
              </a:solidFill>
            </c:spPr>
            <c:extLst>
              <c:ext xmlns:c16="http://schemas.microsoft.com/office/drawing/2014/chart" uri="{C3380CC4-5D6E-409C-BE32-E72D297353CC}">
                <c16:uniqueId val="{0000000B-3763-47EE-8FC0-047797BA7002}"/>
              </c:ext>
            </c:extLst>
          </c:dPt>
          <c:dLbls>
            <c:numFmt formatCode="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1">
                    <a:solidFill>
                      <a:srgbClr val="002060"/>
                    </a:solidFill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Conoc.</c:v>
                </c:pt>
                <c:pt idx="1">
                  <c:v>Compr.</c:v>
                </c:pt>
                <c:pt idx="2">
                  <c:v>Aplic.</c:v>
                </c:pt>
                <c:pt idx="3">
                  <c:v>Análisis</c:v>
                </c:pt>
                <c:pt idx="4">
                  <c:v>Síntesis</c:v>
                </c:pt>
                <c:pt idx="5">
                  <c:v>Evaluac.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</c:v>
                </c:pt>
                <c:pt idx="1">
                  <c:v>68</c:v>
                </c:pt>
                <c:pt idx="2">
                  <c:v>9</c:v>
                </c:pt>
                <c:pt idx="3">
                  <c:v>66</c:v>
                </c:pt>
                <c:pt idx="4">
                  <c:v>7</c:v>
                </c:pt>
                <c:pt idx="5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3763-47EE-8FC0-047797BA7002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C9D1DE"/>
            </a:solidFill>
          </a:ln>
        </c:spPr>
        <c:txPr>
          <a:bodyPr rot="0" vert="horz"/>
          <a:lstStyle/>
          <a:p>
            <a:pPr>
              <a:defRPr sz="900"/>
            </a:pPr>
            <a:endParaRPr lang="es-CO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85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900">
          <a:solidFill>
            <a:srgbClr val="002060"/>
          </a:solidFill>
          <a:latin typeface="Area Normal Trial Light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MX"/>
  <c:roundedCorners val="1"/>
  <c:style val="2"/>
  <c:chart>
    <c:autoTitleDeleted val="1"/>
    <c:plotArea>
      <c:layout/>
      <c:barChart>
        <c:barDir val="bar"/>
        <c:grouping val="stack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Asignaturas propias</c:v>
                </c:pt>
              </c:strCache>
            </c:strRef>
          </c:tx>
          <c:spPr>
            <a:solidFill>
              <a:srgbClr val="002060"/>
            </a:solidFill>
          </c:spPr>
          <c:invertIfNegative val="0"/>
          <c:dLbls>
            <c:numFmt formatCode="0;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>
                    <a:solidFill>
                      <a:srgbClr val="FFFFFF"/>
                    </a:solidFill>
                    <a:latin typeface="Area Normal Trial Light"/>
                  </a:defRPr>
                </a:pPr>
                <a:endParaRPr lang="es-CO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Sheet1!$A$2:$A$15</c:f>
              <c:strCache>
                <c:ptCount val="14"/>
                <c:pt idx="0">
                  <c:v>Estrategia y proyectos</c:v>
                </c:pt>
                <c:pt idx="1">
                  <c:v>Marketing y comunicación</c:v>
                </c:pt>
                <c:pt idx="2">
                  <c:v>Transformación digital y datos</c:v>
                </c:pt>
                <c:pt idx="3">
                  <c:v>Ética y políticas públicas</c:v>
                </c:pt>
                <c:pt idx="4">
                  <c:v>STEM y lógico-matemático</c:v>
                </c:pt>
                <c:pt idx="5">
                  <c:v>Finanzas y negocios int.</c:v>
                </c:pt>
                <c:pt idx="6">
                  <c:v>Derecho y regulación</c:v>
                </c:pt>
                <c:pt idx="7">
                  <c:v>Sostenibilidad y ESG</c:v>
                </c:pt>
                <c:pt idx="8">
                  <c:v>Innovación y emprendimiento</c:v>
                </c:pt>
                <c:pt idx="9">
                  <c:v>Diseño y economía creativa</c:v>
                </c:pt>
                <c:pt idx="10">
                  <c:v>Talento humano y bienestar</c:v>
                </c:pt>
                <c:pt idx="11">
                  <c:v>Operaciones y turismo</c:v>
                </c:pt>
                <c:pt idx="12">
                  <c:v>Innovación educativa e inclusión</c:v>
                </c:pt>
                <c:pt idx="13">
                  <c:v>Inteligencia artificial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35</c:v>
                </c:pt>
                <c:pt idx="1">
                  <c:v>29</c:v>
                </c:pt>
                <c:pt idx="2">
                  <c:v>28</c:v>
                </c:pt>
                <c:pt idx="3">
                  <c:v>27</c:v>
                </c:pt>
                <c:pt idx="4">
                  <c:v>26</c:v>
                </c:pt>
                <c:pt idx="5">
                  <c:v>23</c:v>
                </c:pt>
                <c:pt idx="6">
                  <c:v>21</c:v>
                </c:pt>
                <c:pt idx="7">
                  <c:v>18</c:v>
                </c:pt>
                <c:pt idx="8">
                  <c:v>18</c:v>
                </c:pt>
                <c:pt idx="9">
                  <c:v>18</c:v>
                </c:pt>
                <c:pt idx="10">
                  <c:v>16</c:v>
                </c:pt>
                <c:pt idx="11">
                  <c:v>16</c:v>
                </c:pt>
                <c:pt idx="12">
                  <c:v>13</c:v>
                </c:pt>
                <c:pt idx="13">
                  <c:v>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D60-4961-A0CA-2D6BE86ABF4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Solo por el núcleo común</c:v>
                </c:pt>
              </c:strCache>
            </c:strRef>
          </c:tx>
          <c:spPr>
            <a:solidFill>
              <a:srgbClr val="00B0F0"/>
            </a:solidFill>
          </c:spPr>
          <c:invertIfNegative val="0"/>
          <c:dLbls>
            <c:numFmt formatCode="0;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>
                    <a:solidFill>
                      <a:srgbClr val="FFFFFF"/>
                    </a:solidFill>
                    <a:latin typeface="Area Normal Trial Light"/>
                  </a:defRPr>
                </a:pPr>
                <a:endParaRPr lang="es-CO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Sheet1!$A$2:$A$15</c:f>
              <c:strCache>
                <c:ptCount val="14"/>
                <c:pt idx="0">
                  <c:v>Estrategia y proyectos</c:v>
                </c:pt>
                <c:pt idx="1">
                  <c:v>Marketing y comunicación</c:v>
                </c:pt>
                <c:pt idx="2">
                  <c:v>Transformación digital y datos</c:v>
                </c:pt>
                <c:pt idx="3">
                  <c:v>Ética y políticas públicas</c:v>
                </c:pt>
                <c:pt idx="4">
                  <c:v>STEM y lógico-matemático</c:v>
                </c:pt>
                <c:pt idx="5">
                  <c:v>Finanzas y negocios int.</c:v>
                </c:pt>
                <c:pt idx="6">
                  <c:v>Derecho y regulación</c:v>
                </c:pt>
                <c:pt idx="7">
                  <c:v>Sostenibilidad y ESG</c:v>
                </c:pt>
                <c:pt idx="8">
                  <c:v>Innovación y emprendimiento</c:v>
                </c:pt>
                <c:pt idx="9">
                  <c:v>Diseño y economía creativa</c:v>
                </c:pt>
                <c:pt idx="10">
                  <c:v>Talento humano y bienestar</c:v>
                </c:pt>
                <c:pt idx="11">
                  <c:v>Operaciones y turismo</c:v>
                </c:pt>
                <c:pt idx="12">
                  <c:v>Innovación educativa e inclusión</c:v>
                </c:pt>
                <c:pt idx="13">
                  <c:v>Inteligencia artificial</c:v>
                </c:pt>
              </c:strCache>
            </c:strRef>
          </c:cat>
          <c:val>
            <c:numRef>
              <c:f>Sheet1!$C$2:$C$15</c:f>
              <c:numCache>
                <c:formatCode>General</c:formatCode>
                <c:ptCount val="14"/>
                <c:pt idx="0">
                  <c:v>0</c:v>
                </c:pt>
                <c:pt idx="1">
                  <c:v>3</c:v>
                </c:pt>
                <c:pt idx="2">
                  <c:v>7</c:v>
                </c:pt>
                <c:pt idx="3">
                  <c:v>7</c:v>
                </c:pt>
                <c:pt idx="4">
                  <c:v>7</c:v>
                </c:pt>
                <c:pt idx="5">
                  <c:v>0</c:v>
                </c:pt>
                <c:pt idx="6">
                  <c:v>0</c:v>
                </c:pt>
                <c:pt idx="7">
                  <c:v>13</c:v>
                </c:pt>
                <c:pt idx="8">
                  <c:v>14</c:v>
                </c:pt>
                <c:pt idx="9">
                  <c:v>12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21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D60-4961-A0CA-2D6BE86ABF49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No la tiene</c:v>
                </c:pt>
              </c:strCache>
            </c:strRef>
          </c:tx>
          <c:spPr>
            <a:solidFill>
              <a:srgbClr val="C9D1DE"/>
            </a:solidFill>
          </c:spPr>
          <c:invertIfNegative val="0"/>
          <c:dLbls>
            <c:numFmt formatCode="0;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>
                    <a:solidFill>
                      <a:srgbClr val="002060"/>
                    </a:solidFill>
                  </a:defRPr>
                </a:pPr>
                <a:endParaRPr lang="es-CO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Sheet1!$A$2:$A$15</c:f>
              <c:strCache>
                <c:ptCount val="14"/>
                <c:pt idx="0">
                  <c:v>Estrategia y proyectos</c:v>
                </c:pt>
                <c:pt idx="1">
                  <c:v>Marketing y comunicación</c:v>
                </c:pt>
                <c:pt idx="2">
                  <c:v>Transformación digital y datos</c:v>
                </c:pt>
                <c:pt idx="3">
                  <c:v>Ética y políticas públicas</c:v>
                </c:pt>
                <c:pt idx="4">
                  <c:v>STEM y lógico-matemático</c:v>
                </c:pt>
                <c:pt idx="5">
                  <c:v>Finanzas y negocios int.</c:v>
                </c:pt>
                <c:pt idx="6">
                  <c:v>Derecho y regulación</c:v>
                </c:pt>
                <c:pt idx="7">
                  <c:v>Sostenibilidad y ESG</c:v>
                </c:pt>
                <c:pt idx="8">
                  <c:v>Innovación y emprendimiento</c:v>
                </c:pt>
                <c:pt idx="9">
                  <c:v>Diseño y economía creativa</c:v>
                </c:pt>
                <c:pt idx="10">
                  <c:v>Talento humano y bienestar</c:v>
                </c:pt>
                <c:pt idx="11">
                  <c:v>Operaciones y turismo</c:v>
                </c:pt>
                <c:pt idx="12">
                  <c:v>Innovación educativa e inclusión</c:v>
                </c:pt>
                <c:pt idx="13">
                  <c:v>Inteligencia artificial</c:v>
                </c:pt>
              </c:strCache>
            </c:strRef>
          </c:cat>
          <c:val>
            <c:numRef>
              <c:f>Sheet1!$D$2:$D$15</c:f>
              <c:numCache>
                <c:formatCode>General</c:formatCode>
                <c:ptCount val="14"/>
                <c:pt idx="0">
                  <c:v>4</c:v>
                </c:pt>
                <c:pt idx="1">
                  <c:v>7</c:v>
                </c:pt>
                <c:pt idx="2">
                  <c:v>4</c:v>
                </c:pt>
                <c:pt idx="3">
                  <c:v>5</c:v>
                </c:pt>
                <c:pt idx="4">
                  <c:v>6</c:v>
                </c:pt>
                <c:pt idx="5">
                  <c:v>16</c:v>
                </c:pt>
                <c:pt idx="6">
                  <c:v>18</c:v>
                </c:pt>
                <c:pt idx="7">
                  <c:v>8</c:v>
                </c:pt>
                <c:pt idx="8">
                  <c:v>7</c:v>
                </c:pt>
                <c:pt idx="9">
                  <c:v>9</c:v>
                </c:pt>
                <c:pt idx="10">
                  <c:v>23</c:v>
                </c:pt>
                <c:pt idx="11">
                  <c:v>23</c:v>
                </c:pt>
                <c:pt idx="12">
                  <c:v>26</c:v>
                </c:pt>
                <c:pt idx="13">
                  <c:v>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D60-4961-A0CA-2D6BE86ABF49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2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>
            <a:solidFill>
              <a:srgbClr val="C9D1DE"/>
            </a:solidFill>
          </a:ln>
        </c:spPr>
        <c:txPr>
          <a:bodyPr/>
          <a:lstStyle/>
          <a:p>
            <a:pPr>
              <a:defRPr sz="800">
                <a:solidFill>
                  <a:srgbClr val="002060"/>
                </a:solidFill>
              </a:defRPr>
            </a:pPr>
            <a:endParaRPr lang="es-CO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39"/>
          <c:min val="0"/>
        </c:scaling>
        <c:delete val="1"/>
        <c:axPos val="t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800">
              <a:solidFill>
                <a:srgbClr val="002060"/>
              </a:solidFill>
            </a:defRPr>
          </a:pPr>
          <a:endParaRPr lang="es-CO"/>
        </a:p>
      </c:txPr>
    </c:legend>
    <c:plotVisOnly val="1"/>
    <c:dispBlanksAs val="gap"/>
    <c:showDLblsOverMax val="1"/>
  </c:chart>
  <c:txPr>
    <a:bodyPr/>
    <a:lstStyle/>
    <a:p>
      <a:pPr>
        <a:defRPr sz="800">
          <a:solidFill>
            <a:srgbClr val="002060"/>
          </a:solidFill>
          <a:latin typeface="Area Normal Trial Light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MX"/>
  <c:roundedCorners val="1"/>
  <c:style val="2"/>
  <c:chart>
    <c:autoTitleDeleted val="1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Profundidad</c:v>
                </c:pt>
              </c:strCache>
            </c:strRef>
          </c:tx>
          <c:spPr>
            <a:solidFill>
              <a:srgbClr val="00B0F0"/>
            </a:solidFill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>
                    <a:solidFill>
                      <a:srgbClr val="002060"/>
                    </a:solidFill>
                    <a:latin typeface="Area Normal Trial Light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Sheet1!$A$2:$A$15</c:f>
              <c:strCache>
                <c:ptCount val="14"/>
                <c:pt idx="0">
                  <c:v>Estrategia y proyectos</c:v>
                </c:pt>
                <c:pt idx="1">
                  <c:v>Marketing y comunicación</c:v>
                </c:pt>
                <c:pt idx="2">
                  <c:v>Transformación digital y datos</c:v>
                </c:pt>
                <c:pt idx="3">
                  <c:v>Ética y políticas públicas</c:v>
                </c:pt>
                <c:pt idx="4">
                  <c:v>STEM y lógico-matemático</c:v>
                </c:pt>
                <c:pt idx="5">
                  <c:v>Finanzas y negocios int.</c:v>
                </c:pt>
                <c:pt idx="6">
                  <c:v>Derecho y regulación</c:v>
                </c:pt>
                <c:pt idx="7">
                  <c:v>Sostenibilidad y ESG</c:v>
                </c:pt>
                <c:pt idx="8">
                  <c:v>Innovación y emprendimiento</c:v>
                </c:pt>
                <c:pt idx="9">
                  <c:v>Diseño y economía creativa</c:v>
                </c:pt>
                <c:pt idx="10">
                  <c:v>Talento humano y bienestar</c:v>
                </c:pt>
                <c:pt idx="11">
                  <c:v>Operaciones y turismo</c:v>
                </c:pt>
                <c:pt idx="12">
                  <c:v>Innovación educativa e inclusión</c:v>
                </c:pt>
                <c:pt idx="13">
                  <c:v>Inteligencia artificial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15.5</c:v>
                </c:pt>
                <c:pt idx="1">
                  <c:v>16.100000000000001</c:v>
                </c:pt>
                <c:pt idx="2">
                  <c:v>15.8</c:v>
                </c:pt>
                <c:pt idx="3">
                  <c:v>7.5</c:v>
                </c:pt>
                <c:pt idx="4">
                  <c:v>13.5</c:v>
                </c:pt>
                <c:pt idx="5">
                  <c:v>14</c:v>
                </c:pt>
                <c:pt idx="6">
                  <c:v>8.1999999999999993</c:v>
                </c:pt>
                <c:pt idx="7">
                  <c:v>7.7</c:v>
                </c:pt>
                <c:pt idx="8">
                  <c:v>4.8</c:v>
                </c:pt>
                <c:pt idx="9">
                  <c:v>13.6</c:v>
                </c:pt>
                <c:pt idx="10">
                  <c:v>3.3</c:v>
                </c:pt>
                <c:pt idx="11">
                  <c:v>5.5</c:v>
                </c:pt>
                <c:pt idx="12">
                  <c:v>8.3000000000000007</c:v>
                </c:pt>
                <c:pt idx="13">
                  <c:v>3.5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E56-450B-8EED-A65FFE87FBA8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5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numFmt formatCode="General" sourceLinked="0"/>
        <c:majorTickMark val="out"/>
        <c:minorTickMark val="none"/>
        <c:tickLblPos val="none"/>
        <c:spPr>
          <a:ln>
            <a:solidFill>
              <a:srgbClr val="C9D1DE"/>
            </a:solidFill>
          </a:ln>
        </c:spPr>
        <c:txPr>
          <a:bodyPr/>
          <a:lstStyle/>
          <a:p>
            <a:pPr>
              <a:defRPr sz="800">
                <a:solidFill>
                  <a:srgbClr val="002060"/>
                </a:solidFill>
              </a:defRPr>
            </a:pPr>
            <a:endParaRPr lang="es-CO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22"/>
          <c:min val="0"/>
        </c:scaling>
        <c:delete val="1"/>
        <c:axPos val="t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800">
          <a:solidFill>
            <a:srgbClr val="002060"/>
          </a:solidFill>
          <a:latin typeface="Area Normal Trial Light"/>
        </a:defRPr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51354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Mensaje de apertura: el currículo está bien articulado en el papel; la brecha está en cómo se formula y cómo se demuestra el aprendizaje. La IA generativa asiste el análisis; la decisión es académica.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El corpus son las 50 matrices curriculares (39 programas por sede y modalidad). Se audita la ruta perfil, competencias, RA, estrategias e indicadores. La IAg asiste; el análisis es determinista y trazable.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V1 96,2 % de atributos en alguna capa. V2 90 % (5 matrices de 3 programas repiten verbo). V3 100 % lo fija la plantilla. V4 87,0 % (294 de 338 RA; 98,0 % sin el RA genérico). V5 95,4 % de estrategias con evidencia N2 o superior.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El 96,2 % del perfil tiene respaldo en alguna capa, pero la formulación como competencia (75,6 %) o RA (72,4 %) es menor. Los vacíos se concentran en escenarios concretos de desempeño: docencia sin formación didáctica, dirección sin contenido directivo y poblaciones vulnerables sin tratamiento. Decisión: incorporar contenido o acotar el perfil que se difunde.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Sobre RA únicos: Saber 47,6 %, Saber hacer 36,4 %, Saber ser 16,0 %. En registros la plantilla fija la paridad (37,9/31,1/31,1), por eso no es hallazgo. Entre competencias específicas predominan Dominar, Aplicar e Implementar.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Dos taxonomías conviven: Bloom clásica y BAK (aportes de Krathwohl, con escalas propias para lo procedimental y actitudinal). Los niveles cognitivos se concentran en Comprensión (68) y Análisis (66). El índice de exigencia no se reporta en el artículo; se presenta solo como lectura descriptiva.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Las 391 estrategias cumplen el requisito de la plantilla (indicador e instrumento), pero 808 indicadores miden implementación y 371 percepción; solo 5 miden aprendizaje demostrado. La trazabilidad tiene dos causas: 38 de 44 RA sin estrategia son el genérico institucional (decisión institucional) y 6 son decisiones de programa.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159 denominaciones concentran 937 de 1.616 asignaturas. Seis forman el núcleo común institucional. De las 159 homónimas, 133 son idénticas, 11 de alta similitud y 15 divergen. Hay 203 pares con nombre distinto y contenido similar: 14 variantes de nombre y 189 candidatos a homologación (con falsos positivos léxicos). El umbral 0,60 es operativo, no calibrado.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Izquierda: asociación programa–tendencia. Para cada tendencia, cuántos de los 39 programas la tienen en asignaturas propias, solo por el núcleo común institucional, o no la tienen. Derecha: profundidad, proporción de las 1.616 asignaturas que incluyen la tendencia. La formación ciudadana e investigativa se trata como componente del currículo. Mide presencia declarativa por palabras clave, no calidad ni actualidad; la lista de tendencias es una decisión institucional que debe deliberarse.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La IA aparece en 57 de 1.616 asignaturas (3,5 %): 21 programas la tienen solo por un núcleo de Análisis y Visualización de Datos; siete la integran en asignaturas propias y dos tienen asignaturas dedicadas. Entre los posgrados, solo la Maestría en Gerencia Estratégica de Mercadeo. Mensaje: afirmar cobertura, no especialización.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El artículo es global; el dashboard debe leerse por matriz sin perder la referencia institucional. Cuidados: 19 matrices pertenecen a 8 programas multisede con RA idénticos y no se comparan entre sí; no hay puntaje compuesto; las pruebas inferenciales solo existen para el conjunto. Es un diseño propuesto, no el estado actual.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Cierre: cinco decisiones, cada una anclada en una cifra. Las cautelas son parte del hallazgo: el diseño es descriptivo y la lectura de referencia del perfil no está validada por el comité.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652575" y="1551763"/>
            <a:ext cx="3720300" cy="1362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1103475" y="2799138"/>
            <a:ext cx="2818500" cy="79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2483550" y="329700"/>
            <a:ext cx="4176900" cy="44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2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6"/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60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6"/>
          <p:cNvSpPr txBox="1">
            <a:spLocks noGrp="1"/>
          </p:cNvSpPr>
          <p:nvPr>
            <p:ph type="title"/>
          </p:nvPr>
        </p:nvSpPr>
        <p:spPr>
          <a:xfrm>
            <a:off x="710275" y="536650"/>
            <a:ext cx="7723500" cy="48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3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92425" y="541650"/>
            <a:ext cx="73590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Medium"/>
              <a:buNone/>
              <a:defRPr sz="2800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Medium"/>
              <a:buNone/>
              <a:defRPr sz="2800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Medium"/>
              <a:buNone/>
              <a:defRPr sz="2800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Medium"/>
              <a:buNone/>
              <a:defRPr sz="2800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Medium"/>
              <a:buNone/>
              <a:defRPr sz="2800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Medium"/>
              <a:buNone/>
              <a:defRPr sz="2800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Medium"/>
              <a:buNone/>
              <a:defRPr sz="2800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Medium"/>
              <a:buNone/>
              <a:defRPr sz="2800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Medium"/>
              <a:buNone/>
              <a:defRPr sz="2800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92425" y="1676401"/>
            <a:ext cx="7359000" cy="261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oboto"/>
              <a:buChar char="●"/>
              <a:defRPr sz="1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oboto"/>
              <a:buChar char="○"/>
              <a:defRPr sz="1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oboto"/>
              <a:buChar char="■"/>
              <a:defRPr sz="1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oboto"/>
              <a:buChar char="●"/>
              <a:defRPr sz="1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oboto"/>
              <a:buChar char="○"/>
              <a:defRPr sz="1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oboto"/>
              <a:buChar char="■"/>
              <a:defRPr sz="1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oboto"/>
              <a:buChar char="●"/>
              <a:defRPr sz="1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oboto"/>
              <a:buChar char="○"/>
              <a:defRPr sz="1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oboto"/>
              <a:buChar char="■"/>
              <a:defRPr sz="1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  <p:sldLayoutId id="2147483652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60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Font typeface="Fira Sans Extra Condensed"/>
              <a:buNone/>
              <a:defRPr sz="3000" b="1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000"/>
              <a:buFont typeface="Roboto Condensed"/>
              <a:buNone/>
              <a:defRPr sz="3000" b="1"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3000"/>
              <a:buFont typeface="Roboto Condensed"/>
              <a:buNone/>
              <a:defRPr sz="3000" b="1"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3000"/>
              <a:buFont typeface="Roboto Condensed"/>
              <a:buNone/>
              <a:defRPr sz="3000" b="1"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3000"/>
              <a:buFont typeface="Roboto Condensed"/>
              <a:buNone/>
              <a:defRPr sz="3000" b="1"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3000"/>
              <a:buFont typeface="Roboto Condensed"/>
              <a:buNone/>
              <a:defRPr sz="3000" b="1"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3000"/>
              <a:buFont typeface="Roboto Condensed"/>
              <a:buNone/>
              <a:defRPr sz="3000" b="1"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3000"/>
              <a:buFont typeface="Roboto Condensed"/>
              <a:buNone/>
              <a:defRPr sz="3000" b="1"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3000"/>
              <a:buFont typeface="Roboto Condensed"/>
              <a:buNone/>
              <a:defRPr sz="3000" b="1"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3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0275" y="536650"/>
            <a:ext cx="7723500" cy="4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Fira Sans Extra Condensed Medium"/>
              <a:buNone/>
              <a:defRPr sz="28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Fira Sans Extra Condensed Medium"/>
              <a:buNone/>
              <a:defRPr sz="28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Fira Sans Extra Condensed Medium"/>
              <a:buNone/>
              <a:defRPr sz="28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Fira Sans Extra Condensed Medium"/>
              <a:buNone/>
              <a:defRPr sz="28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Fira Sans Extra Condensed Medium"/>
              <a:buNone/>
              <a:defRPr sz="28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Fira Sans Extra Condensed Medium"/>
              <a:buNone/>
              <a:defRPr sz="28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Fira Sans Extra Condensed Medium"/>
              <a:buNone/>
              <a:defRPr sz="28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Fira Sans Extra Condensed Medium"/>
              <a:buNone/>
              <a:defRPr sz="28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Fira Sans Extra Condensed Medium"/>
              <a:buNone/>
              <a:defRPr sz="28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0275" y="1152475"/>
            <a:ext cx="7723500" cy="345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Roboto"/>
              <a:buChar char="●"/>
              <a:defRPr sz="18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"/>
              <a:buChar char="○"/>
              <a:defRPr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"/>
              <a:buChar char="■"/>
              <a:defRPr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"/>
              <a:buChar char="●"/>
              <a:defRPr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"/>
              <a:buChar char="○"/>
              <a:defRPr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"/>
              <a:buChar char="■"/>
              <a:defRPr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"/>
              <a:buChar char="●"/>
              <a:defRPr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"/>
              <a:buChar char="○"/>
              <a:defRPr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434343"/>
              </a:buClr>
              <a:buSzPts val="1400"/>
              <a:buFont typeface="Roboto"/>
              <a:buChar char="■"/>
              <a:defRPr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4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chart" Target="../charts/char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chart" Target="../charts/chart3.xml"/><Relationship Id="rId4" Type="http://schemas.openxmlformats.org/officeDocument/2006/relationships/chart" Target="../charts/char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Fondo POLI" descr="bg_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grpSp>
        <p:nvGrpSpPr>
          <p:cNvPr id="60" name="Google Shape;60;p15"/>
          <p:cNvGrpSpPr/>
          <p:nvPr/>
        </p:nvGrpSpPr>
        <p:grpSpPr>
          <a:xfrm>
            <a:off x="5003406" y="625945"/>
            <a:ext cx="4789473" cy="5874387"/>
            <a:chOff x="749325" y="1183500"/>
            <a:chExt cx="2484167" cy="3046881"/>
          </a:xfrm>
        </p:grpSpPr>
        <p:sp>
          <p:nvSpPr>
            <p:cNvPr id="61" name="Google Shape;61;p15"/>
            <p:cNvSpPr/>
            <p:nvPr/>
          </p:nvSpPr>
          <p:spPr>
            <a:xfrm>
              <a:off x="2036290" y="1183500"/>
              <a:ext cx="1197202" cy="911046"/>
            </a:xfrm>
            <a:custGeom>
              <a:avLst/>
              <a:gdLst/>
              <a:ahLst/>
              <a:cxnLst/>
              <a:rect l="l" t="t" r="r" b="b"/>
              <a:pathLst>
                <a:path w="37160" h="28278" extrusionOk="0">
                  <a:moveTo>
                    <a:pt x="14161" y="0"/>
                  </a:moveTo>
                  <a:cubicBezTo>
                    <a:pt x="9381" y="0"/>
                    <a:pt x="4615" y="667"/>
                    <a:pt x="0" y="1953"/>
                  </a:cubicBezTo>
                  <a:lnTo>
                    <a:pt x="6073" y="28278"/>
                  </a:lnTo>
                  <a:cubicBezTo>
                    <a:pt x="12669" y="23861"/>
                    <a:pt x="20170" y="21003"/>
                    <a:pt x="28028" y="19908"/>
                  </a:cubicBezTo>
                  <a:lnTo>
                    <a:pt x="37160" y="5180"/>
                  </a:lnTo>
                  <a:cubicBezTo>
                    <a:pt x="30052" y="1774"/>
                    <a:pt x="22258" y="1"/>
                    <a:pt x="14367" y="1"/>
                  </a:cubicBezTo>
                  <a:cubicBezTo>
                    <a:pt x="14341" y="1"/>
                    <a:pt x="14314" y="1"/>
                    <a:pt x="14288" y="1"/>
                  </a:cubicBezTo>
                  <a:cubicBezTo>
                    <a:pt x="14246" y="1"/>
                    <a:pt x="14203" y="0"/>
                    <a:pt x="14161" y="0"/>
                  </a:cubicBezTo>
                  <a:close/>
                </a:path>
              </a:pathLst>
            </a:custGeom>
            <a:gradFill>
              <a:gsLst>
                <a:gs pos="0">
                  <a:srgbClr val="D5E66A"/>
                </a:gs>
                <a:gs pos="100000">
                  <a:srgbClr val="B1C900"/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62;p15"/>
            <p:cNvSpPr/>
            <p:nvPr/>
          </p:nvSpPr>
          <p:spPr>
            <a:xfrm>
              <a:off x="1041249" y="1268651"/>
              <a:ext cx="1122812" cy="1217177"/>
            </a:xfrm>
            <a:custGeom>
              <a:avLst/>
              <a:gdLst/>
              <a:ahLst/>
              <a:cxnLst/>
              <a:rect l="l" t="t" r="r" b="b"/>
              <a:pathLst>
                <a:path w="34851" h="37780" extrusionOk="0">
                  <a:moveTo>
                    <a:pt x="28611" y="1"/>
                  </a:moveTo>
                  <a:cubicBezTo>
                    <a:pt x="16681" y="3942"/>
                    <a:pt x="6537" y="12002"/>
                    <a:pt x="1" y="22718"/>
                  </a:cubicBezTo>
                  <a:lnTo>
                    <a:pt x="24075" y="37779"/>
                  </a:lnTo>
                  <a:cubicBezTo>
                    <a:pt x="27135" y="33719"/>
                    <a:pt x="30766" y="30135"/>
                    <a:pt x="34850" y="27111"/>
                  </a:cubicBezTo>
                  <a:lnTo>
                    <a:pt x="28611" y="1"/>
                  </a:lnTo>
                  <a:close/>
                </a:path>
              </a:pathLst>
            </a:custGeom>
            <a:gradFill>
              <a:gsLst>
                <a:gs pos="0">
                  <a:srgbClr val="7FD8F5"/>
                </a:gs>
                <a:gs pos="100000">
                  <a:srgbClr val="15BECE"/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63;p15"/>
            <p:cNvSpPr/>
            <p:nvPr/>
          </p:nvSpPr>
          <p:spPr>
            <a:xfrm>
              <a:off x="835636" y="3115269"/>
              <a:ext cx="723122" cy="1115112"/>
            </a:xfrm>
            <a:custGeom>
              <a:avLst/>
              <a:gdLst/>
              <a:ahLst/>
              <a:cxnLst/>
              <a:rect l="l" t="t" r="r" b="b"/>
              <a:pathLst>
                <a:path w="22445" h="34612" extrusionOk="0">
                  <a:moveTo>
                    <a:pt x="21218" y="0"/>
                  </a:moveTo>
                  <a:lnTo>
                    <a:pt x="1" y="4894"/>
                  </a:lnTo>
                  <a:cubicBezTo>
                    <a:pt x="2739" y="16681"/>
                    <a:pt x="9419" y="27170"/>
                    <a:pt x="18956" y="34612"/>
                  </a:cubicBezTo>
                  <a:lnTo>
                    <a:pt x="22444" y="29004"/>
                  </a:lnTo>
                  <a:cubicBezTo>
                    <a:pt x="19348" y="19634"/>
                    <a:pt x="18932" y="9597"/>
                    <a:pt x="21218" y="0"/>
                  </a:cubicBezTo>
                  <a:close/>
                </a:path>
              </a:pathLst>
            </a:custGeom>
            <a:gradFill>
              <a:gsLst>
                <a:gs pos="0">
                  <a:srgbClr val="00B0F0"/>
                </a:gs>
                <a:gs pos="100000">
                  <a:srgbClr val="002060"/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64;p15"/>
            <p:cNvSpPr/>
            <p:nvPr/>
          </p:nvSpPr>
          <p:spPr>
            <a:xfrm>
              <a:off x="749325" y="2066907"/>
              <a:ext cx="1022326" cy="1130866"/>
            </a:xfrm>
            <a:custGeom>
              <a:avLst/>
              <a:gdLst/>
              <a:ahLst/>
              <a:cxnLst/>
              <a:rect l="l" t="t" r="r" b="b"/>
              <a:pathLst>
                <a:path w="31732" h="35101" extrusionOk="0">
                  <a:moveTo>
                    <a:pt x="7859" y="1"/>
                  </a:moveTo>
                  <a:cubicBezTo>
                    <a:pt x="2001" y="10704"/>
                    <a:pt x="1" y="23099"/>
                    <a:pt x="2204" y="35100"/>
                  </a:cubicBezTo>
                  <a:lnTo>
                    <a:pt x="24587" y="29933"/>
                  </a:lnTo>
                  <a:cubicBezTo>
                    <a:pt x="26159" y="24587"/>
                    <a:pt x="28576" y="19527"/>
                    <a:pt x="31731" y="14931"/>
                  </a:cubicBezTo>
                  <a:lnTo>
                    <a:pt x="7859" y="1"/>
                  </a:lnTo>
                  <a:close/>
                </a:path>
              </a:pathLst>
            </a:custGeom>
            <a:gradFill>
              <a:gsLst>
                <a:gs pos="0">
                  <a:srgbClr val="22B2DE"/>
                </a:gs>
                <a:gs pos="100000">
                  <a:srgbClr val="0A3F80"/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65" name="Google Shape;65;p15"/>
            <p:cNvGrpSpPr/>
            <p:nvPr/>
          </p:nvGrpSpPr>
          <p:grpSpPr>
            <a:xfrm>
              <a:off x="1817288" y="2094552"/>
              <a:ext cx="963660" cy="1341533"/>
              <a:chOff x="2048919" y="2065650"/>
              <a:chExt cx="874464" cy="1217362"/>
            </a:xfrm>
          </p:grpSpPr>
          <p:sp>
            <p:nvSpPr>
              <p:cNvPr id="66" name="Google Shape;66;p15"/>
              <p:cNvSpPr/>
              <p:nvPr/>
            </p:nvSpPr>
            <p:spPr>
              <a:xfrm>
                <a:off x="2048919" y="2065650"/>
                <a:ext cx="858822" cy="1138011"/>
              </a:xfrm>
              <a:custGeom>
                <a:avLst/>
                <a:gdLst/>
                <a:ahLst/>
                <a:cxnLst/>
                <a:rect l="l" t="t" r="r" b="b"/>
                <a:pathLst>
                  <a:path w="29374" h="38923" extrusionOk="0">
                    <a:moveTo>
                      <a:pt x="0" y="1"/>
                    </a:moveTo>
                    <a:lnTo>
                      <a:pt x="18848" y="38922"/>
                    </a:lnTo>
                    <a:cubicBezTo>
                      <a:pt x="17979" y="36124"/>
                      <a:pt x="19039" y="33088"/>
                      <a:pt x="21456" y="31433"/>
                    </a:cubicBezTo>
                    <a:cubicBezTo>
                      <a:pt x="22590" y="30657"/>
                      <a:pt x="23897" y="30273"/>
                      <a:pt x="25202" y="30273"/>
                    </a:cubicBezTo>
                    <a:cubicBezTo>
                      <a:pt x="26679" y="30273"/>
                      <a:pt x="28153" y="30764"/>
                      <a:pt x="29373" y="31731"/>
                    </a:cubicBezTo>
                    <a:lnTo>
                      <a:pt x="0" y="1"/>
                    </a:lnTo>
                    <a:close/>
                  </a:path>
                </a:pathLst>
              </a:custGeom>
              <a:gradFill>
                <a:gsLst>
                  <a:gs pos="0">
                    <a:srgbClr val="7A7A7A"/>
                  </a:gs>
                  <a:gs pos="100000">
                    <a:srgbClr val="393939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" name="Google Shape;67;p15"/>
              <p:cNvSpPr/>
              <p:nvPr/>
            </p:nvSpPr>
            <p:spPr>
              <a:xfrm>
                <a:off x="2648376" y="3007975"/>
                <a:ext cx="275008" cy="275037"/>
              </a:xfrm>
              <a:custGeom>
                <a:avLst/>
                <a:gdLst/>
                <a:ahLst/>
                <a:cxnLst/>
                <a:rect l="l" t="t" r="r" b="b"/>
                <a:pathLst>
                  <a:path w="9406" h="9407" extrusionOk="0">
                    <a:moveTo>
                      <a:pt x="4703" y="1"/>
                    </a:moveTo>
                    <a:cubicBezTo>
                      <a:pt x="2107" y="1"/>
                      <a:pt x="0" y="2108"/>
                      <a:pt x="0" y="4704"/>
                    </a:cubicBezTo>
                    <a:cubicBezTo>
                      <a:pt x="0" y="7299"/>
                      <a:pt x="2107" y="9407"/>
                      <a:pt x="4703" y="9407"/>
                    </a:cubicBezTo>
                    <a:cubicBezTo>
                      <a:pt x="7299" y="9407"/>
                      <a:pt x="9406" y="7299"/>
                      <a:pt x="9406" y="4704"/>
                    </a:cubicBezTo>
                    <a:cubicBezTo>
                      <a:pt x="9406" y="2108"/>
                      <a:pt x="7299" y="1"/>
                      <a:pt x="4703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7A7A7A"/>
                  </a:gs>
                  <a:gs pos="100000">
                    <a:srgbClr val="393939"/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68" name="Titulo"/>
          <p:cNvSpPr txBox="1"/>
          <p:nvPr/>
        </p:nvSpPr>
        <p:spPr>
          <a:xfrm>
            <a:off x="502920" y="1417320"/>
            <a:ext cx="420624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2600" b="1">
                <a:solidFill>
                  <a:srgbClr val="002060"/>
                </a:solidFill>
                <a:latin typeface="Area Normal Trial Black"/>
              </a:rPr>
              <a:t>La inteligencia artificial generativa como infraestructura de decisión curricular</a:t>
            </a:r>
          </a:p>
        </p:txBody>
      </p:sp>
      <p:sp>
        <p:nvSpPr>
          <p:cNvPr id="69" name="Subtitulo"/>
          <p:cNvSpPr txBox="1"/>
          <p:nvPr/>
        </p:nvSpPr>
        <p:spPr>
          <a:xfrm>
            <a:off x="502920" y="3154680"/>
            <a:ext cx="36576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263A58"/>
                </a:solidFill>
                <a:latin typeface="Area Normal Trial Light"/>
              </a:rPr>
              <a:t>Coherencia, trazabilidad y evidencia en 50 matrices curriculares</a:t>
            </a:r>
          </a:p>
        </p:txBody>
      </p:sp>
      <p:sp>
        <p:nvSpPr>
          <p:cNvPr id="70" name="Pie"/>
          <p:cNvSpPr txBox="1"/>
          <p:nvPr/>
        </p:nvSpPr>
        <p:spPr>
          <a:xfrm>
            <a:off x="502920" y="3931920"/>
            <a:ext cx="3931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4D6285"/>
                </a:solidFill>
                <a:latin typeface="Area Normal Trial Light"/>
              </a:rPr>
              <a:t>Alta Dirección · Vicerrectoría Académica · Octubre de 2026</a:t>
            </a:r>
          </a:p>
        </p:txBody>
      </p:sp>
      <p:pic>
        <p:nvPicPr>
          <p:cNvPr id="72" name="Logo POLI" descr="Logo_POLI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365760"/>
            <a:ext cx="1280160" cy="72809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8" name="Fondo POLI" descr="bg_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grpSp>
        <p:nvGrpSpPr>
          <p:cNvPr id="915" name="Google Shape;915;p30"/>
          <p:cNvGrpSpPr/>
          <p:nvPr/>
        </p:nvGrpSpPr>
        <p:grpSpPr>
          <a:xfrm>
            <a:off x="-14400" y="987552"/>
            <a:ext cx="9158400" cy="3579570"/>
            <a:chOff x="0" y="1184680"/>
            <a:chExt cx="9158400" cy="3579570"/>
          </a:xfrm>
        </p:grpSpPr>
        <p:cxnSp>
          <p:nvCxnSpPr>
            <p:cNvPr id="916" name="Google Shape;916;p30"/>
            <p:cNvCxnSpPr/>
            <p:nvPr/>
          </p:nvCxnSpPr>
          <p:spPr>
            <a:xfrm>
              <a:off x="0" y="4671700"/>
              <a:ext cx="9158400" cy="0"/>
            </a:xfrm>
            <a:prstGeom prst="straightConnector1">
              <a:avLst/>
            </a:prstGeom>
            <a:noFill/>
            <a:ln w="38100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917" name="Google Shape;917;p30"/>
            <p:cNvGrpSpPr/>
            <p:nvPr/>
          </p:nvGrpSpPr>
          <p:grpSpPr>
            <a:xfrm>
              <a:off x="892487" y="1184680"/>
              <a:ext cx="1451959" cy="3579570"/>
              <a:chOff x="892487" y="1184680"/>
              <a:chExt cx="1451959" cy="3579570"/>
            </a:xfrm>
          </p:grpSpPr>
          <p:grpSp>
            <p:nvGrpSpPr>
              <p:cNvPr id="918" name="Google Shape;918;p30"/>
              <p:cNvGrpSpPr/>
              <p:nvPr/>
            </p:nvGrpSpPr>
            <p:grpSpPr>
              <a:xfrm>
                <a:off x="892487" y="1184680"/>
                <a:ext cx="1451959" cy="3579570"/>
                <a:chOff x="892487" y="1184680"/>
                <a:chExt cx="1451959" cy="3579570"/>
              </a:xfrm>
            </p:grpSpPr>
            <p:sp>
              <p:nvSpPr>
                <p:cNvPr id="919" name="Google Shape;919;p30"/>
                <p:cNvSpPr/>
                <p:nvPr/>
              </p:nvSpPr>
              <p:spPr>
                <a:xfrm>
                  <a:off x="892487" y="1184680"/>
                  <a:ext cx="1451959" cy="317898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90" h="26252" extrusionOk="0">
                      <a:moveTo>
                        <a:pt x="5994" y="1"/>
                      </a:moveTo>
                      <a:cubicBezTo>
                        <a:pt x="5394" y="1"/>
                        <a:pt x="4793" y="230"/>
                        <a:pt x="4334" y="688"/>
                      </a:cubicBezTo>
                      <a:lnTo>
                        <a:pt x="453" y="4570"/>
                      </a:lnTo>
                      <a:cubicBezTo>
                        <a:pt x="262" y="4760"/>
                        <a:pt x="108" y="4975"/>
                        <a:pt x="0" y="5213"/>
                      </a:cubicBezTo>
                      <a:lnTo>
                        <a:pt x="0" y="21215"/>
                      </a:lnTo>
                      <a:cubicBezTo>
                        <a:pt x="274" y="24275"/>
                        <a:pt x="2858" y="26251"/>
                        <a:pt x="5989" y="26251"/>
                      </a:cubicBezTo>
                      <a:cubicBezTo>
                        <a:pt x="9121" y="26251"/>
                        <a:pt x="11704" y="24275"/>
                        <a:pt x="11990" y="21215"/>
                      </a:cubicBezTo>
                      <a:lnTo>
                        <a:pt x="11990" y="5213"/>
                      </a:lnTo>
                      <a:cubicBezTo>
                        <a:pt x="11871" y="4975"/>
                        <a:pt x="11716" y="4760"/>
                        <a:pt x="11538" y="4570"/>
                      </a:cubicBezTo>
                      <a:lnTo>
                        <a:pt x="7644" y="688"/>
                      </a:lnTo>
                      <a:cubicBezTo>
                        <a:pt x="7192" y="230"/>
                        <a:pt x="6593" y="1"/>
                        <a:pt x="5994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00B0F0"/>
                    </a:gs>
                    <a:gs pos="100000">
                      <a:srgbClr val="002060"/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20" name="Google Shape;920;p30"/>
                <p:cNvSpPr/>
                <p:nvPr/>
              </p:nvSpPr>
              <p:spPr>
                <a:xfrm>
                  <a:off x="1346600" y="3550292"/>
                  <a:ext cx="542275" cy="5437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78" h="4490" extrusionOk="0">
                      <a:moveTo>
                        <a:pt x="2239" y="1"/>
                      </a:moveTo>
                      <a:cubicBezTo>
                        <a:pt x="1001" y="1"/>
                        <a:pt x="1" y="1013"/>
                        <a:pt x="1" y="2251"/>
                      </a:cubicBezTo>
                      <a:cubicBezTo>
                        <a:pt x="1" y="3478"/>
                        <a:pt x="1001" y="4490"/>
                        <a:pt x="2239" y="4490"/>
                      </a:cubicBezTo>
                      <a:cubicBezTo>
                        <a:pt x="3477" y="4490"/>
                        <a:pt x="4478" y="3478"/>
                        <a:pt x="4478" y="2251"/>
                      </a:cubicBezTo>
                      <a:cubicBezTo>
                        <a:pt x="4478" y="1013"/>
                        <a:pt x="3477" y="1"/>
                        <a:pt x="2239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cxnSp>
              <p:nvCxnSpPr>
                <p:cNvPr id="921" name="Google Shape;921;p30"/>
                <p:cNvCxnSpPr/>
                <p:nvPr/>
              </p:nvCxnSpPr>
              <p:spPr>
                <a:xfrm rot="10800000">
                  <a:off x="1618463" y="4292300"/>
                  <a:ext cx="0" cy="384600"/>
                </a:xfrm>
                <a:prstGeom prst="straightConnector1">
                  <a:avLst/>
                </a:prstGeom>
                <a:noFill/>
                <a:ln w="38100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922" name="Google Shape;922;p30"/>
                <p:cNvSpPr/>
                <p:nvPr/>
              </p:nvSpPr>
              <p:spPr>
                <a:xfrm>
                  <a:off x="1525188" y="4579150"/>
                  <a:ext cx="185100" cy="185100"/>
                </a:xfrm>
                <a:prstGeom prst="ellipse">
                  <a:avLst/>
                </a:prstGeom>
                <a:gradFill>
                  <a:gsLst>
                    <a:gs pos="0">
                      <a:srgbClr val="00B0F0"/>
                    </a:gs>
                    <a:gs pos="100000">
                      <a:srgbClr val="002060"/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923" name="Google Shape;923;p30"/>
                <p:cNvGrpSpPr/>
                <p:nvPr/>
              </p:nvGrpSpPr>
              <p:grpSpPr>
                <a:xfrm>
                  <a:off x="1434842" y="3638518"/>
                  <a:ext cx="367261" cy="367261"/>
                  <a:chOff x="-65145700" y="3727425"/>
                  <a:chExt cx="317425" cy="317425"/>
                </a:xfrm>
              </p:grpSpPr>
              <p:sp>
                <p:nvSpPr>
                  <p:cNvPr id="924" name="Google Shape;924;p30"/>
                  <p:cNvSpPr/>
                  <p:nvPr/>
                </p:nvSpPr>
                <p:spPr>
                  <a:xfrm>
                    <a:off x="-65145700" y="3769150"/>
                    <a:ext cx="275675" cy="2757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027" h="11028" extrusionOk="0">
                        <a:moveTo>
                          <a:pt x="5514" y="1"/>
                        </a:moveTo>
                        <a:cubicBezTo>
                          <a:pt x="2489" y="1"/>
                          <a:pt x="0" y="2458"/>
                          <a:pt x="0" y="5514"/>
                        </a:cubicBezTo>
                        <a:cubicBezTo>
                          <a:pt x="0" y="8539"/>
                          <a:pt x="2489" y="11027"/>
                          <a:pt x="5514" y="11027"/>
                        </a:cubicBezTo>
                        <a:cubicBezTo>
                          <a:pt x="8538" y="11027"/>
                          <a:pt x="11027" y="8539"/>
                          <a:pt x="11027" y="5514"/>
                        </a:cubicBezTo>
                        <a:cubicBezTo>
                          <a:pt x="11027" y="5294"/>
                          <a:pt x="10869" y="5105"/>
                          <a:pt x="10649" y="5105"/>
                        </a:cubicBezTo>
                        <a:lnTo>
                          <a:pt x="5955" y="5105"/>
                        </a:lnTo>
                        <a:lnTo>
                          <a:pt x="5955" y="410"/>
                        </a:lnTo>
                        <a:cubicBezTo>
                          <a:pt x="5955" y="190"/>
                          <a:pt x="5766" y="1"/>
                          <a:pt x="5514" y="1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00B0F0"/>
                      </a:gs>
                      <a:gs pos="100000">
                        <a:srgbClr val="002060"/>
                      </a:gs>
                    </a:gsLst>
                    <a:lin ang="5400012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925" name="Google Shape;925;p30"/>
                  <p:cNvSpPr/>
                  <p:nvPr/>
                </p:nvSpPr>
                <p:spPr>
                  <a:xfrm>
                    <a:off x="-64977150" y="3727425"/>
                    <a:ext cx="148875" cy="1473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955" h="5892" extrusionOk="0">
                        <a:moveTo>
                          <a:pt x="441" y="0"/>
                        </a:moveTo>
                        <a:cubicBezTo>
                          <a:pt x="189" y="0"/>
                          <a:pt x="0" y="158"/>
                          <a:pt x="0" y="378"/>
                        </a:cubicBezTo>
                        <a:lnTo>
                          <a:pt x="0" y="5513"/>
                        </a:lnTo>
                        <a:cubicBezTo>
                          <a:pt x="0" y="5702"/>
                          <a:pt x="189" y="5891"/>
                          <a:pt x="441" y="5891"/>
                        </a:cubicBezTo>
                        <a:lnTo>
                          <a:pt x="5514" y="5891"/>
                        </a:lnTo>
                        <a:cubicBezTo>
                          <a:pt x="5734" y="5891"/>
                          <a:pt x="5955" y="5702"/>
                          <a:pt x="5955" y="5513"/>
                        </a:cubicBezTo>
                        <a:cubicBezTo>
                          <a:pt x="5955" y="2489"/>
                          <a:pt x="3466" y="0"/>
                          <a:pt x="441" y="0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00B0F0"/>
                      </a:gs>
                      <a:gs pos="100000">
                        <a:srgbClr val="002060"/>
                      </a:gs>
                    </a:gsLst>
                    <a:lin ang="5400012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sp>
              <p:nvSpPr>
                <p:cNvPr id="926" name="Google Shape;926;p30"/>
                <p:cNvSpPr txBox="1"/>
                <p:nvPr/>
              </p:nvSpPr>
              <p:spPr>
                <a:xfrm>
                  <a:off x="996750" y="1486475"/>
                  <a:ext cx="1242000" cy="5436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 sz="3400">
                      <a:solidFill>
                        <a:schemeClr val="lt1"/>
                      </a:solidFill>
                      <a:latin typeface="Fira Sans Extra Condensed Medium"/>
                      <a:ea typeface="Fira Sans Extra Condensed Medium"/>
                      <a:cs typeface="Fira Sans Extra Condensed Medium"/>
                      <a:sym typeface="Fira Sans Extra Condensed Medium"/>
                    </a:rPr>
                    <a:t>50</a:t>
                  </a:r>
                  <a:endParaRPr sz="3600">
                    <a:solidFill>
                      <a:schemeClr val="lt1"/>
                    </a:solidFill>
                    <a:latin typeface="Fira Sans Extra Condensed Medium"/>
                    <a:ea typeface="Fira Sans Extra Condensed Medium"/>
                    <a:cs typeface="Fira Sans Extra Condensed Medium"/>
                    <a:sym typeface="Fira Sans Extra Condensed Medium"/>
                  </a:endParaRPr>
                </a:p>
              </p:txBody>
            </p:sp>
          </p:grpSp>
          <p:grpSp>
            <p:nvGrpSpPr>
              <p:cNvPr id="927" name="Google Shape;927;p30"/>
              <p:cNvGrpSpPr/>
              <p:nvPr/>
            </p:nvGrpSpPr>
            <p:grpSpPr>
              <a:xfrm>
                <a:off x="996750" y="2149624"/>
                <a:ext cx="1242005" cy="1099248"/>
                <a:chOff x="996750" y="2149624"/>
                <a:chExt cx="1242005" cy="1099248"/>
              </a:xfrm>
            </p:grpSpPr>
            <p:sp>
              <p:nvSpPr>
                <p:cNvPr id="928" name="Google Shape;928;p30"/>
                <p:cNvSpPr txBox="1"/>
                <p:nvPr/>
              </p:nvSpPr>
              <p:spPr>
                <a:xfrm>
                  <a:off x="996755" y="2149624"/>
                  <a:ext cx="1242000" cy="2535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 sz="1700">
                      <a:solidFill>
                        <a:schemeClr val="lt1"/>
                      </a:solidFill>
                      <a:latin typeface="Fira Sans Extra Condensed Medium"/>
                      <a:ea typeface="Fira Sans Extra Condensed Medium"/>
                      <a:cs typeface="Fira Sans Extra Condensed Medium"/>
                      <a:sym typeface="Fira Sans Extra Condensed Medium"/>
                    </a:rPr>
                    <a:t>Matrices</a:t>
                  </a:r>
                  <a:endParaRPr sz="2200">
                    <a:solidFill>
                      <a:schemeClr val="lt1"/>
                    </a:solidFill>
                    <a:latin typeface="Fira Sans Extra Condensed Medium"/>
                    <a:ea typeface="Fira Sans Extra Condensed Medium"/>
                    <a:cs typeface="Fira Sans Extra Condensed Medium"/>
                    <a:sym typeface="Fira Sans Extra Condensed Medium"/>
                  </a:endParaRPr>
                </a:p>
              </p:txBody>
            </p:sp>
            <p:sp>
              <p:nvSpPr>
                <p:cNvPr id="929" name="Google Shape;929;p30"/>
                <p:cNvSpPr txBox="1"/>
                <p:nvPr/>
              </p:nvSpPr>
              <p:spPr>
                <a:xfrm>
                  <a:off x="996750" y="2461072"/>
                  <a:ext cx="1242000" cy="7878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 sz="1100">
                      <a:solidFill>
                        <a:schemeClr val="lt1"/>
                      </a:solidFill>
                      <a:latin typeface="Roboto"/>
                      <a:ea typeface="Roboto"/>
                      <a:cs typeface="Roboto"/>
                      <a:sym typeface="Roboto"/>
                    </a:rPr>
                    <a:t>unidades programa-sede analizadas</a:t>
                  </a:r>
                  <a:endParaRPr sz="1200">
                    <a:solidFill>
                      <a:schemeClr val="lt1"/>
                    </a:solidFill>
                    <a:latin typeface="Roboto"/>
                    <a:ea typeface="Roboto"/>
                    <a:cs typeface="Roboto"/>
                    <a:sym typeface="Roboto"/>
                  </a:endParaRPr>
                </a:p>
              </p:txBody>
            </p:sp>
          </p:grpSp>
        </p:grpSp>
        <p:grpSp>
          <p:nvGrpSpPr>
            <p:cNvPr id="930" name="Google Shape;930;p30"/>
            <p:cNvGrpSpPr/>
            <p:nvPr/>
          </p:nvGrpSpPr>
          <p:grpSpPr>
            <a:xfrm>
              <a:off x="2861504" y="1184680"/>
              <a:ext cx="1451959" cy="3579570"/>
              <a:chOff x="2861504" y="1184680"/>
              <a:chExt cx="1451959" cy="3579570"/>
            </a:xfrm>
          </p:grpSpPr>
          <p:grpSp>
            <p:nvGrpSpPr>
              <p:cNvPr id="931" name="Google Shape;931;p30"/>
              <p:cNvGrpSpPr/>
              <p:nvPr/>
            </p:nvGrpSpPr>
            <p:grpSpPr>
              <a:xfrm>
                <a:off x="2861504" y="1184680"/>
                <a:ext cx="1451959" cy="3579570"/>
                <a:chOff x="2861504" y="1184680"/>
                <a:chExt cx="1451959" cy="3579570"/>
              </a:xfrm>
            </p:grpSpPr>
            <p:cxnSp>
              <p:nvCxnSpPr>
                <p:cNvPr id="932" name="Google Shape;932;p30"/>
                <p:cNvCxnSpPr/>
                <p:nvPr/>
              </p:nvCxnSpPr>
              <p:spPr>
                <a:xfrm rot="10800000">
                  <a:off x="3587475" y="4292300"/>
                  <a:ext cx="0" cy="384600"/>
                </a:xfrm>
                <a:prstGeom prst="straightConnector1">
                  <a:avLst/>
                </a:prstGeom>
                <a:noFill/>
                <a:ln w="38100" cap="flat" cmpd="sng">
                  <a:solidFill>
                    <a:schemeClr val="accent3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933" name="Google Shape;933;p30"/>
                <p:cNvSpPr/>
                <p:nvPr/>
              </p:nvSpPr>
              <p:spPr>
                <a:xfrm>
                  <a:off x="2861504" y="1184680"/>
                  <a:ext cx="1451959" cy="317898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90" h="26252" extrusionOk="0">
                      <a:moveTo>
                        <a:pt x="5994" y="1"/>
                      </a:moveTo>
                      <a:cubicBezTo>
                        <a:pt x="5394" y="1"/>
                        <a:pt x="4793" y="230"/>
                        <a:pt x="4334" y="688"/>
                      </a:cubicBezTo>
                      <a:lnTo>
                        <a:pt x="453" y="4570"/>
                      </a:lnTo>
                      <a:cubicBezTo>
                        <a:pt x="262" y="4760"/>
                        <a:pt x="108" y="4975"/>
                        <a:pt x="0" y="5213"/>
                      </a:cubicBezTo>
                      <a:lnTo>
                        <a:pt x="0" y="21215"/>
                      </a:lnTo>
                      <a:cubicBezTo>
                        <a:pt x="274" y="24275"/>
                        <a:pt x="2858" y="26251"/>
                        <a:pt x="5989" y="26251"/>
                      </a:cubicBezTo>
                      <a:cubicBezTo>
                        <a:pt x="9121" y="26251"/>
                        <a:pt x="11704" y="24275"/>
                        <a:pt x="11990" y="21215"/>
                      </a:cubicBezTo>
                      <a:lnTo>
                        <a:pt x="11990" y="5213"/>
                      </a:lnTo>
                      <a:cubicBezTo>
                        <a:pt x="11871" y="4975"/>
                        <a:pt x="11716" y="4760"/>
                        <a:pt x="11538" y="4570"/>
                      </a:cubicBezTo>
                      <a:lnTo>
                        <a:pt x="7644" y="688"/>
                      </a:lnTo>
                      <a:cubicBezTo>
                        <a:pt x="7192" y="230"/>
                        <a:pt x="6593" y="1"/>
                        <a:pt x="5994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2B2DE"/>
                    </a:gs>
                    <a:gs pos="100000">
                      <a:srgbClr val="0A3F80"/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34" name="Google Shape;934;p30"/>
                <p:cNvSpPr/>
                <p:nvPr/>
              </p:nvSpPr>
              <p:spPr>
                <a:xfrm>
                  <a:off x="3315617" y="3550292"/>
                  <a:ext cx="542275" cy="5437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78" h="4490" extrusionOk="0">
                      <a:moveTo>
                        <a:pt x="2239" y="1"/>
                      </a:moveTo>
                      <a:cubicBezTo>
                        <a:pt x="1001" y="1"/>
                        <a:pt x="1" y="1013"/>
                        <a:pt x="1" y="2251"/>
                      </a:cubicBezTo>
                      <a:cubicBezTo>
                        <a:pt x="1" y="3478"/>
                        <a:pt x="1001" y="4490"/>
                        <a:pt x="2239" y="4490"/>
                      </a:cubicBezTo>
                      <a:cubicBezTo>
                        <a:pt x="3477" y="4490"/>
                        <a:pt x="4478" y="3478"/>
                        <a:pt x="4478" y="2251"/>
                      </a:cubicBezTo>
                      <a:cubicBezTo>
                        <a:pt x="4478" y="1013"/>
                        <a:pt x="3477" y="1"/>
                        <a:pt x="2239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35" name="Google Shape;935;p30"/>
                <p:cNvSpPr/>
                <p:nvPr/>
              </p:nvSpPr>
              <p:spPr>
                <a:xfrm>
                  <a:off x="3494563" y="4579150"/>
                  <a:ext cx="185100" cy="185100"/>
                </a:xfrm>
                <a:prstGeom prst="ellipse">
                  <a:avLst/>
                </a:prstGeom>
                <a:gradFill>
                  <a:gsLst>
                    <a:gs pos="0">
                      <a:srgbClr val="22B2DE"/>
                    </a:gs>
                    <a:gs pos="100000">
                      <a:srgbClr val="0A3F80"/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36" name="Google Shape;936;p30"/>
                <p:cNvSpPr/>
                <p:nvPr/>
              </p:nvSpPr>
              <p:spPr>
                <a:xfrm>
                  <a:off x="3402954" y="3637601"/>
                  <a:ext cx="369083" cy="3691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760" h="12761" extrusionOk="0">
                      <a:moveTo>
                        <a:pt x="6427" y="3592"/>
                      </a:moveTo>
                      <a:cubicBezTo>
                        <a:pt x="7939" y="3592"/>
                        <a:pt x="9168" y="4821"/>
                        <a:pt x="9168" y="6365"/>
                      </a:cubicBezTo>
                      <a:cubicBezTo>
                        <a:pt x="9168" y="7846"/>
                        <a:pt x="7908" y="9106"/>
                        <a:pt x="6427" y="9106"/>
                      </a:cubicBezTo>
                      <a:cubicBezTo>
                        <a:pt x="4883" y="9106"/>
                        <a:pt x="3655" y="7877"/>
                        <a:pt x="3655" y="6365"/>
                      </a:cubicBezTo>
                      <a:cubicBezTo>
                        <a:pt x="3655" y="4821"/>
                        <a:pt x="4883" y="3592"/>
                        <a:pt x="6427" y="3592"/>
                      </a:cubicBezTo>
                      <a:close/>
                      <a:moveTo>
                        <a:pt x="5829" y="1"/>
                      </a:moveTo>
                      <a:cubicBezTo>
                        <a:pt x="5356" y="1"/>
                        <a:pt x="5009" y="347"/>
                        <a:pt x="5009" y="852"/>
                      </a:cubicBezTo>
                      <a:lnTo>
                        <a:pt x="5009" y="1576"/>
                      </a:lnTo>
                      <a:cubicBezTo>
                        <a:pt x="4631" y="1702"/>
                        <a:pt x="4285" y="1828"/>
                        <a:pt x="3970" y="2017"/>
                      </a:cubicBezTo>
                      <a:lnTo>
                        <a:pt x="3466" y="1513"/>
                      </a:lnTo>
                      <a:cubicBezTo>
                        <a:pt x="3308" y="1356"/>
                        <a:pt x="3088" y="1277"/>
                        <a:pt x="2867" y="1277"/>
                      </a:cubicBezTo>
                      <a:cubicBezTo>
                        <a:pt x="2647" y="1277"/>
                        <a:pt x="2426" y="1356"/>
                        <a:pt x="2269" y="1513"/>
                      </a:cubicBezTo>
                      <a:lnTo>
                        <a:pt x="1481" y="2301"/>
                      </a:lnTo>
                      <a:cubicBezTo>
                        <a:pt x="1166" y="2616"/>
                        <a:pt x="1166" y="3151"/>
                        <a:pt x="1481" y="3466"/>
                      </a:cubicBezTo>
                      <a:lnTo>
                        <a:pt x="2017" y="4002"/>
                      </a:lnTo>
                      <a:cubicBezTo>
                        <a:pt x="1796" y="4317"/>
                        <a:pt x="1701" y="4664"/>
                        <a:pt x="1575" y="5010"/>
                      </a:cubicBezTo>
                      <a:lnTo>
                        <a:pt x="819" y="5010"/>
                      </a:lnTo>
                      <a:cubicBezTo>
                        <a:pt x="347" y="5010"/>
                        <a:pt x="0" y="5357"/>
                        <a:pt x="0" y="5829"/>
                      </a:cubicBezTo>
                      <a:lnTo>
                        <a:pt x="0" y="6932"/>
                      </a:lnTo>
                      <a:cubicBezTo>
                        <a:pt x="0" y="7405"/>
                        <a:pt x="347" y="7783"/>
                        <a:pt x="819" y="7783"/>
                      </a:cubicBezTo>
                      <a:lnTo>
                        <a:pt x="1575" y="7783"/>
                      </a:lnTo>
                      <a:cubicBezTo>
                        <a:pt x="1701" y="8129"/>
                        <a:pt x="1796" y="8476"/>
                        <a:pt x="2017" y="8791"/>
                      </a:cubicBezTo>
                      <a:lnTo>
                        <a:pt x="1481" y="9295"/>
                      </a:lnTo>
                      <a:cubicBezTo>
                        <a:pt x="1166" y="9610"/>
                        <a:pt x="1166" y="10177"/>
                        <a:pt x="1481" y="10492"/>
                      </a:cubicBezTo>
                      <a:lnTo>
                        <a:pt x="2269" y="11280"/>
                      </a:lnTo>
                      <a:cubicBezTo>
                        <a:pt x="2426" y="11437"/>
                        <a:pt x="2647" y="11516"/>
                        <a:pt x="2867" y="11516"/>
                      </a:cubicBezTo>
                      <a:cubicBezTo>
                        <a:pt x="3088" y="11516"/>
                        <a:pt x="3308" y="11437"/>
                        <a:pt x="3466" y="11280"/>
                      </a:cubicBezTo>
                      <a:lnTo>
                        <a:pt x="3970" y="10776"/>
                      </a:lnTo>
                      <a:cubicBezTo>
                        <a:pt x="4285" y="10965"/>
                        <a:pt x="4631" y="11091"/>
                        <a:pt x="5009" y="11185"/>
                      </a:cubicBezTo>
                      <a:lnTo>
                        <a:pt x="5009" y="11941"/>
                      </a:lnTo>
                      <a:cubicBezTo>
                        <a:pt x="5009" y="12414"/>
                        <a:pt x="5356" y="12760"/>
                        <a:pt x="5829" y="12760"/>
                      </a:cubicBezTo>
                      <a:lnTo>
                        <a:pt x="6931" y="12760"/>
                      </a:lnTo>
                      <a:cubicBezTo>
                        <a:pt x="7404" y="12760"/>
                        <a:pt x="7750" y="12414"/>
                        <a:pt x="7750" y="11941"/>
                      </a:cubicBezTo>
                      <a:lnTo>
                        <a:pt x="7750" y="11185"/>
                      </a:lnTo>
                      <a:cubicBezTo>
                        <a:pt x="8097" y="11091"/>
                        <a:pt x="8475" y="10965"/>
                        <a:pt x="8790" y="10776"/>
                      </a:cubicBezTo>
                      <a:lnTo>
                        <a:pt x="9294" y="11280"/>
                      </a:lnTo>
                      <a:cubicBezTo>
                        <a:pt x="9452" y="11437"/>
                        <a:pt x="9664" y="11516"/>
                        <a:pt x="9877" y="11516"/>
                      </a:cubicBezTo>
                      <a:cubicBezTo>
                        <a:pt x="10090" y="11516"/>
                        <a:pt x="10302" y="11437"/>
                        <a:pt x="10460" y="11280"/>
                      </a:cubicBezTo>
                      <a:lnTo>
                        <a:pt x="11247" y="10492"/>
                      </a:lnTo>
                      <a:cubicBezTo>
                        <a:pt x="11563" y="10177"/>
                        <a:pt x="11563" y="9610"/>
                        <a:pt x="11247" y="9295"/>
                      </a:cubicBezTo>
                      <a:lnTo>
                        <a:pt x="10743" y="8791"/>
                      </a:lnTo>
                      <a:cubicBezTo>
                        <a:pt x="10932" y="8476"/>
                        <a:pt x="11058" y="8129"/>
                        <a:pt x="11184" y="7783"/>
                      </a:cubicBezTo>
                      <a:lnTo>
                        <a:pt x="11941" y="7783"/>
                      </a:lnTo>
                      <a:cubicBezTo>
                        <a:pt x="12413" y="7783"/>
                        <a:pt x="12760" y="7405"/>
                        <a:pt x="12760" y="6932"/>
                      </a:cubicBezTo>
                      <a:lnTo>
                        <a:pt x="12760" y="5829"/>
                      </a:lnTo>
                      <a:cubicBezTo>
                        <a:pt x="12760" y="5325"/>
                        <a:pt x="12350" y="4979"/>
                        <a:pt x="11941" y="4979"/>
                      </a:cubicBezTo>
                      <a:lnTo>
                        <a:pt x="11184" y="4979"/>
                      </a:lnTo>
                      <a:cubicBezTo>
                        <a:pt x="11058" y="4632"/>
                        <a:pt x="10932" y="4254"/>
                        <a:pt x="10743" y="3939"/>
                      </a:cubicBezTo>
                      <a:lnTo>
                        <a:pt x="11247" y="3435"/>
                      </a:lnTo>
                      <a:cubicBezTo>
                        <a:pt x="11563" y="3120"/>
                        <a:pt x="11563" y="2553"/>
                        <a:pt x="11247" y="2238"/>
                      </a:cubicBezTo>
                      <a:lnTo>
                        <a:pt x="10460" y="1450"/>
                      </a:lnTo>
                      <a:cubicBezTo>
                        <a:pt x="10302" y="1293"/>
                        <a:pt x="10090" y="1214"/>
                        <a:pt x="9877" y="1214"/>
                      </a:cubicBezTo>
                      <a:cubicBezTo>
                        <a:pt x="9664" y="1214"/>
                        <a:pt x="9452" y="1293"/>
                        <a:pt x="9294" y="1450"/>
                      </a:cubicBezTo>
                      <a:lnTo>
                        <a:pt x="8790" y="1986"/>
                      </a:lnTo>
                      <a:cubicBezTo>
                        <a:pt x="8475" y="1765"/>
                        <a:pt x="8097" y="1671"/>
                        <a:pt x="7750" y="1545"/>
                      </a:cubicBezTo>
                      <a:lnTo>
                        <a:pt x="7750" y="852"/>
                      </a:lnTo>
                      <a:cubicBezTo>
                        <a:pt x="7750" y="379"/>
                        <a:pt x="7404" y="1"/>
                        <a:pt x="6931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2B2DE"/>
                    </a:gs>
                    <a:gs pos="100000">
                      <a:srgbClr val="0A3F80"/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37" name="Google Shape;937;p30"/>
                <p:cNvSpPr txBox="1"/>
                <p:nvPr/>
              </p:nvSpPr>
              <p:spPr>
                <a:xfrm>
                  <a:off x="2966488" y="1486475"/>
                  <a:ext cx="1242000" cy="5436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 sz="3400">
                      <a:solidFill>
                        <a:schemeClr val="lt1"/>
                      </a:solidFill>
                      <a:latin typeface="Fira Sans Extra Condensed Medium"/>
                      <a:ea typeface="Fira Sans Extra Condensed Medium"/>
                      <a:cs typeface="Fira Sans Extra Condensed Medium"/>
                      <a:sym typeface="Fira Sans Extra Condensed Medium"/>
                    </a:rPr>
                    <a:t>39</a:t>
                  </a:r>
                  <a:endParaRPr sz="3600">
                    <a:solidFill>
                      <a:schemeClr val="lt1"/>
                    </a:solidFill>
                    <a:latin typeface="Fira Sans Extra Condensed Medium"/>
                    <a:ea typeface="Fira Sans Extra Condensed Medium"/>
                    <a:cs typeface="Fira Sans Extra Condensed Medium"/>
                    <a:sym typeface="Fira Sans Extra Condensed Medium"/>
                  </a:endParaRPr>
                </a:p>
              </p:txBody>
            </p:sp>
          </p:grpSp>
          <p:grpSp>
            <p:nvGrpSpPr>
              <p:cNvPr id="938" name="Google Shape;938;p30"/>
              <p:cNvGrpSpPr/>
              <p:nvPr/>
            </p:nvGrpSpPr>
            <p:grpSpPr>
              <a:xfrm>
                <a:off x="2966488" y="2149624"/>
                <a:ext cx="1242005" cy="1099248"/>
                <a:chOff x="2966488" y="2149624"/>
                <a:chExt cx="1242005" cy="1099248"/>
              </a:xfrm>
            </p:grpSpPr>
            <p:sp>
              <p:nvSpPr>
                <p:cNvPr id="939" name="Google Shape;939;p30"/>
                <p:cNvSpPr txBox="1"/>
                <p:nvPr/>
              </p:nvSpPr>
              <p:spPr>
                <a:xfrm>
                  <a:off x="2966493" y="2149624"/>
                  <a:ext cx="1242000" cy="2535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 sz="1700">
                      <a:solidFill>
                        <a:schemeClr val="lt1"/>
                      </a:solidFill>
                      <a:latin typeface="Fira Sans Extra Condensed Medium"/>
                      <a:ea typeface="Fira Sans Extra Condensed Medium"/>
                      <a:cs typeface="Fira Sans Extra Condensed Medium"/>
                      <a:sym typeface="Fira Sans Extra Condensed Medium"/>
                    </a:rPr>
                    <a:t>Programas</a:t>
                  </a:r>
                  <a:endParaRPr sz="2200">
                    <a:solidFill>
                      <a:schemeClr val="lt1"/>
                    </a:solidFill>
                    <a:latin typeface="Fira Sans Extra Condensed Medium"/>
                    <a:ea typeface="Fira Sans Extra Condensed Medium"/>
                    <a:cs typeface="Fira Sans Extra Condensed Medium"/>
                    <a:sym typeface="Fira Sans Extra Condensed Medium"/>
                  </a:endParaRPr>
                </a:p>
              </p:txBody>
            </p:sp>
            <p:sp>
              <p:nvSpPr>
                <p:cNvPr id="940" name="Google Shape;940;p30"/>
                <p:cNvSpPr txBox="1"/>
                <p:nvPr/>
              </p:nvSpPr>
              <p:spPr>
                <a:xfrm>
                  <a:off x="2966488" y="2461072"/>
                  <a:ext cx="1242000" cy="7878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 sz="1100">
                      <a:solidFill>
                        <a:schemeClr val="lt1"/>
                      </a:solidFill>
                      <a:latin typeface="Roboto"/>
                      <a:ea typeface="Roboto"/>
                      <a:cs typeface="Roboto"/>
                      <a:sym typeface="Roboto"/>
                    </a:rPr>
                    <a:t>29 de pregrado y 10 de posgrado</a:t>
                  </a:r>
                  <a:endParaRPr sz="1200">
                    <a:solidFill>
                      <a:schemeClr val="lt1"/>
                    </a:solidFill>
                    <a:latin typeface="Roboto"/>
                    <a:ea typeface="Roboto"/>
                    <a:cs typeface="Roboto"/>
                    <a:sym typeface="Roboto"/>
                  </a:endParaRPr>
                </a:p>
              </p:txBody>
            </p:sp>
          </p:grpSp>
        </p:grpSp>
        <p:grpSp>
          <p:nvGrpSpPr>
            <p:cNvPr id="941" name="Google Shape;941;p30"/>
            <p:cNvGrpSpPr/>
            <p:nvPr/>
          </p:nvGrpSpPr>
          <p:grpSpPr>
            <a:xfrm>
              <a:off x="4830521" y="1184680"/>
              <a:ext cx="1451959" cy="3579570"/>
              <a:chOff x="4830521" y="1184680"/>
              <a:chExt cx="1451959" cy="3579570"/>
            </a:xfrm>
          </p:grpSpPr>
          <p:grpSp>
            <p:nvGrpSpPr>
              <p:cNvPr id="942" name="Google Shape;942;p30"/>
              <p:cNvGrpSpPr/>
              <p:nvPr/>
            </p:nvGrpSpPr>
            <p:grpSpPr>
              <a:xfrm>
                <a:off x="4830521" y="1184680"/>
                <a:ext cx="1451959" cy="3579570"/>
                <a:chOff x="4830521" y="1184680"/>
                <a:chExt cx="1451959" cy="3579570"/>
              </a:xfrm>
            </p:grpSpPr>
            <p:cxnSp>
              <p:nvCxnSpPr>
                <p:cNvPr id="943" name="Google Shape;943;p30"/>
                <p:cNvCxnSpPr/>
                <p:nvPr/>
              </p:nvCxnSpPr>
              <p:spPr>
                <a:xfrm rot="10800000">
                  <a:off x="5555763" y="4292300"/>
                  <a:ext cx="0" cy="384600"/>
                </a:xfrm>
                <a:prstGeom prst="straightConnector1">
                  <a:avLst/>
                </a:prstGeom>
                <a:noFill/>
                <a:ln w="38100" cap="flat" cmpd="sng">
                  <a:solidFill>
                    <a:schemeClr val="accent4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944" name="Google Shape;944;p30"/>
                <p:cNvSpPr/>
                <p:nvPr/>
              </p:nvSpPr>
              <p:spPr>
                <a:xfrm>
                  <a:off x="4830521" y="1184680"/>
                  <a:ext cx="1451959" cy="317898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90" h="26252" extrusionOk="0">
                      <a:moveTo>
                        <a:pt x="5994" y="1"/>
                      </a:moveTo>
                      <a:cubicBezTo>
                        <a:pt x="5394" y="1"/>
                        <a:pt x="4793" y="230"/>
                        <a:pt x="4334" y="688"/>
                      </a:cubicBezTo>
                      <a:lnTo>
                        <a:pt x="453" y="4570"/>
                      </a:lnTo>
                      <a:cubicBezTo>
                        <a:pt x="262" y="4760"/>
                        <a:pt x="108" y="4975"/>
                        <a:pt x="0" y="5213"/>
                      </a:cubicBezTo>
                      <a:lnTo>
                        <a:pt x="0" y="21215"/>
                      </a:lnTo>
                      <a:cubicBezTo>
                        <a:pt x="274" y="24275"/>
                        <a:pt x="2858" y="26251"/>
                        <a:pt x="5989" y="26251"/>
                      </a:cubicBezTo>
                      <a:cubicBezTo>
                        <a:pt x="9121" y="26251"/>
                        <a:pt x="11704" y="24275"/>
                        <a:pt x="11990" y="21215"/>
                      </a:cubicBezTo>
                      <a:lnTo>
                        <a:pt x="11990" y="5213"/>
                      </a:lnTo>
                      <a:cubicBezTo>
                        <a:pt x="11871" y="4975"/>
                        <a:pt x="11716" y="4760"/>
                        <a:pt x="11538" y="4570"/>
                      </a:cubicBezTo>
                      <a:lnTo>
                        <a:pt x="7644" y="688"/>
                      </a:lnTo>
                      <a:cubicBezTo>
                        <a:pt x="7192" y="230"/>
                        <a:pt x="6593" y="1"/>
                        <a:pt x="5994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7FD8F5"/>
                    </a:gs>
                    <a:gs pos="100000">
                      <a:srgbClr val="15BECE"/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45" name="Google Shape;945;p30"/>
                <p:cNvSpPr/>
                <p:nvPr/>
              </p:nvSpPr>
              <p:spPr>
                <a:xfrm>
                  <a:off x="5284634" y="3550292"/>
                  <a:ext cx="542275" cy="5437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78" h="4490" extrusionOk="0">
                      <a:moveTo>
                        <a:pt x="2239" y="1"/>
                      </a:moveTo>
                      <a:cubicBezTo>
                        <a:pt x="1001" y="1"/>
                        <a:pt x="1" y="1013"/>
                        <a:pt x="1" y="2251"/>
                      </a:cubicBezTo>
                      <a:cubicBezTo>
                        <a:pt x="1" y="3478"/>
                        <a:pt x="1001" y="4490"/>
                        <a:pt x="2239" y="4490"/>
                      </a:cubicBezTo>
                      <a:cubicBezTo>
                        <a:pt x="3477" y="4490"/>
                        <a:pt x="4478" y="3478"/>
                        <a:pt x="4478" y="2251"/>
                      </a:cubicBezTo>
                      <a:cubicBezTo>
                        <a:pt x="4478" y="1013"/>
                        <a:pt x="3477" y="1"/>
                        <a:pt x="2239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46" name="Google Shape;946;p30"/>
                <p:cNvSpPr/>
                <p:nvPr/>
              </p:nvSpPr>
              <p:spPr>
                <a:xfrm>
                  <a:off x="5463563" y="4579150"/>
                  <a:ext cx="185100" cy="185100"/>
                </a:xfrm>
                <a:prstGeom prst="ellipse">
                  <a:avLst/>
                </a:prstGeom>
                <a:gradFill>
                  <a:gsLst>
                    <a:gs pos="0">
                      <a:srgbClr val="7FD8F5"/>
                    </a:gs>
                    <a:gs pos="100000">
                      <a:srgbClr val="15BECE"/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947" name="Google Shape;947;p30"/>
                <p:cNvGrpSpPr/>
                <p:nvPr/>
              </p:nvGrpSpPr>
              <p:grpSpPr>
                <a:xfrm>
                  <a:off x="5365129" y="3638244"/>
                  <a:ext cx="382765" cy="367810"/>
                  <a:chOff x="-62890750" y="3747425"/>
                  <a:chExt cx="330825" cy="317900"/>
                </a:xfrm>
              </p:grpSpPr>
              <p:sp>
                <p:nvSpPr>
                  <p:cNvPr id="948" name="Google Shape;948;p30"/>
                  <p:cNvSpPr/>
                  <p:nvPr/>
                </p:nvSpPr>
                <p:spPr>
                  <a:xfrm>
                    <a:off x="-62890750" y="3747425"/>
                    <a:ext cx="313500" cy="1958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540" h="7833" extrusionOk="0">
                        <a:moveTo>
                          <a:pt x="6591" y="0"/>
                        </a:moveTo>
                        <a:cubicBezTo>
                          <a:pt x="4966" y="0"/>
                          <a:pt x="3342" y="616"/>
                          <a:pt x="2112" y="1846"/>
                        </a:cubicBezTo>
                        <a:cubicBezTo>
                          <a:pt x="663" y="3296"/>
                          <a:pt x="1" y="5438"/>
                          <a:pt x="379" y="7454"/>
                        </a:cubicBezTo>
                        <a:cubicBezTo>
                          <a:pt x="442" y="7675"/>
                          <a:pt x="568" y="7832"/>
                          <a:pt x="789" y="7832"/>
                        </a:cubicBezTo>
                        <a:lnTo>
                          <a:pt x="852" y="7832"/>
                        </a:lnTo>
                        <a:cubicBezTo>
                          <a:pt x="1104" y="7801"/>
                          <a:pt x="1198" y="7549"/>
                          <a:pt x="1167" y="7360"/>
                        </a:cubicBezTo>
                        <a:cubicBezTo>
                          <a:pt x="852" y="5596"/>
                          <a:pt x="1419" y="3737"/>
                          <a:pt x="2710" y="2477"/>
                        </a:cubicBezTo>
                        <a:cubicBezTo>
                          <a:pt x="3719" y="1437"/>
                          <a:pt x="5136" y="870"/>
                          <a:pt x="6617" y="870"/>
                        </a:cubicBezTo>
                        <a:cubicBezTo>
                          <a:pt x="7940" y="870"/>
                          <a:pt x="9200" y="1342"/>
                          <a:pt x="10177" y="2193"/>
                        </a:cubicBezTo>
                        <a:lnTo>
                          <a:pt x="9610" y="2792"/>
                        </a:lnTo>
                        <a:cubicBezTo>
                          <a:pt x="9484" y="2918"/>
                          <a:pt x="9452" y="3075"/>
                          <a:pt x="9484" y="3170"/>
                        </a:cubicBezTo>
                        <a:cubicBezTo>
                          <a:pt x="9515" y="3327"/>
                          <a:pt x="9641" y="3422"/>
                          <a:pt x="9799" y="3453"/>
                        </a:cubicBezTo>
                        <a:lnTo>
                          <a:pt x="12036" y="3926"/>
                        </a:lnTo>
                        <a:lnTo>
                          <a:pt x="12130" y="3926"/>
                        </a:lnTo>
                        <a:cubicBezTo>
                          <a:pt x="12225" y="3926"/>
                          <a:pt x="12319" y="3894"/>
                          <a:pt x="12382" y="3800"/>
                        </a:cubicBezTo>
                        <a:cubicBezTo>
                          <a:pt x="12508" y="3674"/>
                          <a:pt x="12540" y="3579"/>
                          <a:pt x="12508" y="3422"/>
                        </a:cubicBezTo>
                        <a:lnTo>
                          <a:pt x="12036" y="1153"/>
                        </a:lnTo>
                        <a:cubicBezTo>
                          <a:pt x="12004" y="1027"/>
                          <a:pt x="11878" y="901"/>
                          <a:pt x="11752" y="838"/>
                        </a:cubicBezTo>
                        <a:cubicBezTo>
                          <a:pt x="11715" y="831"/>
                          <a:pt x="11678" y="827"/>
                          <a:pt x="11642" y="827"/>
                        </a:cubicBezTo>
                        <a:cubicBezTo>
                          <a:pt x="11526" y="827"/>
                          <a:pt x="11422" y="868"/>
                          <a:pt x="11374" y="964"/>
                        </a:cubicBezTo>
                        <a:lnTo>
                          <a:pt x="10776" y="1563"/>
                        </a:lnTo>
                        <a:cubicBezTo>
                          <a:pt x="9583" y="521"/>
                          <a:pt x="8087" y="0"/>
                          <a:pt x="6591" y="0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7FD8F5"/>
                      </a:gs>
                      <a:gs pos="100000">
                        <a:srgbClr val="15BECE"/>
                      </a:gs>
                    </a:gsLst>
                    <a:lin ang="5400012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949" name="Google Shape;949;p30"/>
                  <p:cNvSpPr/>
                  <p:nvPr/>
                </p:nvSpPr>
                <p:spPr>
                  <a:xfrm>
                    <a:off x="-62874975" y="3869075"/>
                    <a:ext cx="315050" cy="1962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602" h="7850" extrusionOk="0">
                        <a:moveTo>
                          <a:pt x="11779" y="0"/>
                        </a:moveTo>
                        <a:cubicBezTo>
                          <a:pt x="11759" y="0"/>
                          <a:pt x="11739" y="2"/>
                          <a:pt x="11720" y="5"/>
                        </a:cubicBezTo>
                        <a:cubicBezTo>
                          <a:pt x="11499" y="36"/>
                          <a:pt x="11373" y="288"/>
                          <a:pt x="11405" y="477"/>
                        </a:cubicBezTo>
                        <a:cubicBezTo>
                          <a:pt x="11720" y="2242"/>
                          <a:pt x="11184" y="4101"/>
                          <a:pt x="9861" y="5361"/>
                        </a:cubicBezTo>
                        <a:cubicBezTo>
                          <a:pt x="8853" y="6400"/>
                          <a:pt x="7435" y="6967"/>
                          <a:pt x="5986" y="6967"/>
                        </a:cubicBezTo>
                        <a:cubicBezTo>
                          <a:pt x="4631" y="6967"/>
                          <a:pt x="3371" y="6495"/>
                          <a:pt x="2394" y="5644"/>
                        </a:cubicBezTo>
                        <a:lnTo>
                          <a:pt x="2993" y="5046"/>
                        </a:lnTo>
                        <a:cubicBezTo>
                          <a:pt x="3088" y="4920"/>
                          <a:pt x="3151" y="4762"/>
                          <a:pt x="3088" y="4668"/>
                        </a:cubicBezTo>
                        <a:cubicBezTo>
                          <a:pt x="3056" y="4510"/>
                          <a:pt x="2962" y="4416"/>
                          <a:pt x="2772" y="4384"/>
                        </a:cubicBezTo>
                        <a:lnTo>
                          <a:pt x="536" y="3912"/>
                        </a:lnTo>
                        <a:cubicBezTo>
                          <a:pt x="498" y="3904"/>
                          <a:pt x="465" y="3900"/>
                          <a:pt x="433" y="3900"/>
                        </a:cubicBezTo>
                        <a:cubicBezTo>
                          <a:pt x="332" y="3900"/>
                          <a:pt x="254" y="3941"/>
                          <a:pt x="158" y="4038"/>
                        </a:cubicBezTo>
                        <a:cubicBezTo>
                          <a:pt x="32" y="4132"/>
                          <a:pt x="0" y="4258"/>
                          <a:pt x="32" y="4416"/>
                        </a:cubicBezTo>
                        <a:lnTo>
                          <a:pt x="504" y="6652"/>
                        </a:lnTo>
                        <a:cubicBezTo>
                          <a:pt x="536" y="6810"/>
                          <a:pt x="662" y="6936"/>
                          <a:pt x="788" y="6967"/>
                        </a:cubicBezTo>
                        <a:lnTo>
                          <a:pt x="882" y="6967"/>
                        </a:lnTo>
                        <a:cubicBezTo>
                          <a:pt x="1008" y="6967"/>
                          <a:pt x="1103" y="6936"/>
                          <a:pt x="1166" y="6873"/>
                        </a:cubicBezTo>
                        <a:lnTo>
                          <a:pt x="1764" y="6274"/>
                        </a:lnTo>
                        <a:cubicBezTo>
                          <a:pt x="2930" y="7346"/>
                          <a:pt x="4442" y="7850"/>
                          <a:pt x="5923" y="7850"/>
                        </a:cubicBezTo>
                        <a:cubicBezTo>
                          <a:pt x="7561" y="7850"/>
                          <a:pt x="9168" y="7220"/>
                          <a:pt x="10428" y="5991"/>
                        </a:cubicBezTo>
                        <a:cubicBezTo>
                          <a:pt x="11909" y="4510"/>
                          <a:pt x="12602" y="2368"/>
                          <a:pt x="12192" y="320"/>
                        </a:cubicBezTo>
                        <a:cubicBezTo>
                          <a:pt x="12164" y="122"/>
                          <a:pt x="11958" y="0"/>
                          <a:pt x="11779" y="0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7FD8F5"/>
                      </a:gs>
                      <a:gs pos="100000">
                        <a:srgbClr val="15BECE"/>
                      </a:gs>
                    </a:gsLst>
                    <a:lin ang="5400012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950" name="Google Shape;950;p30"/>
                  <p:cNvSpPr/>
                  <p:nvPr/>
                </p:nvSpPr>
                <p:spPr>
                  <a:xfrm>
                    <a:off x="-62751325" y="3834525"/>
                    <a:ext cx="15775" cy="268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1" h="1072" extrusionOk="0">
                        <a:moveTo>
                          <a:pt x="630" y="1"/>
                        </a:moveTo>
                        <a:cubicBezTo>
                          <a:pt x="410" y="221"/>
                          <a:pt x="158" y="599"/>
                          <a:pt x="0" y="1072"/>
                        </a:cubicBezTo>
                        <a:lnTo>
                          <a:pt x="630" y="1072"/>
                        </a:lnTo>
                        <a:lnTo>
                          <a:pt x="630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7FD8F5"/>
                      </a:gs>
                      <a:gs pos="100000">
                        <a:srgbClr val="15BECE"/>
                      </a:gs>
                    </a:gsLst>
                    <a:lin ang="5400012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951" name="Google Shape;951;p30"/>
                  <p:cNvSpPr/>
                  <p:nvPr/>
                </p:nvSpPr>
                <p:spPr>
                  <a:xfrm>
                    <a:off x="-62715100" y="3950300"/>
                    <a:ext cx="15775" cy="260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1" h="1041" extrusionOk="0">
                        <a:moveTo>
                          <a:pt x="1" y="1"/>
                        </a:moveTo>
                        <a:lnTo>
                          <a:pt x="1" y="1041"/>
                        </a:lnTo>
                        <a:cubicBezTo>
                          <a:pt x="253" y="852"/>
                          <a:pt x="473" y="473"/>
                          <a:pt x="631" y="1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7FD8F5"/>
                      </a:gs>
                      <a:gs pos="100000">
                        <a:srgbClr val="15BECE"/>
                      </a:gs>
                    </a:gsLst>
                    <a:lin ang="5400012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952" name="Google Shape;952;p30"/>
                  <p:cNvSpPr/>
                  <p:nvPr/>
                </p:nvSpPr>
                <p:spPr>
                  <a:xfrm>
                    <a:off x="-62751325" y="3950300"/>
                    <a:ext cx="15775" cy="260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1" h="1041" extrusionOk="0">
                        <a:moveTo>
                          <a:pt x="0" y="1"/>
                        </a:moveTo>
                        <a:cubicBezTo>
                          <a:pt x="158" y="473"/>
                          <a:pt x="410" y="852"/>
                          <a:pt x="630" y="1041"/>
                        </a:cubicBezTo>
                        <a:lnTo>
                          <a:pt x="630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7FD8F5"/>
                      </a:gs>
                      <a:gs pos="100000">
                        <a:srgbClr val="15BECE"/>
                      </a:gs>
                    </a:gsLst>
                    <a:lin ang="5400012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953" name="Google Shape;953;p30"/>
                  <p:cNvSpPr/>
                  <p:nvPr/>
                </p:nvSpPr>
                <p:spPr>
                  <a:xfrm>
                    <a:off x="-62822225" y="3881000"/>
                    <a:ext cx="44125" cy="480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65" h="1923" extrusionOk="0">
                        <a:moveTo>
                          <a:pt x="127" y="0"/>
                        </a:moveTo>
                        <a:cubicBezTo>
                          <a:pt x="32" y="316"/>
                          <a:pt x="1" y="631"/>
                          <a:pt x="1" y="977"/>
                        </a:cubicBezTo>
                        <a:cubicBezTo>
                          <a:pt x="1" y="1324"/>
                          <a:pt x="32" y="1670"/>
                          <a:pt x="127" y="1922"/>
                        </a:cubicBezTo>
                        <a:lnTo>
                          <a:pt x="1765" y="1922"/>
                        </a:lnTo>
                        <a:cubicBezTo>
                          <a:pt x="1734" y="1607"/>
                          <a:pt x="1702" y="1292"/>
                          <a:pt x="1702" y="977"/>
                        </a:cubicBezTo>
                        <a:cubicBezTo>
                          <a:pt x="1702" y="662"/>
                          <a:pt x="1734" y="316"/>
                          <a:pt x="1765" y="0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7FD8F5"/>
                      </a:gs>
                      <a:gs pos="100000">
                        <a:srgbClr val="15BECE"/>
                      </a:gs>
                    </a:gsLst>
                    <a:lin ang="5400012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954" name="Google Shape;954;p30"/>
                  <p:cNvSpPr/>
                  <p:nvPr/>
                </p:nvSpPr>
                <p:spPr>
                  <a:xfrm>
                    <a:off x="-62715100" y="3833750"/>
                    <a:ext cx="15775" cy="268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1" h="1072" extrusionOk="0">
                        <a:moveTo>
                          <a:pt x="1" y="0"/>
                        </a:moveTo>
                        <a:lnTo>
                          <a:pt x="1" y="1071"/>
                        </a:lnTo>
                        <a:lnTo>
                          <a:pt x="631" y="1071"/>
                        </a:lnTo>
                        <a:cubicBezTo>
                          <a:pt x="505" y="599"/>
                          <a:pt x="253" y="189"/>
                          <a:pt x="1" y="0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7FD8F5"/>
                      </a:gs>
                      <a:gs pos="100000">
                        <a:srgbClr val="15BECE"/>
                      </a:gs>
                    </a:gsLst>
                    <a:lin ang="5400012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955" name="Google Shape;955;p30"/>
                  <p:cNvSpPr/>
                  <p:nvPr/>
                </p:nvSpPr>
                <p:spPr>
                  <a:xfrm>
                    <a:off x="-62758425" y="3881000"/>
                    <a:ext cx="22875" cy="480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15" h="1923" extrusionOk="0">
                        <a:moveTo>
                          <a:pt x="95" y="0"/>
                        </a:moveTo>
                        <a:cubicBezTo>
                          <a:pt x="64" y="316"/>
                          <a:pt x="1" y="631"/>
                          <a:pt x="1" y="977"/>
                        </a:cubicBezTo>
                        <a:cubicBezTo>
                          <a:pt x="1" y="1324"/>
                          <a:pt x="64" y="1670"/>
                          <a:pt x="95" y="1922"/>
                        </a:cubicBezTo>
                        <a:lnTo>
                          <a:pt x="914" y="1922"/>
                        </a:lnTo>
                        <a:lnTo>
                          <a:pt x="914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7FD8F5"/>
                      </a:gs>
                      <a:gs pos="100000">
                        <a:srgbClr val="15BECE"/>
                      </a:gs>
                    </a:gsLst>
                    <a:lin ang="5400012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956" name="Google Shape;956;p30"/>
                  <p:cNvSpPr/>
                  <p:nvPr/>
                </p:nvSpPr>
                <p:spPr>
                  <a:xfrm>
                    <a:off x="-62715100" y="3809325"/>
                    <a:ext cx="74850" cy="512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94" h="2049" extrusionOk="0">
                        <a:moveTo>
                          <a:pt x="1" y="1"/>
                        </a:moveTo>
                        <a:lnTo>
                          <a:pt x="1" y="32"/>
                        </a:lnTo>
                        <a:cubicBezTo>
                          <a:pt x="631" y="253"/>
                          <a:pt x="1198" y="1009"/>
                          <a:pt x="1481" y="2048"/>
                        </a:cubicBezTo>
                        <a:lnTo>
                          <a:pt x="2994" y="2048"/>
                        </a:lnTo>
                        <a:cubicBezTo>
                          <a:pt x="2426" y="946"/>
                          <a:pt x="1324" y="158"/>
                          <a:pt x="1" y="1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7FD8F5"/>
                      </a:gs>
                      <a:gs pos="100000">
                        <a:srgbClr val="15BECE"/>
                      </a:gs>
                    </a:gsLst>
                    <a:lin ang="5400012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957" name="Google Shape;957;p30"/>
                  <p:cNvSpPr/>
                  <p:nvPr/>
                </p:nvSpPr>
                <p:spPr>
                  <a:xfrm>
                    <a:off x="-62715875" y="3950300"/>
                    <a:ext cx="75625" cy="512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025" h="2049" extrusionOk="0">
                        <a:moveTo>
                          <a:pt x="1512" y="1"/>
                        </a:moveTo>
                        <a:cubicBezTo>
                          <a:pt x="1229" y="1009"/>
                          <a:pt x="662" y="1765"/>
                          <a:pt x="0" y="1986"/>
                        </a:cubicBezTo>
                        <a:lnTo>
                          <a:pt x="0" y="2049"/>
                        </a:lnTo>
                        <a:lnTo>
                          <a:pt x="32" y="2049"/>
                        </a:lnTo>
                        <a:cubicBezTo>
                          <a:pt x="1355" y="1891"/>
                          <a:pt x="2457" y="1104"/>
                          <a:pt x="3025" y="1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7FD8F5"/>
                      </a:gs>
                      <a:gs pos="100000">
                        <a:srgbClr val="15BECE"/>
                      </a:gs>
                    </a:gsLst>
                    <a:lin ang="5400012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958" name="Google Shape;958;p30"/>
                  <p:cNvSpPr/>
                  <p:nvPr/>
                </p:nvSpPr>
                <p:spPr>
                  <a:xfrm>
                    <a:off x="-62811200" y="3949525"/>
                    <a:ext cx="75650" cy="520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026" h="2080" extrusionOk="0">
                        <a:moveTo>
                          <a:pt x="1" y="0"/>
                        </a:moveTo>
                        <a:cubicBezTo>
                          <a:pt x="600" y="1166"/>
                          <a:pt x="1702" y="1954"/>
                          <a:pt x="3025" y="2080"/>
                        </a:cubicBezTo>
                        <a:lnTo>
                          <a:pt x="3025" y="2017"/>
                        </a:lnTo>
                        <a:cubicBezTo>
                          <a:pt x="2364" y="1796"/>
                          <a:pt x="1860" y="1040"/>
                          <a:pt x="1545" y="0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7FD8F5"/>
                      </a:gs>
                      <a:gs pos="100000">
                        <a:srgbClr val="15BECE"/>
                      </a:gs>
                    </a:gsLst>
                    <a:lin ang="5400012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959" name="Google Shape;959;p30"/>
                  <p:cNvSpPr/>
                  <p:nvPr/>
                </p:nvSpPr>
                <p:spPr>
                  <a:xfrm>
                    <a:off x="-62673350" y="3881000"/>
                    <a:ext cx="44125" cy="480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65" h="1923" extrusionOk="0">
                        <a:moveTo>
                          <a:pt x="0" y="0"/>
                        </a:moveTo>
                        <a:cubicBezTo>
                          <a:pt x="32" y="316"/>
                          <a:pt x="63" y="631"/>
                          <a:pt x="63" y="977"/>
                        </a:cubicBezTo>
                        <a:cubicBezTo>
                          <a:pt x="63" y="1324"/>
                          <a:pt x="32" y="1670"/>
                          <a:pt x="0" y="1922"/>
                        </a:cubicBezTo>
                        <a:lnTo>
                          <a:pt x="1639" y="1922"/>
                        </a:lnTo>
                        <a:cubicBezTo>
                          <a:pt x="1733" y="1670"/>
                          <a:pt x="1765" y="1292"/>
                          <a:pt x="1765" y="977"/>
                        </a:cubicBezTo>
                        <a:cubicBezTo>
                          <a:pt x="1765" y="662"/>
                          <a:pt x="1733" y="316"/>
                          <a:pt x="1639" y="0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7FD8F5"/>
                      </a:gs>
                      <a:gs pos="100000">
                        <a:srgbClr val="15BECE"/>
                      </a:gs>
                    </a:gsLst>
                    <a:lin ang="5400012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960" name="Google Shape;960;p30"/>
                  <p:cNvSpPr/>
                  <p:nvPr/>
                </p:nvSpPr>
                <p:spPr>
                  <a:xfrm>
                    <a:off x="-62810400" y="3810125"/>
                    <a:ext cx="75625" cy="512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025" h="2048" extrusionOk="0">
                        <a:moveTo>
                          <a:pt x="2993" y="0"/>
                        </a:moveTo>
                        <a:cubicBezTo>
                          <a:pt x="1702" y="158"/>
                          <a:pt x="599" y="945"/>
                          <a:pt x="0" y="2048"/>
                        </a:cubicBezTo>
                        <a:lnTo>
                          <a:pt x="1544" y="2048"/>
                        </a:lnTo>
                        <a:cubicBezTo>
                          <a:pt x="1828" y="1008"/>
                          <a:pt x="2363" y="284"/>
                          <a:pt x="3025" y="32"/>
                        </a:cubicBezTo>
                        <a:lnTo>
                          <a:pt x="3025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7FD8F5"/>
                      </a:gs>
                      <a:gs pos="100000">
                        <a:srgbClr val="15BECE"/>
                      </a:gs>
                    </a:gsLst>
                    <a:lin ang="5400012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961" name="Google Shape;961;p30"/>
                  <p:cNvSpPr/>
                  <p:nvPr/>
                </p:nvSpPr>
                <p:spPr>
                  <a:xfrm>
                    <a:off x="-62715100" y="3881000"/>
                    <a:ext cx="22850" cy="480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14" h="1923" extrusionOk="0">
                        <a:moveTo>
                          <a:pt x="1" y="0"/>
                        </a:moveTo>
                        <a:lnTo>
                          <a:pt x="1" y="1922"/>
                        </a:lnTo>
                        <a:lnTo>
                          <a:pt x="851" y="1922"/>
                        </a:lnTo>
                        <a:cubicBezTo>
                          <a:pt x="883" y="1607"/>
                          <a:pt x="914" y="1292"/>
                          <a:pt x="914" y="977"/>
                        </a:cubicBezTo>
                        <a:cubicBezTo>
                          <a:pt x="914" y="662"/>
                          <a:pt x="883" y="316"/>
                          <a:pt x="851" y="0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7FD8F5"/>
                      </a:gs>
                      <a:gs pos="100000">
                        <a:srgbClr val="15BECE"/>
                      </a:gs>
                    </a:gsLst>
                    <a:lin ang="5400012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sp>
              <p:nvSpPr>
                <p:cNvPr id="962" name="Google Shape;962;p30"/>
                <p:cNvSpPr txBox="1"/>
                <p:nvPr/>
              </p:nvSpPr>
              <p:spPr>
                <a:xfrm>
                  <a:off x="4935500" y="1486475"/>
                  <a:ext cx="1242000" cy="5436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 sz="3400">
                      <a:solidFill>
                        <a:schemeClr val="lt1"/>
                      </a:solidFill>
                      <a:latin typeface="Fira Sans Extra Condensed Medium"/>
                      <a:ea typeface="Fira Sans Extra Condensed Medium"/>
                      <a:cs typeface="Fira Sans Extra Condensed Medium"/>
                      <a:sym typeface="Fira Sans Extra Condensed Medium"/>
                    </a:rPr>
                    <a:t>338</a:t>
                  </a:r>
                  <a:endParaRPr sz="3600">
                    <a:solidFill>
                      <a:schemeClr val="lt1"/>
                    </a:solidFill>
                    <a:latin typeface="Fira Sans Extra Condensed Medium"/>
                    <a:ea typeface="Fira Sans Extra Condensed Medium"/>
                    <a:cs typeface="Fira Sans Extra Condensed Medium"/>
                    <a:sym typeface="Fira Sans Extra Condensed Medium"/>
                  </a:endParaRPr>
                </a:p>
              </p:txBody>
            </p:sp>
          </p:grpSp>
          <p:grpSp>
            <p:nvGrpSpPr>
              <p:cNvPr id="963" name="Google Shape;963;p30"/>
              <p:cNvGrpSpPr/>
              <p:nvPr/>
            </p:nvGrpSpPr>
            <p:grpSpPr>
              <a:xfrm>
                <a:off x="4935500" y="2149624"/>
                <a:ext cx="1242005" cy="1099248"/>
                <a:chOff x="4935500" y="2149624"/>
                <a:chExt cx="1242005" cy="1099248"/>
              </a:xfrm>
            </p:grpSpPr>
            <p:sp>
              <p:nvSpPr>
                <p:cNvPr id="964" name="Google Shape;964;p30"/>
                <p:cNvSpPr txBox="1"/>
                <p:nvPr/>
              </p:nvSpPr>
              <p:spPr>
                <a:xfrm>
                  <a:off x="4935505" y="2149624"/>
                  <a:ext cx="1242000" cy="2535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 sz="1700">
                      <a:solidFill>
                        <a:schemeClr val="lt1"/>
                      </a:solidFill>
                      <a:latin typeface="Fira Sans Extra Condensed Medium"/>
                      <a:ea typeface="Fira Sans Extra Condensed Medium"/>
                      <a:cs typeface="Fira Sans Extra Condensed Medium"/>
                      <a:sym typeface="Fira Sans Extra Condensed Medium"/>
                    </a:rPr>
                    <a:t>RA únicos</a:t>
                  </a:r>
                  <a:endParaRPr sz="2200">
                    <a:solidFill>
                      <a:schemeClr val="lt1"/>
                    </a:solidFill>
                    <a:latin typeface="Fira Sans Extra Condensed Medium"/>
                    <a:ea typeface="Fira Sans Extra Condensed Medium"/>
                    <a:cs typeface="Fira Sans Extra Condensed Medium"/>
                    <a:sym typeface="Fira Sans Extra Condensed Medium"/>
                  </a:endParaRPr>
                </a:p>
              </p:txBody>
            </p:sp>
            <p:sp>
              <p:nvSpPr>
                <p:cNvPr id="965" name="Google Shape;965;p30"/>
                <p:cNvSpPr txBox="1"/>
                <p:nvPr/>
              </p:nvSpPr>
              <p:spPr>
                <a:xfrm>
                  <a:off x="4935500" y="2461072"/>
                  <a:ext cx="1242000" cy="7878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 sz="1100">
                      <a:solidFill>
                        <a:schemeClr val="lt1"/>
                      </a:solidFill>
                      <a:latin typeface="Roboto"/>
                      <a:ea typeface="Roboto"/>
                      <a:cs typeface="Roboto"/>
                      <a:sym typeface="Roboto"/>
                    </a:rPr>
                    <a:t>de 222 competencias y 391 estrategias</a:t>
                  </a:r>
                  <a:endParaRPr sz="1200">
                    <a:solidFill>
                      <a:schemeClr val="lt1"/>
                    </a:solidFill>
                    <a:latin typeface="Roboto"/>
                    <a:ea typeface="Roboto"/>
                    <a:cs typeface="Roboto"/>
                    <a:sym typeface="Roboto"/>
                  </a:endParaRPr>
                </a:p>
              </p:txBody>
            </p:sp>
          </p:grpSp>
        </p:grpSp>
        <p:grpSp>
          <p:nvGrpSpPr>
            <p:cNvPr id="966" name="Google Shape;966;p30"/>
            <p:cNvGrpSpPr/>
            <p:nvPr/>
          </p:nvGrpSpPr>
          <p:grpSpPr>
            <a:xfrm>
              <a:off x="6799538" y="1184680"/>
              <a:ext cx="1451959" cy="3579570"/>
              <a:chOff x="6799538" y="1184680"/>
              <a:chExt cx="1451959" cy="3579570"/>
            </a:xfrm>
          </p:grpSpPr>
          <p:grpSp>
            <p:nvGrpSpPr>
              <p:cNvPr id="967" name="Google Shape;967;p30"/>
              <p:cNvGrpSpPr/>
              <p:nvPr/>
            </p:nvGrpSpPr>
            <p:grpSpPr>
              <a:xfrm>
                <a:off x="6799538" y="1184680"/>
                <a:ext cx="1451959" cy="3579570"/>
                <a:chOff x="6799538" y="1184680"/>
                <a:chExt cx="1451959" cy="3579570"/>
              </a:xfrm>
            </p:grpSpPr>
            <p:cxnSp>
              <p:nvCxnSpPr>
                <p:cNvPr id="968" name="Google Shape;968;p30"/>
                <p:cNvCxnSpPr/>
                <p:nvPr/>
              </p:nvCxnSpPr>
              <p:spPr>
                <a:xfrm rot="10800000">
                  <a:off x="7524775" y="4292300"/>
                  <a:ext cx="0" cy="384600"/>
                </a:xfrm>
                <a:prstGeom prst="straightConnector1">
                  <a:avLst/>
                </a:prstGeom>
                <a:noFill/>
                <a:ln w="38100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969" name="Google Shape;969;p30"/>
                <p:cNvSpPr/>
                <p:nvPr/>
              </p:nvSpPr>
              <p:spPr>
                <a:xfrm>
                  <a:off x="6799538" y="1184680"/>
                  <a:ext cx="1451959" cy="317898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90" h="26252" extrusionOk="0">
                      <a:moveTo>
                        <a:pt x="5994" y="1"/>
                      </a:moveTo>
                      <a:cubicBezTo>
                        <a:pt x="5394" y="1"/>
                        <a:pt x="4793" y="230"/>
                        <a:pt x="4334" y="688"/>
                      </a:cubicBezTo>
                      <a:lnTo>
                        <a:pt x="453" y="4570"/>
                      </a:lnTo>
                      <a:cubicBezTo>
                        <a:pt x="262" y="4760"/>
                        <a:pt x="108" y="4975"/>
                        <a:pt x="0" y="5213"/>
                      </a:cubicBezTo>
                      <a:lnTo>
                        <a:pt x="0" y="21215"/>
                      </a:lnTo>
                      <a:cubicBezTo>
                        <a:pt x="274" y="24275"/>
                        <a:pt x="2858" y="26251"/>
                        <a:pt x="5989" y="26251"/>
                      </a:cubicBezTo>
                      <a:cubicBezTo>
                        <a:pt x="9121" y="26251"/>
                        <a:pt x="11704" y="24275"/>
                        <a:pt x="11990" y="21215"/>
                      </a:cubicBezTo>
                      <a:lnTo>
                        <a:pt x="11990" y="5213"/>
                      </a:lnTo>
                      <a:cubicBezTo>
                        <a:pt x="11871" y="4975"/>
                        <a:pt x="11716" y="4760"/>
                        <a:pt x="11538" y="4570"/>
                      </a:cubicBezTo>
                      <a:lnTo>
                        <a:pt x="7644" y="688"/>
                      </a:lnTo>
                      <a:cubicBezTo>
                        <a:pt x="7192" y="230"/>
                        <a:pt x="6593" y="1"/>
                        <a:pt x="5994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D5E66A"/>
                    </a:gs>
                    <a:gs pos="100000">
                      <a:srgbClr val="B1C900"/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70" name="Google Shape;970;p30"/>
                <p:cNvSpPr/>
                <p:nvPr/>
              </p:nvSpPr>
              <p:spPr>
                <a:xfrm>
                  <a:off x="7253651" y="3550292"/>
                  <a:ext cx="542275" cy="5437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78" h="4490" extrusionOk="0">
                      <a:moveTo>
                        <a:pt x="2239" y="1"/>
                      </a:moveTo>
                      <a:cubicBezTo>
                        <a:pt x="1001" y="1"/>
                        <a:pt x="1" y="1013"/>
                        <a:pt x="1" y="2251"/>
                      </a:cubicBezTo>
                      <a:cubicBezTo>
                        <a:pt x="1" y="3478"/>
                        <a:pt x="1001" y="4490"/>
                        <a:pt x="2239" y="4490"/>
                      </a:cubicBezTo>
                      <a:cubicBezTo>
                        <a:pt x="3477" y="4490"/>
                        <a:pt x="4478" y="3478"/>
                        <a:pt x="4478" y="2251"/>
                      </a:cubicBezTo>
                      <a:cubicBezTo>
                        <a:pt x="4478" y="1013"/>
                        <a:pt x="3477" y="1"/>
                        <a:pt x="2239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71" name="Google Shape;971;p30"/>
                <p:cNvSpPr/>
                <p:nvPr/>
              </p:nvSpPr>
              <p:spPr>
                <a:xfrm>
                  <a:off x="7432563" y="4579150"/>
                  <a:ext cx="185100" cy="185100"/>
                </a:xfrm>
                <a:prstGeom prst="ellipse">
                  <a:avLst/>
                </a:prstGeom>
                <a:gradFill>
                  <a:gsLst>
                    <a:gs pos="0">
                      <a:srgbClr val="D5E66A"/>
                    </a:gs>
                    <a:gs pos="100000">
                      <a:srgbClr val="B1C900"/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972" name="Google Shape;972;p30"/>
                <p:cNvGrpSpPr/>
                <p:nvPr/>
              </p:nvGrpSpPr>
              <p:grpSpPr>
                <a:xfrm>
                  <a:off x="7340987" y="3638520"/>
                  <a:ext cx="367261" cy="367261"/>
                  <a:chOff x="-63250675" y="4110200"/>
                  <a:chExt cx="317425" cy="317425"/>
                </a:xfrm>
              </p:grpSpPr>
              <p:sp>
                <p:nvSpPr>
                  <p:cNvPr id="973" name="Google Shape;973;p30"/>
                  <p:cNvSpPr/>
                  <p:nvPr/>
                </p:nvSpPr>
                <p:spPr>
                  <a:xfrm>
                    <a:off x="-63007300" y="4153725"/>
                    <a:ext cx="30725" cy="297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29" h="1190" extrusionOk="0">
                        <a:moveTo>
                          <a:pt x="772" y="0"/>
                        </a:moveTo>
                        <a:cubicBezTo>
                          <a:pt x="662" y="0"/>
                          <a:pt x="552" y="39"/>
                          <a:pt x="473" y="118"/>
                        </a:cubicBezTo>
                        <a:lnTo>
                          <a:pt x="0" y="591"/>
                        </a:lnTo>
                        <a:cubicBezTo>
                          <a:pt x="252" y="780"/>
                          <a:pt x="441" y="1000"/>
                          <a:pt x="599" y="1189"/>
                        </a:cubicBezTo>
                        <a:lnTo>
                          <a:pt x="1071" y="717"/>
                        </a:lnTo>
                        <a:cubicBezTo>
                          <a:pt x="1229" y="559"/>
                          <a:pt x="1229" y="276"/>
                          <a:pt x="1071" y="118"/>
                        </a:cubicBezTo>
                        <a:cubicBezTo>
                          <a:pt x="993" y="39"/>
                          <a:pt x="882" y="0"/>
                          <a:pt x="772" y="0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D5E66A"/>
                      </a:gs>
                      <a:gs pos="100000">
                        <a:srgbClr val="B1C900"/>
                      </a:gs>
                    </a:gsLst>
                    <a:lin ang="5400012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974" name="Google Shape;974;p30"/>
                  <p:cNvSpPr/>
                  <p:nvPr/>
                </p:nvSpPr>
                <p:spPr>
                  <a:xfrm>
                    <a:off x="-63203425" y="4159025"/>
                    <a:ext cx="222925" cy="2221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917" h="8886" extrusionOk="0">
                        <a:moveTo>
                          <a:pt x="4033" y="1418"/>
                        </a:moveTo>
                        <a:lnTo>
                          <a:pt x="4033" y="3088"/>
                        </a:lnTo>
                        <a:cubicBezTo>
                          <a:pt x="3939" y="3151"/>
                          <a:pt x="3876" y="3151"/>
                          <a:pt x="3781" y="3183"/>
                        </a:cubicBezTo>
                        <a:lnTo>
                          <a:pt x="2615" y="1985"/>
                        </a:lnTo>
                        <a:cubicBezTo>
                          <a:pt x="2993" y="1670"/>
                          <a:pt x="3529" y="1481"/>
                          <a:pt x="4033" y="1418"/>
                        </a:cubicBezTo>
                        <a:close/>
                        <a:moveTo>
                          <a:pt x="4852" y="1418"/>
                        </a:moveTo>
                        <a:cubicBezTo>
                          <a:pt x="5356" y="1481"/>
                          <a:pt x="5892" y="1670"/>
                          <a:pt x="6270" y="1985"/>
                        </a:cubicBezTo>
                        <a:lnTo>
                          <a:pt x="5104" y="3183"/>
                        </a:lnTo>
                        <a:cubicBezTo>
                          <a:pt x="5010" y="3151"/>
                          <a:pt x="4947" y="3088"/>
                          <a:pt x="4852" y="3088"/>
                        </a:cubicBezTo>
                        <a:lnTo>
                          <a:pt x="4852" y="1418"/>
                        </a:lnTo>
                        <a:close/>
                        <a:moveTo>
                          <a:pt x="2017" y="2553"/>
                        </a:moveTo>
                        <a:lnTo>
                          <a:pt x="3214" y="3718"/>
                        </a:lnTo>
                        <a:cubicBezTo>
                          <a:pt x="3151" y="3813"/>
                          <a:pt x="3119" y="3876"/>
                          <a:pt x="3119" y="3970"/>
                        </a:cubicBezTo>
                        <a:lnTo>
                          <a:pt x="1418" y="3970"/>
                        </a:lnTo>
                        <a:cubicBezTo>
                          <a:pt x="1513" y="3466"/>
                          <a:pt x="1733" y="2994"/>
                          <a:pt x="2017" y="2553"/>
                        </a:cubicBezTo>
                        <a:close/>
                        <a:moveTo>
                          <a:pt x="6869" y="2553"/>
                        </a:moveTo>
                        <a:cubicBezTo>
                          <a:pt x="7184" y="2994"/>
                          <a:pt x="7373" y="3466"/>
                          <a:pt x="7467" y="3970"/>
                        </a:cubicBezTo>
                        <a:lnTo>
                          <a:pt x="5766" y="3970"/>
                        </a:lnTo>
                        <a:cubicBezTo>
                          <a:pt x="5734" y="3876"/>
                          <a:pt x="5734" y="3813"/>
                          <a:pt x="5671" y="3718"/>
                        </a:cubicBezTo>
                        <a:lnTo>
                          <a:pt x="6869" y="2553"/>
                        </a:lnTo>
                        <a:close/>
                        <a:moveTo>
                          <a:pt x="3119" y="4789"/>
                        </a:moveTo>
                        <a:cubicBezTo>
                          <a:pt x="3182" y="4884"/>
                          <a:pt x="3182" y="4947"/>
                          <a:pt x="3214" y="5041"/>
                        </a:cubicBezTo>
                        <a:lnTo>
                          <a:pt x="2017" y="6207"/>
                        </a:lnTo>
                        <a:cubicBezTo>
                          <a:pt x="1733" y="5829"/>
                          <a:pt x="1513" y="5357"/>
                          <a:pt x="1418" y="4789"/>
                        </a:cubicBezTo>
                        <a:close/>
                        <a:moveTo>
                          <a:pt x="7467" y="4789"/>
                        </a:moveTo>
                        <a:cubicBezTo>
                          <a:pt x="7373" y="5357"/>
                          <a:pt x="7184" y="5829"/>
                          <a:pt x="6869" y="6207"/>
                        </a:cubicBezTo>
                        <a:lnTo>
                          <a:pt x="5671" y="5041"/>
                        </a:lnTo>
                        <a:cubicBezTo>
                          <a:pt x="5734" y="4947"/>
                          <a:pt x="5766" y="4884"/>
                          <a:pt x="5766" y="4789"/>
                        </a:cubicBezTo>
                        <a:close/>
                        <a:moveTo>
                          <a:pt x="3781" y="5609"/>
                        </a:moveTo>
                        <a:cubicBezTo>
                          <a:pt x="3876" y="5672"/>
                          <a:pt x="3939" y="5703"/>
                          <a:pt x="4033" y="5703"/>
                        </a:cubicBezTo>
                        <a:lnTo>
                          <a:pt x="4033" y="7404"/>
                        </a:lnTo>
                        <a:cubicBezTo>
                          <a:pt x="3529" y="7310"/>
                          <a:pt x="2993" y="7121"/>
                          <a:pt x="2615" y="6806"/>
                        </a:cubicBezTo>
                        <a:lnTo>
                          <a:pt x="3781" y="5609"/>
                        </a:lnTo>
                        <a:close/>
                        <a:moveTo>
                          <a:pt x="5104" y="5609"/>
                        </a:moveTo>
                        <a:lnTo>
                          <a:pt x="6270" y="6806"/>
                        </a:lnTo>
                        <a:cubicBezTo>
                          <a:pt x="5892" y="7121"/>
                          <a:pt x="5419" y="7310"/>
                          <a:pt x="4852" y="7404"/>
                        </a:cubicBezTo>
                        <a:lnTo>
                          <a:pt x="4852" y="5703"/>
                        </a:lnTo>
                        <a:cubicBezTo>
                          <a:pt x="4947" y="5672"/>
                          <a:pt x="5010" y="5672"/>
                          <a:pt x="5104" y="5609"/>
                        </a:cubicBezTo>
                        <a:close/>
                        <a:moveTo>
                          <a:pt x="4474" y="1"/>
                        </a:moveTo>
                        <a:cubicBezTo>
                          <a:pt x="2017" y="1"/>
                          <a:pt x="0" y="1985"/>
                          <a:pt x="0" y="4443"/>
                        </a:cubicBezTo>
                        <a:cubicBezTo>
                          <a:pt x="0" y="6869"/>
                          <a:pt x="2017" y="8885"/>
                          <a:pt x="4474" y="8885"/>
                        </a:cubicBezTo>
                        <a:cubicBezTo>
                          <a:pt x="6900" y="8885"/>
                          <a:pt x="8916" y="6869"/>
                          <a:pt x="8916" y="4443"/>
                        </a:cubicBezTo>
                        <a:cubicBezTo>
                          <a:pt x="8916" y="1954"/>
                          <a:pt x="6900" y="1"/>
                          <a:pt x="4474" y="1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D5E66A"/>
                      </a:gs>
                      <a:gs pos="100000">
                        <a:srgbClr val="B1C900"/>
                      </a:gs>
                    </a:gsLst>
                    <a:lin ang="5400012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975" name="Google Shape;975;p30"/>
                  <p:cNvSpPr/>
                  <p:nvPr/>
                </p:nvSpPr>
                <p:spPr>
                  <a:xfrm>
                    <a:off x="-63102600" y="4401625"/>
                    <a:ext cx="20500" cy="260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20" h="1040" extrusionOk="0">
                        <a:moveTo>
                          <a:pt x="0" y="0"/>
                        </a:moveTo>
                        <a:lnTo>
                          <a:pt x="0" y="630"/>
                        </a:lnTo>
                        <a:cubicBezTo>
                          <a:pt x="0" y="882"/>
                          <a:pt x="189" y="1040"/>
                          <a:pt x="441" y="1040"/>
                        </a:cubicBezTo>
                        <a:cubicBezTo>
                          <a:pt x="662" y="1040"/>
                          <a:pt x="819" y="851"/>
                          <a:pt x="819" y="630"/>
                        </a:cubicBezTo>
                        <a:lnTo>
                          <a:pt x="819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D5E66A"/>
                      </a:gs>
                      <a:gs pos="100000">
                        <a:srgbClr val="B1C900"/>
                      </a:gs>
                    </a:gsLst>
                    <a:lin ang="5400012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976" name="Google Shape;976;p30"/>
                  <p:cNvSpPr/>
                  <p:nvPr/>
                </p:nvSpPr>
                <p:spPr>
                  <a:xfrm>
                    <a:off x="-63006525" y="4354350"/>
                    <a:ext cx="29950" cy="299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98" h="1199" extrusionOk="0">
                        <a:moveTo>
                          <a:pt x="599" y="1"/>
                        </a:moveTo>
                        <a:cubicBezTo>
                          <a:pt x="410" y="221"/>
                          <a:pt x="253" y="410"/>
                          <a:pt x="1" y="599"/>
                        </a:cubicBezTo>
                        <a:lnTo>
                          <a:pt x="473" y="1072"/>
                        </a:lnTo>
                        <a:cubicBezTo>
                          <a:pt x="568" y="1167"/>
                          <a:pt x="694" y="1198"/>
                          <a:pt x="757" y="1198"/>
                        </a:cubicBezTo>
                        <a:cubicBezTo>
                          <a:pt x="851" y="1198"/>
                          <a:pt x="946" y="1167"/>
                          <a:pt x="1040" y="1072"/>
                        </a:cubicBezTo>
                        <a:cubicBezTo>
                          <a:pt x="1198" y="915"/>
                          <a:pt x="1198" y="631"/>
                          <a:pt x="1040" y="473"/>
                        </a:cubicBezTo>
                        <a:lnTo>
                          <a:pt x="599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D5E66A"/>
                      </a:gs>
                      <a:gs pos="100000">
                        <a:srgbClr val="B1C900"/>
                      </a:gs>
                    </a:gsLst>
                    <a:lin ang="5400012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977" name="Google Shape;977;p30"/>
                  <p:cNvSpPr/>
                  <p:nvPr/>
                </p:nvSpPr>
                <p:spPr>
                  <a:xfrm>
                    <a:off x="-62960825" y="4258275"/>
                    <a:ext cx="27575" cy="205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03" h="820" extrusionOk="0">
                        <a:moveTo>
                          <a:pt x="0" y="0"/>
                        </a:moveTo>
                        <a:lnTo>
                          <a:pt x="0" y="441"/>
                        </a:lnTo>
                        <a:lnTo>
                          <a:pt x="0" y="819"/>
                        </a:lnTo>
                        <a:lnTo>
                          <a:pt x="662" y="819"/>
                        </a:lnTo>
                        <a:cubicBezTo>
                          <a:pt x="914" y="819"/>
                          <a:pt x="1071" y="630"/>
                          <a:pt x="1071" y="378"/>
                        </a:cubicBezTo>
                        <a:cubicBezTo>
                          <a:pt x="1103" y="189"/>
                          <a:pt x="914" y="0"/>
                          <a:pt x="662" y="0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D5E66A"/>
                      </a:gs>
                      <a:gs pos="100000">
                        <a:srgbClr val="B1C900"/>
                      </a:gs>
                    </a:gsLst>
                    <a:lin ang="5400012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978" name="Google Shape;978;p30"/>
                  <p:cNvSpPr/>
                  <p:nvPr/>
                </p:nvSpPr>
                <p:spPr>
                  <a:xfrm>
                    <a:off x="-63250675" y="4259050"/>
                    <a:ext cx="26800" cy="205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72" h="820" extrusionOk="0">
                        <a:moveTo>
                          <a:pt x="410" y="1"/>
                        </a:moveTo>
                        <a:cubicBezTo>
                          <a:pt x="158" y="1"/>
                          <a:pt x="0" y="190"/>
                          <a:pt x="0" y="410"/>
                        </a:cubicBezTo>
                        <a:cubicBezTo>
                          <a:pt x="0" y="631"/>
                          <a:pt x="221" y="820"/>
                          <a:pt x="410" y="820"/>
                        </a:cubicBezTo>
                        <a:lnTo>
                          <a:pt x="1071" y="820"/>
                        </a:lnTo>
                        <a:lnTo>
                          <a:pt x="1071" y="442"/>
                        </a:lnTo>
                        <a:lnTo>
                          <a:pt x="107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D5E66A"/>
                      </a:gs>
                      <a:gs pos="100000">
                        <a:srgbClr val="B1C900"/>
                      </a:gs>
                    </a:gsLst>
                    <a:lin ang="5400012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979" name="Google Shape;979;p30"/>
                  <p:cNvSpPr/>
                  <p:nvPr/>
                </p:nvSpPr>
                <p:spPr>
                  <a:xfrm>
                    <a:off x="-63208950" y="4354350"/>
                    <a:ext cx="29175" cy="299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67" h="1199" extrusionOk="0">
                        <a:moveTo>
                          <a:pt x="631" y="1"/>
                        </a:moveTo>
                        <a:lnTo>
                          <a:pt x="158" y="473"/>
                        </a:lnTo>
                        <a:cubicBezTo>
                          <a:pt x="1" y="631"/>
                          <a:pt x="1" y="915"/>
                          <a:pt x="158" y="1072"/>
                        </a:cubicBezTo>
                        <a:cubicBezTo>
                          <a:pt x="221" y="1167"/>
                          <a:pt x="348" y="1198"/>
                          <a:pt x="442" y="1198"/>
                        </a:cubicBezTo>
                        <a:cubicBezTo>
                          <a:pt x="505" y="1198"/>
                          <a:pt x="631" y="1167"/>
                          <a:pt x="694" y="1072"/>
                        </a:cubicBezTo>
                        <a:lnTo>
                          <a:pt x="1167" y="599"/>
                        </a:lnTo>
                        <a:cubicBezTo>
                          <a:pt x="1009" y="442"/>
                          <a:pt x="820" y="253"/>
                          <a:pt x="631" y="1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D5E66A"/>
                      </a:gs>
                      <a:gs pos="100000">
                        <a:srgbClr val="B1C900"/>
                      </a:gs>
                    </a:gsLst>
                    <a:lin ang="5400012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980" name="Google Shape;980;p30"/>
                  <p:cNvSpPr/>
                  <p:nvPr/>
                </p:nvSpPr>
                <p:spPr>
                  <a:xfrm>
                    <a:off x="-63208150" y="4153725"/>
                    <a:ext cx="30725" cy="297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29" h="1190" extrusionOk="0">
                        <a:moveTo>
                          <a:pt x="457" y="0"/>
                        </a:moveTo>
                        <a:cubicBezTo>
                          <a:pt x="347" y="0"/>
                          <a:pt x="237" y="39"/>
                          <a:pt x="158" y="118"/>
                        </a:cubicBezTo>
                        <a:cubicBezTo>
                          <a:pt x="0" y="276"/>
                          <a:pt x="0" y="559"/>
                          <a:pt x="158" y="717"/>
                        </a:cubicBezTo>
                        <a:lnTo>
                          <a:pt x="631" y="1189"/>
                        </a:lnTo>
                        <a:lnTo>
                          <a:pt x="1229" y="591"/>
                        </a:lnTo>
                        <a:lnTo>
                          <a:pt x="757" y="118"/>
                        </a:lnTo>
                        <a:cubicBezTo>
                          <a:pt x="678" y="39"/>
                          <a:pt x="568" y="0"/>
                          <a:pt x="457" y="0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D5E66A"/>
                      </a:gs>
                      <a:gs pos="100000">
                        <a:srgbClr val="B1C900"/>
                      </a:gs>
                    </a:gsLst>
                    <a:lin ang="5400012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981" name="Google Shape;981;p30"/>
                  <p:cNvSpPr/>
                  <p:nvPr/>
                </p:nvSpPr>
                <p:spPr>
                  <a:xfrm>
                    <a:off x="-63102600" y="4110200"/>
                    <a:ext cx="20500" cy="276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20" h="1104" extrusionOk="0">
                        <a:moveTo>
                          <a:pt x="441" y="0"/>
                        </a:moveTo>
                        <a:cubicBezTo>
                          <a:pt x="221" y="0"/>
                          <a:pt x="0" y="221"/>
                          <a:pt x="0" y="410"/>
                        </a:cubicBezTo>
                        <a:lnTo>
                          <a:pt x="0" y="1103"/>
                        </a:lnTo>
                        <a:lnTo>
                          <a:pt x="819" y="1103"/>
                        </a:lnTo>
                        <a:lnTo>
                          <a:pt x="819" y="410"/>
                        </a:lnTo>
                        <a:cubicBezTo>
                          <a:pt x="819" y="158"/>
                          <a:pt x="630" y="0"/>
                          <a:pt x="441" y="0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D5E66A"/>
                      </a:gs>
                      <a:gs pos="100000">
                        <a:srgbClr val="B1C900"/>
                      </a:gs>
                    </a:gsLst>
                    <a:lin ang="5400012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sp>
              <p:nvSpPr>
                <p:cNvPr id="982" name="Google Shape;982;p30"/>
                <p:cNvSpPr txBox="1"/>
                <p:nvPr/>
              </p:nvSpPr>
              <p:spPr>
                <a:xfrm>
                  <a:off x="6904500" y="1486475"/>
                  <a:ext cx="1242000" cy="5436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 sz="3400">
                      <a:solidFill>
                        <a:schemeClr val="lt1"/>
                      </a:solidFill>
                      <a:latin typeface="Fira Sans Extra Condensed Medium"/>
                      <a:ea typeface="Fira Sans Extra Condensed Medium"/>
                      <a:cs typeface="Fira Sans Extra Condensed Medium"/>
                      <a:sym typeface="Fira Sans Extra Condensed Medium"/>
                    </a:rPr>
                    <a:t>1.757</a:t>
                  </a:r>
                  <a:endParaRPr sz="3600">
                    <a:solidFill>
                      <a:schemeClr val="lt1"/>
                    </a:solidFill>
                    <a:latin typeface="Fira Sans Extra Condensed Medium"/>
                    <a:ea typeface="Fira Sans Extra Condensed Medium"/>
                    <a:cs typeface="Fira Sans Extra Condensed Medium"/>
                    <a:sym typeface="Fira Sans Extra Condensed Medium"/>
                  </a:endParaRPr>
                </a:p>
              </p:txBody>
            </p:sp>
          </p:grpSp>
          <p:grpSp>
            <p:nvGrpSpPr>
              <p:cNvPr id="983" name="Google Shape;983;p30"/>
              <p:cNvGrpSpPr/>
              <p:nvPr/>
            </p:nvGrpSpPr>
            <p:grpSpPr>
              <a:xfrm>
                <a:off x="6904500" y="2149624"/>
                <a:ext cx="1242005" cy="1099248"/>
                <a:chOff x="6904500" y="2149624"/>
                <a:chExt cx="1242005" cy="1099248"/>
              </a:xfrm>
            </p:grpSpPr>
            <p:sp>
              <p:nvSpPr>
                <p:cNvPr id="984" name="Google Shape;984;p30"/>
                <p:cNvSpPr txBox="1"/>
                <p:nvPr/>
              </p:nvSpPr>
              <p:spPr>
                <a:xfrm>
                  <a:off x="6904505" y="2149624"/>
                  <a:ext cx="1242000" cy="2535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 sz="1700">
                      <a:solidFill>
                        <a:schemeClr val="lt1"/>
                      </a:solidFill>
                      <a:latin typeface="Fira Sans Extra Condensed Medium"/>
                      <a:ea typeface="Fira Sans Extra Condensed Medium"/>
                      <a:cs typeface="Fira Sans Extra Condensed Medium"/>
                      <a:sym typeface="Fira Sans Extra Condensed Medium"/>
                    </a:rPr>
                    <a:t>Asignaturas</a:t>
                  </a:r>
                  <a:endParaRPr sz="2200">
                    <a:solidFill>
                      <a:schemeClr val="lt1"/>
                    </a:solidFill>
                    <a:latin typeface="Fira Sans Extra Condensed Medium"/>
                    <a:ea typeface="Fira Sans Extra Condensed Medium"/>
                    <a:cs typeface="Fira Sans Extra Condensed Medium"/>
                    <a:sym typeface="Fira Sans Extra Condensed Medium"/>
                  </a:endParaRPr>
                </a:p>
              </p:txBody>
            </p:sp>
            <p:sp>
              <p:nvSpPr>
                <p:cNvPr id="985" name="Google Shape;985;p30"/>
                <p:cNvSpPr txBox="1"/>
                <p:nvPr/>
              </p:nvSpPr>
              <p:spPr>
                <a:xfrm>
                  <a:off x="6904500" y="2461072"/>
                  <a:ext cx="1242000" cy="7878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 sz="1100">
                      <a:solidFill>
                        <a:schemeClr val="lt1"/>
                      </a:solidFill>
                      <a:latin typeface="Roboto"/>
                      <a:ea typeface="Roboto"/>
                      <a:cs typeface="Roboto"/>
                      <a:sym typeface="Roboto"/>
                    </a:rPr>
                    <a:t>1.616 sin electivas</a:t>
                  </a:r>
                  <a:endParaRPr sz="1200">
                    <a:solidFill>
                      <a:schemeClr val="lt1"/>
                    </a:solidFill>
                    <a:latin typeface="Roboto"/>
                    <a:ea typeface="Roboto"/>
                    <a:cs typeface="Roboto"/>
                    <a:sym typeface="Roboto"/>
                  </a:endParaRPr>
                </a:p>
              </p:txBody>
            </p:sp>
          </p:grpSp>
        </p:grpSp>
      </p:grpSp>
      <p:sp>
        <p:nvSpPr>
          <p:cNvPr id="986" name="Titulo"/>
          <p:cNvSpPr txBox="1"/>
          <p:nvPr/>
        </p:nvSpPr>
        <p:spPr>
          <a:xfrm>
            <a:off x="457200" y="256032"/>
            <a:ext cx="70408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2100" b="1">
                <a:solidFill>
                  <a:srgbClr val="002060"/>
                </a:solidFill>
                <a:latin typeface="Area Normal Trial Black"/>
              </a:rPr>
              <a:t>Cincuenta matrices, una misma lectura: del perfil al indicador</a:t>
            </a:r>
          </a:p>
        </p:txBody>
      </p:sp>
      <p:sp>
        <p:nvSpPr>
          <p:cNvPr id="987" name="Ruta"/>
          <p:cNvSpPr txBox="1"/>
          <p:nvPr/>
        </p:nvSpPr>
        <p:spPr>
          <a:xfrm>
            <a:off x="457200" y="4663440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00B0F0"/>
                </a:solidFill>
                <a:latin typeface="Area Normal Trial Black"/>
              </a:rPr>
              <a:t>RUTA QUE SE AUDITA  </a:t>
            </a:r>
            <a:r>
              <a:rPr sz="1000" b="0">
                <a:solidFill>
                  <a:srgbClr val="263A58"/>
                </a:solidFill>
                <a:latin typeface="Area Normal Trial Light"/>
              </a:rPr>
              <a:t>Perfil → competencias → resultados de aprendizaje → estrategias → indicadores. La IA asiste el análisis; la decisión es del comité.</a:t>
            </a:r>
          </a:p>
        </p:txBody>
      </p:sp>
      <p:pic>
        <p:nvPicPr>
          <p:cNvPr id="989" name="Logo POLI" descr="logo_sell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8120" y="256032"/>
            <a:ext cx="914400" cy="203200"/>
          </a:xfrm>
          <a:prstGeom prst="rect">
            <a:avLst/>
          </a:prstGeom>
        </p:spPr>
      </p:pic>
      <p:sp>
        <p:nvSpPr>
          <p:cNvPr id="990" name="Numero"/>
          <p:cNvSpPr txBox="1"/>
          <p:nvPr/>
        </p:nvSpPr>
        <p:spPr>
          <a:xfrm>
            <a:off x="8458200" y="4727448"/>
            <a:ext cx="3657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002060"/>
                </a:solidFill>
                <a:latin typeface="Area Normal Trial Light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Fondo POLI" descr="bg_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grpSp>
        <p:nvGrpSpPr>
          <p:cNvPr id="73" name="Google Shape;73;p16"/>
          <p:cNvGrpSpPr/>
          <p:nvPr/>
        </p:nvGrpSpPr>
        <p:grpSpPr>
          <a:xfrm>
            <a:off x="457200" y="1305246"/>
            <a:ext cx="2038508" cy="749602"/>
            <a:chOff x="457200" y="1305246"/>
            <a:chExt cx="2038508" cy="749602"/>
          </a:xfrm>
        </p:grpSpPr>
      </p:grpSp>
      <p:grpSp>
        <p:nvGrpSpPr>
          <p:cNvPr id="76" name="Google Shape;76;p16"/>
          <p:cNvGrpSpPr/>
          <p:nvPr/>
        </p:nvGrpSpPr>
        <p:grpSpPr>
          <a:xfrm>
            <a:off x="457200" y="2370805"/>
            <a:ext cx="2038508" cy="750889"/>
            <a:chOff x="457200" y="2370805"/>
            <a:chExt cx="2038508" cy="750889"/>
          </a:xfrm>
        </p:grpSpPr>
      </p:grpSp>
      <p:grpSp>
        <p:nvGrpSpPr>
          <p:cNvPr id="79" name="Google Shape;79;p16"/>
          <p:cNvGrpSpPr/>
          <p:nvPr/>
        </p:nvGrpSpPr>
        <p:grpSpPr>
          <a:xfrm>
            <a:off x="6648300" y="2370804"/>
            <a:ext cx="2038504" cy="750889"/>
            <a:chOff x="6648300" y="2370804"/>
            <a:chExt cx="2038504" cy="750889"/>
          </a:xfrm>
        </p:grpSpPr>
      </p:grpSp>
      <p:grpSp>
        <p:nvGrpSpPr>
          <p:cNvPr id="82" name="Google Shape;82;p16"/>
          <p:cNvGrpSpPr/>
          <p:nvPr/>
        </p:nvGrpSpPr>
        <p:grpSpPr>
          <a:xfrm>
            <a:off x="6648300" y="1305246"/>
            <a:ext cx="2038502" cy="749602"/>
            <a:chOff x="6648300" y="1305246"/>
            <a:chExt cx="2038502" cy="749602"/>
          </a:xfrm>
        </p:grpSpPr>
      </p:grpSp>
      <p:grpSp>
        <p:nvGrpSpPr>
          <p:cNvPr id="85" name="Google Shape;85;p16"/>
          <p:cNvGrpSpPr/>
          <p:nvPr/>
        </p:nvGrpSpPr>
        <p:grpSpPr>
          <a:xfrm>
            <a:off x="530544" y="3730525"/>
            <a:ext cx="1755050" cy="917700"/>
            <a:chOff x="530544" y="3654325"/>
            <a:chExt cx="1755050" cy="917700"/>
          </a:xfrm>
        </p:grpSpPr>
        <p:grpSp>
          <p:nvGrpSpPr>
            <p:cNvPr id="86" name="Google Shape;86;p16"/>
            <p:cNvGrpSpPr/>
            <p:nvPr/>
          </p:nvGrpSpPr>
          <p:grpSpPr>
            <a:xfrm>
              <a:off x="530544" y="3654325"/>
              <a:ext cx="917700" cy="917700"/>
              <a:chOff x="530544" y="3654325"/>
              <a:chExt cx="917700" cy="917700"/>
            </a:xfrm>
          </p:grpSpPr>
          <p:sp>
            <p:nvSpPr>
              <p:cNvPr id="87" name="Google Shape;87;p16"/>
              <p:cNvSpPr/>
              <p:nvPr/>
            </p:nvSpPr>
            <p:spPr>
              <a:xfrm>
                <a:off x="530544" y="3654325"/>
                <a:ext cx="917700" cy="917700"/>
              </a:xfrm>
              <a:prstGeom prst="donut">
                <a:avLst>
                  <a:gd name="adj" fmla="val 25000"/>
                </a:avLst>
              </a:prstGeom>
              <a:noFill/>
              <a:ln w="19050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" name="Google Shape;88;p16"/>
              <p:cNvSpPr/>
              <p:nvPr/>
            </p:nvSpPr>
            <p:spPr>
              <a:xfrm flipH="1">
                <a:off x="558594" y="3682525"/>
                <a:ext cx="861600" cy="861300"/>
              </a:xfrm>
              <a:prstGeom prst="blockArc">
                <a:avLst>
                  <a:gd name="adj1" fmla="val 16972586"/>
                  <a:gd name="adj2" fmla="val 16151786"/>
                  <a:gd name="adj3" fmla="val 20000"/>
                </a:avLst>
              </a:prstGeom>
              <a:gradFill>
                <a:gsLst>
                  <a:gs pos="0">
                    <a:srgbClr val="00B0F0"/>
                  </a:gs>
                  <a:gs pos="100000">
                    <a:srgbClr val="002060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89" name="Google Shape;89;p16"/>
            <p:cNvSpPr txBox="1"/>
            <p:nvPr/>
          </p:nvSpPr>
          <p:spPr>
            <a:xfrm>
              <a:off x="1569494" y="3892825"/>
              <a:ext cx="716100" cy="44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>
                  <a:solidFill>
                    <a:schemeClr val="dk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96,2 %</a:t>
              </a:r>
              <a:endParaRPr sz="2200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</p:grpSp>
      <p:grpSp>
        <p:nvGrpSpPr>
          <p:cNvPr id="90" name="Google Shape;90;p16"/>
          <p:cNvGrpSpPr/>
          <p:nvPr/>
        </p:nvGrpSpPr>
        <p:grpSpPr>
          <a:xfrm>
            <a:off x="2645244" y="3730525"/>
            <a:ext cx="1755050" cy="917700"/>
            <a:chOff x="2645244" y="3654325"/>
            <a:chExt cx="1755050" cy="917700"/>
          </a:xfrm>
        </p:grpSpPr>
        <p:grpSp>
          <p:nvGrpSpPr>
            <p:cNvPr id="91" name="Google Shape;91;p16"/>
            <p:cNvGrpSpPr/>
            <p:nvPr/>
          </p:nvGrpSpPr>
          <p:grpSpPr>
            <a:xfrm>
              <a:off x="2645244" y="3654325"/>
              <a:ext cx="917700" cy="917700"/>
              <a:chOff x="2645244" y="3654325"/>
              <a:chExt cx="917700" cy="917700"/>
            </a:xfrm>
          </p:grpSpPr>
          <p:sp>
            <p:nvSpPr>
              <p:cNvPr id="92" name="Google Shape;92;p16"/>
              <p:cNvSpPr/>
              <p:nvPr/>
            </p:nvSpPr>
            <p:spPr>
              <a:xfrm>
                <a:off x="2645244" y="3654325"/>
                <a:ext cx="917700" cy="917700"/>
              </a:xfrm>
              <a:prstGeom prst="donut">
                <a:avLst>
                  <a:gd name="adj" fmla="val 25000"/>
                </a:avLst>
              </a:prstGeom>
              <a:noFill/>
              <a:ln w="1905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" name="Google Shape;93;p16"/>
              <p:cNvSpPr/>
              <p:nvPr/>
            </p:nvSpPr>
            <p:spPr>
              <a:xfrm flipH="1">
                <a:off x="2673294" y="3682525"/>
                <a:ext cx="861600" cy="861300"/>
              </a:xfrm>
              <a:prstGeom prst="blockArc">
                <a:avLst>
                  <a:gd name="adj1" fmla="val 18311786"/>
                  <a:gd name="adj2" fmla="val 16151786"/>
                  <a:gd name="adj3" fmla="val 20000"/>
                </a:avLst>
              </a:prstGeom>
              <a:gradFill>
                <a:gsLst>
                  <a:gs pos="0">
                    <a:srgbClr val="22B2DE"/>
                  </a:gs>
                  <a:gs pos="100000">
                    <a:srgbClr val="0A3F80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94" name="Google Shape;94;p16"/>
            <p:cNvSpPr txBox="1"/>
            <p:nvPr/>
          </p:nvSpPr>
          <p:spPr>
            <a:xfrm>
              <a:off x="3684194" y="3892825"/>
              <a:ext cx="716100" cy="44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>
                  <a:solidFill>
                    <a:schemeClr val="dk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90,0 %</a:t>
              </a:r>
              <a:endParaRPr sz="2200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</p:grpSp>
      <p:grpSp>
        <p:nvGrpSpPr>
          <p:cNvPr id="95" name="Google Shape;95;p16"/>
          <p:cNvGrpSpPr/>
          <p:nvPr/>
        </p:nvGrpSpPr>
        <p:grpSpPr>
          <a:xfrm>
            <a:off x="4759944" y="3730525"/>
            <a:ext cx="1755050" cy="917700"/>
            <a:chOff x="4759944" y="3654325"/>
            <a:chExt cx="1755050" cy="917700"/>
          </a:xfrm>
        </p:grpSpPr>
        <p:grpSp>
          <p:nvGrpSpPr>
            <p:cNvPr id="96" name="Google Shape;96;p16"/>
            <p:cNvGrpSpPr/>
            <p:nvPr/>
          </p:nvGrpSpPr>
          <p:grpSpPr>
            <a:xfrm>
              <a:off x="4759944" y="3654325"/>
              <a:ext cx="917700" cy="917700"/>
              <a:chOff x="4759944" y="3654325"/>
              <a:chExt cx="917700" cy="917700"/>
            </a:xfrm>
          </p:grpSpPr>
          <p:sp>
            <p:nvSpPr>
              <p:cNvPr id="97" name="Google Shape;97;p16"/>
              <p:cNvSpPr/>
              <p:nvPr/>
            </p:nvSpPr>
            <p:spPr>
              <a:xfrm>
                <a:off x="4759944" y="3654325"/>
                <a:ext cx="917700" cy="917700"/>
              </a:xfrm>
              <a:prstGeom prst="donut">
                <a:avLst>
                  <a:gd name="adj" fmla="val 25000"/>
                </a:avLst>
              </a:prstGeom>
              <a:noFill/>
              <a:ln w="19050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" name="Google Shape;98;p16"/>
              <p:cNvSpPr/>
              <p:nvPr/>
            </p:nvSpPr>
            <p:spPr>
              <a:xfrm flipH="1">
                <a:off x="4787994" y="3682525"/>
                <a:ext cx="861600" cy="861300"/>
              </a:xfrm>
              <a:prstGeom prst="blockArc">
                <a:avLst>
                  <a:gd name="adj1" fmla="val 18959786"/>
                  <a:gd name="adj2" fmla="val 16151786"/>
                  <a:gd name="adj3" fmla="val 20000"/>
                </a:avLst>
              </a:prstGeom>
              <a:gradFill>
                <a:gsLst>
                  <a:gs pos="0">
                    <a:srgbClr val="7FD8F5"/>
                  </a:gs>
                  <a:gs pos="100000">
                    <a:srgbClr val="15BECE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99" name="Google Shape;99;p16"/>
            <p:cNvSpPr txBox="1"/>
            <p:nvPr/>
          </p:nvSpPr>
          <p:spPr>
            <a:xfrm>
              <a:off x="5798894" y="3892825"/>
              <a:ext cx="716100" cy="44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>
                  <a:solidFill>
                    <a:schemeClr val="dk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87,0 %</a:t>
              </a:r>
              <a:endParaRPr sz="2200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</p:grpSp>
      <p:grpSp>
        <p:nvGrpSpPr>
          <p:cNvPr id="100" name="Google Shape;100;p16"/>
          <p:cNvGrpSpPr/>
          <p:nvPr/>
        </p:nvGrpSpPr>
        <p:grpSpPr>
          <a:xfrm>
            <a:off x="6874644" y="3730525"/>
            <a:ext cx="1755050" cy="917700"/>
            <a:chOff x="6874644" y="3654325"/>
            <a:chExt cx="1755050" cy="917700"/>
          </a:xfrm>
        </p:grpSpPr>
        <p:grpSp>
          <p:nvGrpSpPr>
            <p:cNvPr id="101" name="Google Shape;101;p16"/>
            <p:cNvGrpSpPr/>
            <p:nvPr/>
          </p:nvGrpSpPr>
          <p:grpSpPr>
            <a:xfrm>
              <a:off x="6874644" y="3654325"/>
              <a:ext cx="917700" cy="917700"/>
              <a:chOff x="6874644" y="3654325"/>
              <a:chExt cx="917700" cy="917700"/>
            </a:xfrm>
          </p:grpSpPr>
          <p:sp>
            <p:nvSpPr>
              <p:cNvPr id="102" name="Google Shape;102;p16"/>
              <p:cNvSpPr/>
              <p:nvPr/>
            </p:nvSpPr>
            <p:spPr>
              <a:xfrm>
                <a:off x="6874644" y="3654325"/>
                <a:ext cx="917700" cy="917700"/>
              </a:xfrm>
              <a:prstGeom prst="donut">
                <a:avLst>
                  <a:gd name="adj" fmla="val 25000"/>
                </a:avLst>
              </a:prstGeom>
              <a:noFill/>
              <a:ln w="19050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" name="Google Shape;103;p16"/>
              <p:cNvSpPr/>
              <p:nvPr/>
            </p:nvSpPr>
            <p:spPr>
              <a:xfrm flipH="1">
                <a:off x="6902694" y="3682525"/>
                <a:ext cx="861600" cy="861300"/>
              </a:xfrm>
              <a:prstGeom prst="blockArc">
                <a:avLst>
                  <a:gd name="adj1" fmla="val 17145386"/>
                  <a:gd name="adj2" fmla="val 16151786"/>
                  <a:gd name="adj3" fmla="val 20000"/>
                </a:avLst>
              </a:prstGeom>
              <a:gradFill>
                <a:gsLst>
                  <a:gs pos="0">
                    <a:srgbClr val="D5E66A"/>
                  </a:gs>
                  <a:gs pos="100000">
                    <a:srgbClr val="B1C900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04" name="Google Shape;104;p16"/>
            <p:cNvSpPr txBox="1"/>
            <p:nvPr/>
          </p:nvSpPr>
          <p:spPr>
            <a:xfrm>
              <a:off x="7913594" y="3892825"/>
              <a:ext cx="716100" cy="44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>
                  <a:solidFill>
                    <a:schemeClr val="dk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95,4 %</a:t>
              </a:r>
              <a:endParaRPr sz="2200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</p:grpSp>
      <p:sp>
        <p:nvSpPr>
          <p:cNvPr id="107" name="Titulo"/>
          <p:cNvSpPr txBox="1"/>
          <p:nvPr/>
        </p:nvSpPr>
        <p:spPr>
          <a:xfrm>
            <a:off x="457200" y="256032"/>
            <a:ext cx="69494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2100" b="1">
                <a:solidFill>
                  <a:srgbClr val="002060"/>
                </a:solidFill>
                <a:latin typeface="Area Normal Trial Black"/>
              </a:rPr>
              <a:t>La articulación formal es alta: lo que falta está en la formulación y la evidencia</a:t>
            </a:r>
          </a:p>
        </p:txBody>
      </p:sp>
      <p:sp>
        <p:nvSpPr>
          <p:cNvPr id="108" name="Etiqueta V1"/>
          <p:cNvSpPr txBox="1"/>
          <p:nvPr/>
        </p:nvSpPr>
        <p:spPr>
          <a:xfrm>
            <a:off x="1051560" y="3291840"/>
            <a:ext cx="1737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00B0F0"/>
                </a:solidFill>
                <a:latin typeface="Area Normal Trial Black"/>
              </a:rPr>
              <a:t>V1  </a:t>
            </a:r>
            <a:r>
              <a:rPr sz="1050" b="0">
                <a:solidFill>
                  <a:srgbClr val="263A58"/>
                </a:solidFill>
                <a:latin typeface="Area Normal Trial Light"/>
              </a:rPr>
              <a:t>Perfil con respaldo</a:t>
            </a:r>
          </a:p>
        </p:txBody>
      </p:sp>
      <p:sp>
        <p:nvSpPr>
          <p:cNvPr id="109" name="Etiqueta V2"/>
          <p:cNvSpPr txBox="1"/>
          <p:nvPr/>
        </p:nvSpPr>
        <p:spPr>
          <a:xfrm>
            <a:off x="3154680" y="3291840"/>
            <a:ext cx="1737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00B0F0"/>
                </a:solidFill>
                <a:latin typeface="Area Normal Trial Black"/>
              </a:rPr>
              <a:t>V2  </a:t>
            </a:r>
            <a:r>
              <a:rPr sz="1050" b="0">
                <a:solidFill>
                  <a:srgbClr val="263A58"/>
                </a:solidFill>
                <a:latin typeface="Area Normal Trial Light"/>
              </a:rPr>
              <a:t>Competencias sin verbo repetido</a:t>
            </a:r>
          </a:p>
        </p:txBody>
      </p:sp>
      <p:sp>
        <p:nvSpPr>
          <p:cNvPr id="110" name="Etiqueta V4"/>
          <p:cNvSpPr txBox="1"/>
          <p:nvPr/>
        </p:nvSpPr>
        <p:spPr>
          <a:xfrm>
            <a:off x="5257800" y="3291840"/>
            <a:ext cx="1737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00B0F0"/>
                </a:solidFill>
                <a:latin typeface="Area Normal Trial Black"/>
              </a:rPr>
              <a:t>V4  </a:t>
            </a:r>
            <a:r>
              <a:rPr sz="1050" b="0">
                <a:solidFill>
                  <a:srgbClr val="263A58"/>
                </a:solidFill>
                <a:latin typeface="Area Normal Trial Light"/>
              </a:rPr>
              <a:t>Trazabilidad RA → estrategia</a:t>
            </a:r>
          </a:p>
        </p:txBody>
      </p:sp>
      <p:sp>
        <p:nvSpPr>
          <p:cNvPr id="111" name="Etiqueta V5"/>
          <p:cNvSpPr txBox="1"/>
          <p:nvPr/>
        </p:nvSpPr>
        <p:spPr>
          <a:xfrm>
            <a:off x="7452360" y="3291840"/>
            <a:ext cx="1737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00B0F0"/>
                </a:solidFill>
                <a:latin typeface="Area Normal Trial Black"/>
              </a:rPr>
              <a:t>V5  </a:t>
            </a:r>
            <a:r>
              <a:rPr sz="1050" b="0">
                <a:solidFill>
                  <a:srgbClr val="263A58"/>
                </a:solidFill>
                <a:latin typeface="Area Normal Trial Light"/>
              </a:rPr>
              <a:t>Estrategias con evidencia N2 o más</a:t>
            </a:r>
          </a:p>
        </p:txBody>
      </p:sp>
      <p:sp>
        <p:nvSpPr>
          <p:cNvPr id="112" name="Mensaje"/>
          <p:cNvSpPr txBox="1"/>
          <p:nvPr/>
        </p:nvSpPr>
        <p:spPr>
          <a:xfrm>
            <a:off x="502920" y="1234440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002060"/>
                </a:solidFill>
                <a:latin typeface="Area Normal Trial Black"/>
              </a:rPr>
              <a:t>La articulación formal es alta</a:t>
            </a:r>
          </a:p>
        </p:txBody>
      </p:sp>
      <p:sp>
        <p:nvSpPr>
          <p:cNvPr id="113" name="Lectura"/>
          <p:cNvSpPr txBox="1"/>
          <p:nvPr/>
        </p:nvSpPr>
        <p:spPr>
          <a:xfrm>
            <a:off x="502920" y="1691640"/>
            <a:ext cx="393192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263A58"/>
                </a:solidFill>
                <a:latin typeface="Area Normal Trial Light"/>
              </a:rPr>
              <a:t>Estas cifras describen articulación formal. Las brechas se concentran en tres lugares: la formulación del perfil, la evidencia del aprendizaje y la profundidad de las tendencias.</a:t>
            </a:r>
          </a:p>
        </p:txBody>
      </p:sp>
      <p:sp>
        <p:nvSpPr>
          <p:cNvPr id="114" name="V3"/>
          <p:cNvSpPr txBox="1"/>
          <p:nvPr/>
        </p:nvSpPr>
        <p:spPr>
          <a:xfrm>
            <a:off x="4937760" y="1188720"/>
            <a:ext cx="36576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4600" b="1">
                <a:solidFill>
                  <a:srgbClr val="00B0F0"/>
                </a:solidFill>
                <a:latin typeface="Area Normal Trial Black"/>
              </a:rPr>
              <a:t>100 %</a:t>
            </a:r>
          </a:p>
        </p:txBody>
      </p:sp>
      <p:sp>
        <p:nvSpPr>
          <p:cNvPr id="115" name="V3 nota"/>
          <p:cNvSpPr txBox="1"/>
          <p:nvPr/>
        </p:nvSpPr>
        <p:spPr>
          <a:xfrm>
            <a:off x="4937760" y="2057400"/>
            <a:ext cx="36576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>
                <a:solidFill>
                  <a:srgbClr val="002060"/>
                </a:solidFill>
                <a:latin typeface="Area Normal Trial Black"/>
              </a:rPr>
              <a:t>V3 · RA evaluables</a:t>
            </a:r>
          </a:p>
          <a:p>
            <a:pPr algn="r">
              <a:spcAft>
                <a:spcPts val="0"/>
              </a:spcAft>
            </a:pPr>
            <a:r>
              <a:rPr sz="1200" b="0">
                <a:solidFill>
                  <a:srgbClr val="263A58"/>
                </a:solidFill>
                <a:latin typeface="Area Normal Trial Light"/>
              </a:rPr>
              <a:t>Lo fija la plantilla: describe el instrumento, no es una fortaleza.</a:t>
            </a:r>
          </a:p>
        </p:txBody>
      </p:sp>
      <p:pic>
        <p:nvPicPr>
          <p:cNvPr id="117" name="Logo POLI" descr="logo_sell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8120" y="256032"/>
            <a:ext cx="914400" cy="203200"/>
          </a:xfrm>
          <a:prstGeom prst="rect">
            <a:avLst/>
          </a:prstGeom>
        </p:spPr>
      </p:pic>
      <p:sp>
        <p:nvSpPr>
          <p:cNvPr id="118" name="Numero"/>
          <p:cNvSpPr txBox="1"/>
          <p:nvPr/>
        </p:nvSpPr>
        <p:spPr>
          <a:xfrm>
            <a:off x="8458200" y="4727448"/>
            <a:ext cx="3657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002060"/>
                </a:solidFill>
                <a:latin typeface="Area Normal Trial Light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4" name="Fondo POLI" descr="bg_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grpSp>
        <p:nvGrpSpPr>
          <p:cNvPr id="419" name="Google Shape;419;p24"/>
          <p:cNvGrpSpPr/>
          <p:nvPr/>
        </p:nvGrpSpPr>
        <p:grpSpPr>
          <a:xfrm>
            <a:off x="530553" y="1401949"/>
            <a:ext cx="3567045" cy="3244969"/>
            <a:chOff x="547380" y="1401949"/>
            <a:chExt cx="3567045" cy="3244969"/>
          </a:xfrm>
        </p:grpSpPr>
        <p:cxnSp>
          <p:nvCxnSpPr>
            <p:cNvPr id="420" name="Google Shape;420;p24"/>
            <p:cNvCxnSpPr/>
            <p:nvPr/>
          </p:nvCxnSpPr>
          <p:spPr>
            <a:xfrm rot="10800000">
              <a:off x="3476025" y="1925425"/>
              <a:ext cx="6384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6"/>
              </a:solidFill>
              <a:prstDash val="solid"/>
              <a:round/>
              <a:headEnd type="oval" w="med" len="med"/>
              <a:tailEnd type="none" w="med" len="med"/>
            </a:ln>
          </p:spPr>
        </p:cxnSp>
        <p:cxnSp>
          <p:nvCxnSpPr>
            <p:cNvPr id="421" name="Google Shape;421;p24"/>
            <p:cNvCxnSpPr/>
            <p:nvPr/>
          </p:nvCxnSpPr>
          <p:spPr>
            <a:xfrm rot="10800000">
              <a:off x="3088125" y="2418149"/>
              <a:ext cx="10263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5"/>
              </a:solidFill>
              <a:prstDash val="solid"/>
              <a:round/>
              <a:headEnd type="oval" w="med" len="med"/>
              <a:tailEnd type="none" w="med" len="med"/>
            </a:ln>
          </p:spPr>
        </p:cxnSp>
        <p:cxnSp>
          <p:nvCxnSpPr>
            <p:cNvPr id="422" name="Google Shape;422;p24"/>
            <p:cNvCxnSpPr/>
            <p:nvPr/>
          </p:nvCxnSpPr>
          <p:spPr>
            <a:xfrm rot="10800000">
              <a:off x="2793525" y="2916882"/>
              <a:ext cx="1320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4"/>
              </a:solidFill>
              <a:prstDash val="solid"/>
              <a:round/>
              <a:headEnd type="oval" w="med" len="med"/>
              <a:tailEnd type="none" w="med" len="med"/>
            </a:ln>
          </p:spPr>
        </p:cxnSp>
        <p:cxnSp>
          <p:nvCxnSpPr>
            <p:cNvPr id="423" name="Google Shape;423;p24"/>
            <p:cNvCxnSpPr/>
            <p:nvPr/>
          </p:nvCxnSpPr>
          <p:spPr>
            <a:xfrm rot="10800000">
              <a:off x="2964225" y="3409612"/>
              <a:ext cx="11502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oval" w="med" len="med"/>
              <a:tailEnd type="none" w="med" len="med"/>
            </a:ln>
          </p:spPr>
        </p:cxnSp>
        <p:cxnSp>
          <p:nvCxnSpPr>
            <p:cNvPr id="424" name="Google Shape;424;p24"/>
            <p:cNvCxnSpPr/>
            <p:nvPr/>
          </p:nvCxnSpPr>
          <p:spPr>
            <a:xfrm rot="10800000">
              <a:off x="2493825" y="3902341"/>
              <a:ext cx="16206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oval" w="med" len="med"/>
              <a:tailEnd type="none" w="med" len="med"/>
            </a:ln>
          </p:spPr>
        </p:cxnSp>
        <p:cxnSp>
          <p:nvCxnSpPr>
            <p:cNvPr id="425" name="Google Shape;425;p24"/>
            <p:cNvCxnSpPr/>
            <p:nvPr/>
          </p:nvCxnSpPr>
          <p:spPr>
            <a:xfrm rot="10800000">
              <a:off x="2271525" y="4377050"/>
              <a:ext cx="1842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oval" w="med" len="med"/>
              <a:tailEnd type="none" w="med" len="med"/>
            </a:ln>
          </p:spPr>
        </p:cxnSp>
        <p:sp>
          <p:nvSpPr>
            <p:cNvPr id="426" name="Google Shape;426;p24"/>
            <p:cNvSpPr/>
            <p:nvPr/>
          </p:nvSpPr>
          <p:spPr>
            <a:xfrm>
              <a:off x="1638341" y="4039215"/>
              <a:ext cx="1162974" cy="607704"/>
            </a:xfrm>
            <a:custGeom>
              <a:avLst/>
              <a:gdLst/>
              <a:ahLst/>
              <a:cxnLst/>
              <a:rect l="l" t="t" r="r" b="b"/>
              <a:pathLst>
                <a:path w="75079" h="39232" extrusionOk="0">
                  <a:moveTo>
                    <a:pt x="0" y="0"/>
                  </a:moveTo>
                  <a:lnTo>
                    <a:pt x="14093" y="31440"/>
                  </a:lnTo>
                  <a:cubicBezTo>
                    <a:pt x="14633" y="35828"/>
                    <a:pt x="25120" y="39232"/>
                    <a:pt x="37540" y="39232"/>
                  </a:cubicBezTo>
                  <a:cubicBezTo>
                    <a:pt x="49941" y="39232"/>
                    <a:pt x="60427" y="35828"/>
                    <a:pt x="60967" y="31440"/>
                  </a:cubicBezTo>
                  <a:lnTo>
                    <a:pt x="7507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Google Shape;427;p24"/>
            <p:cNvSpPr/>
            <p:nvPr/>
          </p:nvSpPr>
          <p:spPr>
            <a:xfrm>
              <a:off x="1420024" y="3541815"/>
              <a:ext cx="1601325" cy="647172"/>
            </a:xfrm>
            <a:custGeom>
              <a:avLst/>
              <a:gdLst/>
              <a:ahLst/>
              <a:cxnLst/>
              <a:rect l="l" t="t" r="r" b="b"/>
              <a:pathLst>
                <a:path w="103378" h="41780" extrusionOk="0">
                  <a:moveTo>
                    <a:pt x="1" y="1"/>
                  </a:moveTo>
                  <a:lnTo>
                    <a:pt x="14094" y="32111"/>
                  </a:lnTo>
                  <a:cubicBezTo>
                    <a:pt x="14094" y="37447"/>
                    <a:pt x="30921" y="41780"/>
                    <a:pt x="51689" y="41780"/>
                  </a:cubicBezTo>
                  <a:cubicBezTo>
                    <a:pt x="72458" y="41780"/>
                    <a:pt x="89303" y="37447"/>
                    <a:pt x="89303" y="32111"/>
                  </a:cubicBezTo>
                  <a:lnTo>
                    <a:pt x="10337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Google Shape;428;p24"/>
            <p:cNvSpPr/>
            <p:nvPr/>
          </p:nvSpPr>
          <p:spPr>
            <a:xfrm>
              <a:off x="1202018" y="3044152"/>
              <a:ext cx="2037632" cy="647436"/>
            </a:xfrm>
            <a:custGeom>
              <a:avLst/>
              <a:gdLst/>
              <a:ahLst/>
              <a:cxnLst/>
              <a:rect l="l" t="t" r="r" b="b"/>
              <a:pathLst>
                <a:path w="131545" h="41797" extrusionOk="0">
                  <a:moveTo>
                    <a:pt x="0" y="0"/>
                  </a:moveTo>
                  <a:lnTo>
                    <a:pt x="14075" y="32129"/>
                  </a:lnTo>
                  <a:cubicBezTo>
                    <a:pt x="14075" y="37466"/>
                    <a:pt x="37224" y="41797"/>
                    <a:pt x="65763" y="41797"/>
                  </a:cubicBezTo>
                  <a:cubicBezTo>
                    <a:pt x="94322" y="41797"/>
                    <a:pt x="117451" y="37466"/>
                    <a:pt x="117451" y="32129"/>
                  </a:cubicBezTo>
                  <a:lnTo>
                    <a:pt x="13154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Google Shape;429;p24"/>
            <p:cNvSpPr/>
            <p:nvPr/>
          </p:nvSpPr>
          <p:spPr>
            <a:xfrm>
              <a:off x="983718" y="2546769"/>
              <a:ext cx="2473970" cy="647157"/>
            </a:xfrm>
            <a:custGeom>
              <a:avLst/>
              <a:gdLst/>
              <a:ahLst/>
              <a:cxnLst/>
              <a:rect l="l" t="t" r="r" b="b"/>
              <a:pathLst>
                <a:path w="159714" h="41779" extrusionOk="0">
                  <a:moveTo>
                    <a:pt x="0" y="1"/>
                  </a:moveTo>
                  <a:lnTo>
                    <a:pt x="14093" y="32110"/>
                  </a:lnTo>
                  <a:cubicBezTo>
                    <a:pt x="14093" y="37447"/>
                    <a:pt x="43545" y="41778"/>
                    <a:pt x="79856" y="41778"/>
                  </a:cubicBezTo>
                  <a:cubicBezTo>
                    <a:pt x="116187" y="41778"/>
                    <a:pt x="145638" y="37447"/>
                    <a:pt x="145638" y="32110"/>
                  </a:cubicBezTo>
                  <a:lnTo>
                    <a:pt x="159713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Google Shape;430;p24"/>
            <p:cNvSpPr/>
            <p:nvPr/>
          </p:nvSpPr>
          <p:spPr>
            <a:xfrm>
              <a:off x="765680" y="2049106"/>
              <a:ext cx="2910308" cy="647451"/>
            </a:xfrm>
            <a:custGeom>
              <a:avLst/>
              <a:gdLst/>
              <a:ahLst/>
              <a:cxnLst/>
              <a:rect l="l" t="t" r="r" b="b"/>
              <a:pathLst>
                <a:path w="187883" h="41798" extrusionOk="0">
                  <a:moveTo>
                    <a:pt x="0" y="0"/>
                  </a:moveTo>
                  <a:lnTo>
                    <a:pt x="14076" y="32129"/>
                  </a:lnTo>
                  <a:cubicBezTo>
                    <a:pt x="14076" y="37464"/>
                    <a:pt x="49830" y="41797"/>
                    <a:pt x="93932" y="41797"/>
                  </a:cubicBezTo>
                  <a:cubicBezTo>
                    <a:pt x="138034" y="41797"/>
                    <a:pt x="173789" y="37464"/>
                    <a:pt x="173789" y="32129"/>
                  </a:cubicBezTo>
                  <a:lnTo>
                    <a:pt x="187883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Google Shape;431;p24"/>
            <p:cNvSpPr/>
            <p:nvPr/>
          </p:nvSpPr>
          <p:spPr>
            <a:xfrm>
              <a:off x="547380" y="1551706"/>
              <a:ext cx="3346615" cy="647172"/>
            </a:xfrm>
            <a:custGeom>
              <a:avLst/>
              <a:gdLst/>
              <a:ahLst/>
              <a:cxnLst/>
              <a:rect l="l" t="t" r="r" b="b"/>
              <a:pathLst>
                <a:path w="216050" h="41780" extrusionOk="0">
                  <a:moveTo>
                    <a:pt x="0" y="0"/>
                  </a:moveTo>
                  <a:lnTo>
                    <a:pt x="14093" y="32111"/>
                  </a:lnTo>
                  <a:cubicBezTo>
                    <a:pt x="14093" y="37447"/>
                    <a:pt x="56151" y="41779"/>
                    <a:pt x="108025" y="41779"/>
                  </a:cubicBezTo>
                  <a:cubicBezTo>
                    <a:pt x="159919" y="41779"/>
                    <a:pt x="201976" y="37447"/>
                    <a:pt x="201976" y="32111"/>
                  </a:cubicBezTo>
                  <a:lnTo>
                    <a:pt x="21605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Google Shape;432;p24"/>
            <p:cNvSpPr/>
            <p:nvPr/>
          </p:nvSpPr>
          <p:spPr>
            <a:xfrm>
              <a:off x="547380" y="1401949"/>
              <a:ext cx="3346615" cy="299530"/>
            </a:xfrm>
            <a:custGeom>
              <a:avLst/>
              <a:gdLst/>
              <a:ahLst/>
              <a:cxnLst/>
              <a:rect l="l" t="t" r="r" b="b"/>
              <a:pathLst>
                <a:path w="216050" h="19337" extrusionOk="0">
                  <a:moveTo>
                    <a:pt x="108025" y="0"/>
                  </a:moveTo>
                  <a:cubicBezTo>
                    <a:pt x="48379" y="0"/>
                    <a:pt x="0" y="4333"/>
                    <a:pt x="0" y="9668"/>
                  </a:cubicBezTo>
                  <a:cubicBezTo>
                    <a:pt x="0" y="15005"/>
                    <a:pt x="48379" y="19337"/>
                    <a:pt x="108025" y="19337"/>
                  </a:cubicBezTo>
                  <a:cubicBezTo>
                    <a:pt x="167690" y="19337"/>
                    <a:pt x="216050" y="15005"/>
                    <a:pt x="216050" y="9668"/>
                  </a:cubicBezTo>
                  <a:cubicBezTo>
                    <a:pt x="216050" y="4333"/>
                    <a:pt x="167690" y="0"/>
                    <a:pt x="108025" y="0"/>
                  </a:cubicBezTo>
                  <a:close/>
                </a:path>
              </a:pathLst>
            </a:custGeom>
            <a:solidFill>
              <a:srgbClr val="00B0F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33" name="Google Shape;433;p24"/>
          <p:cNvGrpSpPr/>
          <p:nvPr/>
        </p:nvGrpSpPr>
        <p:grpSpPr>
          <a:xfrm>
            <a:off x="4185996" y="4166700"/>
            <a:ext cx="4454429" cy="348600"/>
            <a:chOff x="4142855" y="4166700"/>
            <a:chExt cx="4543945" cy="348600"/>
          </a:xfrm>
        </p:grpSpPr>
        <p:sp>
          <p:nvSpPr>
            <p:cNvPr id="434" name="Google Shape;434;p24"/>
            <p:cNvSpPr txBox="1"/>
            <p:nvPr/>
          </p:nvSpPr>
          <p:spPr>
            <a:xfrm>
              <a:off x="5286900" y="4166700"/>
              <a:ext cx="3399900" cy="34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lt2"/>
                  </a:solidFill>
                  <a:latin typeface="Roboto"/>
                  <a:ea typeface="Roboto"/>
                  <a:cs typeface="Roboto"/>
                  <a:sym typeface="Roboto"/>
                </a:rPr>
                <a:t>…en las tres capas a la vez</a:t>
              </a:r>
              <a:endParaRPr sz="13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35" name="Google Shape;435;p24"/>
            <p:cNvSpPr txBox="1"/>
            <p:nvPr/>
          </p:nvSpPr>
          <p:spPr>
            <a:xfrm>
              <a:off x="4142855" y="4166700"/>
              <a:ext cx="1173000" cy="34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 b="1">
                  <a:solidFill>
                    <a:schemeClr val="accen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65,7 %</a:t>
              </a:r>
              <a:endParaRPr sz="1600" b="1">
                <a:solidFill>
                  <a:schemeClr val="accen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grpSp>
        <p:nvGrpSpPr>
          <p:cNvPr id="436" name="Google Shape;436;p24"/>
          <p:cNvGrpSpPr/>
          <p:nvPr/>
        </p:nvGrpSpPr>
        <p:grpSpPr>
          <a:xfrm>
            <a:off x="4185996" y="3691991"/>
            <a:ext cx="4454429" cy="348600"/>
            <a:chOff x="4142855" y="3691991"/>
            <a:chExt cx="4543945" cy="348600"/>
          </a:xfrm>
        </p:grpSpPr>
        <p:sp>
          <p:nvSpPr>
            <p:cNvPr id="437" name="Google Shape;437;p24"/>
            <p:cNvSpPr txBox="1"/>
            <p:nvPr/>
          </p:nvSpPr>
          <p:spPr>
            <a:xfrm>
              <a:off x="5286900" y="3691991"/>
              <a:ext cx="3399900" cy="34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Arial"/>
                <a:buNone/>
              </a:pPr>
              <a:r>
                <a:rPr lang="en" sz="1200">
                  <a:solidFill>
                    <a:schemeClr val="lt2"/>
                  </a:solidFill>
                  <a:latin typeface="Roboto"/>
                  <a:ea typeface="Roboto"/>
                  <a:cs typeface="Roboto"/>
                  <a:sym typeface="Roboto"/>
                </a:rPr>
                <a:t>…en los RA</a:t>
              </a:r>
              <a:endParaRPr sz="13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38" name="Google Shape;438;p24"/>
            <p:cNvSpPr txBox="1"/>
            <p:nvPr/>
          </p:nvSpPr>
          <p:spPr>
            <a:xfrm>
              <a:off x="4142855" y="3691991"/>
              <a:ext cx="1173000" cy="34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 b="1">
                  <a:solidFill>
                    <a:schemeClr val="accent2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72,4 %</a:t>
              </a:r>
              <a:endParaRPr sz="1600" b="1">
                <a:solidFill>
                  <a:schemeClr val="accent2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grpSp>
        <p:nvGrpSpPr>
          <p:cNvPr id="439" name="Google Shape;439;p24"/>
          <p:cNvGrpSpPr/>
          <p:nvPr/>
        </p:nvGrpSpPr>
        <p:grpSpPr>
          <a:xfrm>
            <a:off x="4185996" y="3199262"/>
            <a:ext cx="4454429" cy="348600"/>
            <a:chOff x="4142855" y="3199261"/>
            <a:chExt cx="4543945" cy="348600"/>
          </a:xfrm>
        </p:grpSpPr>
        <p:sp>
          <p:nvSpPr>
            <p:cNvPr id="440" name="Google Shape;440;p24"/>
            <p:cNvSpPr txBox="1"/>
            <p:nvPr/>
          </p:nvSpPr>
          <p:spPr>
            <a:xfrm>
              <a:off x="5286900" y="3199261"/>
              <a:ext cx="3399900" cy="34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lt2"/>
                  </a:solidFill>
                  <a:latin typeface="Roboto"/>
                  <a:ea typeface="Roboto"/>
                  <a:cs typeface="Roboto"/>
                  <a:sym typeface="Roboto"/>
                </a:rPr>
                <a:t>…en las competencias</a:t>
              </a:r>
              <a:endParaRPr sz="13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41" name="Google Shape;441;p24"/>
            <p:cNvSpPr txBox="1"/>
            <p:nvPr/>
          </p:nvSpPr>
          <p:spPr>
            <a:xfrm>
              <a:off x="4142855" y="3199262"/>
              <a:ext cx="1173000" cy="34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 b="1">
                  <a:solidFill>
                    <a:schemeClr val="accent3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75,6 %</a:t>
              </a:r>
              <a:endParaRPr sz="1600" b="1">
                <a:solidFill>
                  <a:schemeClr val="accent3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grpSp>
        <p:nvGrpSpPr>
          <p:cNvPr id="442" name="Google Shape;442;p24"/>
          <p:cNvGrpSpPr/>
          <p:nvPr/>
        </p:nvGrpSpPr>
        <p:grpSpPr>
          <a:xfrm>
            <a:off x="4185996" y="2706532"/>
            <a:ext cx="4454429" cy="348600"/>
            <a:chOff x="4142855" y="2706532"/>
            <a:chExt cx="4543945" cy="348600"/>
          </a:xfrm>
        </p:grpSpPr>
        <p:sp>
          <p:nvSpPr>
            <p:cNvPr id="443" name="Google Shape;443;p24"/>
            <p:cNvSpPr txBox="1"/>
            <p:nvPr/>
          </p:nvSpPr>
          <p:spPr>
            <a:xfrm>
              <a:off x="5286900" y="2706532"/>
              <a:ext cx="3399900" cy="34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lt2"/>
                  </a:solidFill>
                  <a:latin typeface="Roboto"/>
                  <a:ea typeface="Roboto"/>
                  <a:cs typeface="Roboto"/>
                  <a:sym typeface="Roboto"/>
                </a:rPr>
                <a:t>…en las asignaturas</a:t>
              </a:r>
              <a:endParaRPr sz="13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44" name="Google Shape;444;p24"/>
            <p:cNvSpPr txBox="1"/>
            <p:nvPr/>
          </p:nvSpPr>
          <p:spPr>
            <a:xfrm>
              <a:off x="4142855" y="2706532"/>
              <a:ext cx="1173000" cy="34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 b="1">
                  <a:solidFill>
                    <a:schemeClr val="accent4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95,2 %</a:t>
              </a:r>
              <a:endParaRPr sz="1600" b="1">
                <a:solidFill>
                  <a:schemeClr val="accent4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grpSp>
        <p:nvGrpSpPr>
          <p:cNvPr id="445" name="Google Shape;445;p24"/>
          <p:cNvGrpSpPr/>
          <p:nvPr/>
        </p:nvGrpSpPr>
        <p:grpSpPr>
          <a:xfrm>
            <a:off x="4185996" y="2207799"/>
            <a:ext cx="4454429" cy="348600"/>
            <a:chOff x="4142855" y="2207799"/>
            <a:chExt cx="4543945" cy="348600"/>
          </a:xfrm>
        </p:grpSpPr>
        <p:sp>
          <p:nvSpPr>
            <p:cNvPr id="446" name="Google Shape;446;p24"/>
            <p:cNvSpPr txBox="1"/>
            <p:nvPr/>
          </p:nvSpPr>
          <p:spPr>
            <a:xfrm>
              <a:off x="5286900" y="2207799"/>
              <a:ext cx="3399900" cy="34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lt2"/>
                  </a:solidFill>
                  <a:latin typeface="Roboto"/>
                  <a:ea typeface="Roboto"/>
                  <a:cs typeface="Roboto"/>
                  <a:sym typeface="Roboto"/>
                </a:rPr>
                <a:t>Respaldo en alguna capa (V1)</a:t>
              </a:r>
              <a:endParaRPr sz="12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47" name="Google Shape;447;p24"/>
            <p:cNvSpPr txBox="1"/>
            <p:nvPr/>
          </p:nvSpPr>
          <p:spPr>
            <a:xfrm>
              <a:off x="4142855" y="2207799"/>
              <a:ext cx="1173000" cy="34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 b="1">
                  <a:solidFill>
                    <a:schemeClr val="accent5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96,2 %</a:t>
              </a:r>
              <a:endParaRPr sz="1600" b="1">
                <a:solidFill>
                  <a:schemeClr val="accent5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grpSp>
        <p:nvGrpSpPr>
          <p:cNvPr id="448" name="Google Shape;448;p24"/>
          <p:cNvGrpSpPr/>
          <p:nvPr/>
        </p:nvGrpSpPr>
        <p:grpSpPr>
          <a:xfrm>
            <a:off x="4185996" y="1715075"/>
            <a:ext cx="4454429" cy="348600"/>
            <a:chOff x="4142855" y="1715075"/>
            <a:chExt cx="4543945" cy="348600"/>
          </a:xfrm>
        </p:grpSpPr>
        <p:sp>
          <p:nvSpPr>
            <p:cNvPr id="449" name="Google Shape;449;p24"/>
            <p:cNvSpPr txBox="1"/>
            <p:nvPr/>
          </p:nvSpPr>
          <p:spPr>
            <a:xfrm>
              <a:off x="5286900" y="1715075"/>
              <a:ext cx="3399900" cy="34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lt2"/>
                  </a:solidFill>
                  <a:latin typeface="Roboto"/>
                  <a:ea typeface="Roboto"/>
                  <a:cs typeface="Roboto"/>
                  <a:sym typeface="Roboto"/>
                </a:rPr>
                <a:t>Perfil de egreso: 2.574 atributos</a:t>
              </a:r>
              <a:endParaRPr sz="13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50" name="Google Shape;450;p24"/>
            <p:cNvSpPr txBox="1"/>
            <p:nvPr/>
          </p:nvSpPr>
          <p:spPr>
            <a:xfrm>
              <a:off x="4142855" y="1715075"/>
              <a:ext cx="1173000" cy="34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 b="1">
                  <a:solidFill>
                    <a:schemeClr val="accent6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100 %</a:t>
              </a:r>
              <a:endParaRPr sz="1600" b="1">
                <a:solidFill>
                  <a:schemeClr val="accent6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sp>
        <p:nvSpPr>
          <p:cNvPr id="451" name="Titulo"/>
          <p:cNvSpPr txBox="1"/>
          <p:nvPr/>
        </p:nvSpPr>
        <p:spPr>
          <a:xfrm>
            <a:off x="457200" y="256032"/>
            <a:ext cx="70408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2100" b="1">
                <a:solidFill>
                  <a:srgbClr val="002060"/>
                </a:solidFill>
                <a:latin typeface="Area Normal Trial Black"/>
              </a:rPr>
              <a:t>El perfil se enseña más de lo que se formula como competencia o RA</a:t>
            </a:r>
          </a:p>
        </p:txBody>
      </p:sp>
      <p:sp>
        <p:nvSpPr>
          <p:cNvPr id="452" name="Vacios"/>
          <p:cNvSpPr txBox="1"/>
          <p:nvPr/>
        </p:nvSpPr>
        <p:spPr>
          <a:xfrm>
            <a:off x="4206240" y="1097280"/>
            <a:ext cx="44805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0B0F0"/>
                </a:solidFill>
                <a:latin typeface="Area Normal Trial Black"/>
              </a:rPr>
              <a:t>98 atributos </a:t>
            </a:r>
            <a:r>
              <a:rPr sz="1150" b="0">
                <a:solidFill>
                  <a:srgbClr val="263A58"/>
                </a:solidFill>
                <a:latin typeface="Area Normal Trial Light"/>
              </a:rPr>
              <a:t>sin alineación (3,8 %); 10,9 % en poblaciones de actuación.</a:t>
            </a:r>
          </a:p>
        </p:txBody>
      </p:sp>
      <p:sp>
        <p:nvSpPr>
          <p:cNvPr id="453" name="Cautela"/>
          <p:cNvSpPr txBox="1"/>
          <p:nvPr/>
        </p:nvSpPr>
        <p:spPr>
          <a:xfrm>
            <a:off x="457200" y="4709160"/>
            <a:ext cx="7863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D6285"/>
                </a:solidFill>
                <a:latin typeface="Area Normal Trial Light"/>
              </a:rPr>
              <a:t>Referencia de calibración asistida por IAg, no validada por el comité (acuerdo 80,1 %; κ = 0,44).</a:t>
            </a:r>
          </a:p>
        </p:txBody>
      </p:sp>
      <p:pic>
        <p:nvPicPr>
          <p:cNvPr id="455" name="Logo POLI" descr="logo_sell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8120" y="256032"/>
            <a:ext cx="914400" cy="203200"/>
          </a:xfrm>
          <a:prstGeom prst="rect">
            <a:avLst/>
          </a:prstGeom>
        </p:spPr>
      </p:pic>
      <p:sp>
        <p:nvSpPr>
          <p:cNvPr id="456" name="Numero"/>
          <p:cNvSpPr txBox="1"/>
          <p:nvPr/>
        </p:nvSpPr>
        <p:spPr>
          <a:xfrm>
            <a:off x="8458200" y="4727448"/>
            <a:ext cx="3657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002060"/>
                </a:solidFill>
                <a:latin typeface="Area Normal Trial Light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5" name="Fondo POLI" descr="bg_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grpSp>
        <p:nvGrpSpPr>
          <p:cNvPr id="396" name="Google Shape;396;p21"/>
          <p:cNvGrpSpPr/>
          <p:nvPr/>
        </p:nvGrpSpPr>
        <p:grpSpPr>
          <a:xfrm>
            <a:off x="3134225" y="1421582"/>
            <a:ext cx="2875550" cy="2876637"/>
            <a:chOff x="3134225" y="1421582"/>
            <a:chExt cx="2875550" cy="2876637"/>
          </a:xfrm>
        </p:grpSpPr>
      </p:grpSp>
      <p:grpSp>
        <p:nvGrpSpPr>
          <p:cNvPr id="400" name="Google Shape;400;p21"/>
          <p:cNvGrpSpPr/>
          <p:nvPr/>
        </p:nvGrpSpPr>
        <p:grpSpPr>
          <a:xfrm>
            <a:off x="762000" y="1493024"/>
            <a:ext cx="3192421" cy="748800"/>
            <a:chOff x="762000" y="1493024"/>
            <a:chExt cx="3192421" cy="748800"/>
          </a:xfrm>
        </p:grpSpPr>
        <p:grpSp>
          <p:nvGrpSpPr>
            <p:cNvPr id="401" name="Google Shape;401;p21"/>
            <p:cNvGrpSpPr/>
            <p:nvPr/>
          </p:nvGrpSpPr>
          <p:grpSpPr>
            <a:xfrm>
              <a:off x="762000" y="1530725"/>
              <a:ext cx="2038508" cy="673402"/>
              <a:chOff x="762000" y="1530725"/>
              <a:chExt cx="2038508" cy="673402"/>
            </a:xfrm>
          </p:grpSpPr>
          <p:sp>
            <p:nvSpPr>
              <p:cNvPr id="402" name="Google Shape;402;p21"/>
              <p:cNvSpPr txBox="1"/>
              <p:nvPr/>
            </p:nvSpPr>
            <p:spPr>
              <a:xfrm>
                <a:off x="762008" y="1530725"/>
                <a:ext cx="2038500" cy="253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400">
                    <a:solidFill>
                      <a:schemeClr val="accent2"/>
                    </a:solidFill>
                    <a:latin typeface="Fira Sans Extra Condensed Medium"/>
                    <a:ea typeface="Fira Sans Extra Condensed Medium"/>
                    <a:cs typeface="Fira Sans Extra Condensed Medium"/>
                    <a:sym typeface="Fira Sans Extra Condensed Medium"/>
                  </a:rPr>
                  <a:t>Verbos que más se usan</a:t>
                </a:r>
                <a:endParaRPr sz="1800">
                  <a:solidFill>
                    <a:schemeClr val="accent2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endParaRPr>
              </a:p>
            </p:txBody>
          </p:sp>
          <p:sp>
            <p:nvSpPr>
              <p:cNvPr id="403" name="Google Shape;403;p21"/>
              <p:cNvSpPr txBox="1"/>
              <p:nvPr/>
            </p:nvSpPr>
            <p:spPr>
              <a:xfrm>
                <a:off x="762000" y="1763427"/>
                <a:ext cx="2038500" cy="8229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rPr>
                  <a:t>Dominar (26), Aplicar (22), Implementar (20), Desarrollar (19) y Diseñar (19) en las competencias específicas.</a:t>
                </a:r>
                <a:endParaRPr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grpSp>
          <p:nvGrpSpPr>
            <p:cNvPr id="404" name="Google Shape;404;p21"/>
            <p:cNvGrpSpPr/>
            <p:nvPr/>
          </p:nvGrpSpPr>
          <p:grpSpPr>
            <a:xfrm>
              <a:off x="3205547" y="1493024"/>
              <a:ext cx="748875" cy="748800"/>
              <a:chOff x="3205547" y="1493024"/>
              <a:chExt cx="748875" cy="748800"/>
            </a:xfrm>
          </p:grpSpPr>
        </p:grpSp>
      </p:grpSp>
      <p:grpSp>
        <p:nvGrpSpPr>
          <p:cNvPr id="407" name="Google Shape;407;p21"/>
          <p:cNvGrpSpPr/>
          <p:nvPr/>
        </p:nvGrpSpPr>
        <p:grpSpPr>
          <a:xfrm>
            <a:off x="762000" y="3468587"/>
            <a:ext cx="3168581" cy="748800"/>
            <a:chOff x="762000" y="3468587"/>
            <a:chExt cx="3168581" cy="748800"/>
          </a:xfrm>
        </p:grpSpPr>
        <p:grpSp>
          <p:nvGrpSpPr>
            <p:cNvPr id="408" name="Google Shape;408;p21"/>
            <p:cNvGrpSpPr/>
            <p:nvPr/>
          </p:nvGrpSpPr>
          <p:grpSpPr>
            <a:xfrm>
              <a:off x="762000" y="3505603"/>
              <a:ext cx="2038508" cy="674689"/>
              <a:chOff x="762000" y="3505603"/>
              <a:chExt cx="2038508" cy="674689"/>
            </a:xfrm>
          </p:grpSpPr>
          <p:sp>
            <p:nvSpPr>
              <p:cNvPr id="409" name="Google Shape;409;p21"/>
              <p:cNvSpPr txBox="1"/>
              <p:nvPr/>
            </p:nvSpPr>
            <p:spPr>
              <a:xfrm>
                <a:off x="762000" y="3505603"/>
                <a:ext cx="2038500" cy="253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400">
                    <a:solidFill>
                      <a:schemeClr val="accent6"/>
                    </a:solidFill>
                    <a:latin typeface="Fira Sans Extra Condensed Medium"/>
                    <a:ea typeface="Fira Sans Extra Condensed Medium"/>
                    <a:cs typeface="Fira Sans Extra Condensed Medium"/>
                    <a:sym typeface="Fira Sans Extra Condensed Medium"/>
                  </a:rPr>
                  <a:t>Analizar lidera: 50 usos</a:t>
                </a:r>
                <a:endParaRPr sz="1800">
                  <a:solidFill>
                    <a:schemeClr val="accent6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endParaRPr>
              </a:p>
            </p:txBody>
          </p:sp>
          <p:sp>
            <p:nvSpPr>
              <p:cNvPr id="410" name="Google Shape;410;p21"/>
              <p:cNvSpPr txBox="1"/>
              <p:nvPr/>
            </p:nvSpPr>
            <p:spPr>
              <a:xfrm>
                <a:off x="762008" y="3739592"/>
                <a:ext cx="2038500" cy="440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rPr>
                  <a:t>40 son la competencia genérica institucional, presente en 40 matrices.</a:t>
                </a:r>
                <a:endParaRPr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grpSp>
          <p:nvGrpSpPr>
            <p:cNvPr id="411" name="Google Shape;411;p21"/>
            <p:cNvGrpSpPr/>
            <p:nvPr/>
          </p:nvGrpSpPr>
          <p:grpSpPr>
            <a:xfrm>
              <a:off x="3181773" y="3468587"/>
              <a:ext cx="748808" cy="748800"/>
              <a:chOff x="3181773" y="3468587"/>
              <a:chExt cx="748808" cy="748800"/>
            </a:xfrm>
          </p:grpSpPr>
        </p:grpSp>
      </p:grpSp>
      <p:grpSp>
        <p:nvGrpSpPr>
          <p:cNvPr id="414" name="Google Shape;414;p21"/>
          <p:cNvGrpSpPr/>
          <p:nvPr/>
        </p:nvGrpSpPr>
        <p:grpSpPr>
          <a:xfrm>
            <a:off x="5166485" y="3468587"/>
            <a:ext cx="3215519" cy="748800"/>
            <a:chOff x="5166485" y="3468587"/>
            <a:chExt cx="3215519" cy="748800"/>
          </a:xfrm>
        </p:grpSpPr>
        <p:grpSp>
          <p:nvGrpSpPr>
            <p:cNvPr id="415" name="Google Shape;415;p21"/>
            <p:cNvGrpSpPr/>
            <p:nvPr/>
          </p:nvGrpSpPr>
          <p:grpSpPr>
            <a:xfrm>
              <a:off x="6343500" y="3505603"/>
              <a:ext cx="2038504" cy="674689"/>
              <a:chOff x="6343500" y="3505603"/>
              <a:chExt cx="2038504" cy="674689"/>
            </a:xfrm>
          </p:grpSpPr>
          <p:sp>
            <p:nvSpPr>
              <p:cNvPr id="416" name="Google Shape;416;p21"/>
              <p:cNvSpPr txBox="1"/>
              <p:nvPr/>
            </p:nvSpPr>
            <p:spPr>
              <a:xfrm>
                <a:off x="6343500" y="3505603"/>
                <a:ext cx="2038500" cy="253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400">
                    <a:solidFill>
                      <a:schemeClr val="accent4"/>
                    </a:solidFill>
                    <a:latin typeface="Fira Sans Extra Condensed Medium"/>
                    <a:ea typeface="Fira Sans Extra Condensed Medium"/>
                    <a:cs typeface="Fira Sans Extra Condensed Medium"/>
                    <a:sym typeface="Fira Sans Extra Condensed Medium"/>
                  </a:rPr>
                  <a:t>Por qué 16,0 %</a:t>
                </a:r>
                <a:endParaRPr sz="1800">
                  <a:solidFill>
                    <a:schemeClr val="accent4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endParaRPr>
              </a:p>
            </p:txBody>
          </p:sp>
          <p:sp>
            <p:nvSpPr>
              <p:cNvPr id="417" name="Google Shape;417;p21"/>
              <p:cNvSpPr txBox="1"/>
              <p:nvPr/>
            </p:nvSpPr>
            <p:spPr>
              <a:xfrm>
                <a:off x="6343504" y="3739592"/>
                <a:ext cx="2038500" cy="8229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rPr>
                  <a:t>El saber ser pesa 31,1 % en registros, pero cada RA se reutiliza en 3,4 competencias.</a:t>
                </a:r>
                <a:endParaRPr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grpSp>
          <p:nvGrpSpPr>
            <p:cNvPr id="418" name="Google Shape;418;p21"/>
            <p:cNvGrpSpPr/>
            <p:nvPr/>
          </p:nvGrpSpPr>
          <p:grpSpPr>
            <a:xfrm>
              <a:off x="5166485" y="3468587"/>
              <a:ext cx="748806" cy="748800"/>
              <a:chOff x="5166485" y="3468587"/>
              <a:chExt cx="748806" cy="748800"/>
            </a:xfrm>
          </p:grpSpPr>
        </p:grpSp>
      </p:grpSp>
      <p:grpSp>
        <p:nvGrpSpPr>
          <p:cNvPr id="421" name="Google Shape;421;p21"/>
          <p:cNvGrpSpPr/>
          <p:nvPr/>
        </p:nvGrpSpPr>
        <p:grpSpPr>
          <a:xfrm>
            <a:off x="5954625" y="1514893"/>
            <a:ext cx="2332898" cy="253503"/>
            <a:chOff x="5954625" y="1514893"/>
            <a:chExt cx="2332898" cy="253503"/>
          </a:xfrm>
        </p:grpSpPr>
        <p:sp>
          <p:nvSpPr>
            <p:cNvPr id="422" name="Google Shape;422;p21"/>
            <p:cNvSpPr/>
            <p:nvPr/>
          </p:nvSpPr>
          <p:spPr>
            <a:xfrm>
              <a:off x="8034023" y="1514896"/>
              <a:ext cx="253500" cy="253500"/>
            </a:xfrm>
            <a:prstGeom prst="ellipse">
              <a:avLst/>
            </a:prstGeom>
            <a:solidFill>
              <a:srgbClr val="002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23" name="Google Shape;423;p21"/>
            <p:cNvSpPr txBox="1"/>
            <p:nvPr/>
          </p:nvSpPr>
          <p:spPr>
            <a:xfrm>
              <a:off x="5954625" y="1514893"/>
              <a:ext cx="2038500" cy="253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Saber · 47,6 %</a:t>
              </a:r>
              <a:endPara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424" name="Google Shape;424;p21"/>
          <p:cNvGrpSpPr/>
          <p:nvPr/>
        </p:nvGrpSpPr>
        <p:grpSpPr>
          <a:xfrm>
            <a:off x="5954625" y="1902143"/>
            <a:ext cx="2332898" cy="253503"/>
            <a:chOff x="5954625" y="1902143"/>
            <a:chExt cx="2332898" cy="253503"/>
          </a:xfrm>
        </p:grpSpPr>
        <p:sp>
          <p:nvSpPr>
            <p:cNvPr id="425" name="Google Shape;425;p21"/>
            <p:cNvSpPr/>
            <p:nvPr/>
          </p:nvSpPr>
          <p:spPr>
            <a:xfrm>
              <a:off x="8034023" y="1902146"/>
              <a:ext cx="253500" cy="253500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26" name="Google Shape;426;p21"/>
            <p:cNvSpPr txBox="1"/>
            <p:nvPr/>
          </p:nvSpPr>
          <p:spPr>
            <a:xfrm>
              <a:off x="5954625" y="1902143"/>
              <a:ext cx="2038500" cy="253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Saber hacer · 36,4 %</a:t>
              </a:r>
              <a:endPara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427" name="Google Shape;427;p21"/>
          <p:cNvGrpSpPr/>
          <p:nvPr/>
        </p:nvGrpSpPr>
        <p:grpSpPr>
          <a:xfrm>
            <a:off x="5954625" y="2289393"/>
            <a:ext cx="2332898" cy="253503"/>
            <a:chOff x="5954625" y="2289393"/>
            <a:chExt cx="2332898" cy="253503"/>
          </a:xfrm>
        </p:grpSpPr>
        <p:sp>
          <p:nvSpPr>
            <p:cNvPr id="428" name="Google Shape;428;p21"/>
            <p:cNvSpPr/>
            <p:nvPr/>
          </p:nvSpPr>
          <p:spPr>
            <a:xfrm>
              <a:off x="8034023" y="2289396"/>
              <a:ext cx="253500" cy="253500"/>
            </a:xfrm>
            <a:prstGeom prst="ellipse">
              <a:avLst/>
            </a:prstGeom>
            <a:solidFill>
              <a:srgbClr val="B1C9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29" name="Google Shape;429;p21"/>
            <p:cNvSpPr txBox="1"/>
            <p:nvPr/>
          </p:nvSpPr>
          <p:spPr>
            <a:xfrm>
              <a:off x="5954625" y="2289393"/>
              <a:ext cx="2038500" cy="253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Saber ser · 16,0 %</a:t>
              </a:r>
              <a:endPara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430" name="Titulo"/>
          <p:cNvSpPr txBox="1"/>
          <p:nvPr/>
        </p:nvSpPr>
        <p:spPr>
          <a:xfrm>
            <a:off x="457200" y="256032"/>
            <a:ext cx="70408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2100" b="1">
                <a:solidFill>
                  <a:srgbClr val="002060"/>
                </a:solidFill>
                <a:latin typeface="Area Normal Trial Black"/>
              </a:rPr>
              <a:t>Taxonomías (1): el currículo formula más saber que actitud</a:t>
            </a:r>
          </a:p>
        </p:txBody>
      </p:sp>
      <p:sp>
        <p:nvSpPr>
          <p:cNvPr id="431" name="Segmento Saber"/>
          <p:cNvSpPr/>
          <p:nvPr/>
        </p:nvSpPr>
        <p:spPr>
          <a:xfrm>
            <a:off x="3127248" y="1408176"/>
            <a:ext cx="2889504" cy="2889504"/>
          </a:xfrm>
          <a:prstGeom prst="blockArc">
            <a:avLst>
              <a:gd name="adj1" fmla="val 16200000"/>
              <a:gd name="adj2" fmla="val 4881600"/>
              <a:gd name="adj3" fmla="val 25000"/>
            </a:avLst>
          </a:prstGeom>
          <a:solidFill>
            <a:srgbClr val="00206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2" name="Segmento Saber hacer"/>
          <p:cNvSpPr/>
          <p:nvPr/>
        </p:nvSpPr>
        <p:spPr>
          <a:xfrm>
            <a:off x="3127248" y="1408176"/>
            <a:ext cx="2889504" cy="2889504"/>
          </a:xfrm>
          <a:prstGeom prst="blockArc">
            <a:avLst>
              <a:gd name="adj1" fmla="val 4881600"/>
              <a:gd name="adj2" fmla="val 12743999"/>
              <a:gd name="adj3" fmla="val 25000"/>
            </a:avLst>
          </a:prstGeom>
          <a:solidFill>
            <a:srgbClr val="00B0F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3" name="Segmento Saber ser"/>
          <p:cNvSpPr/>
          <p:nvPr/>
        </p:nvSpPr>
        <p:spPr>
          <a:xfrm>
            <a:off x="3127248" y="1408176"/>
            <a:ext cx="2889504" cy="2889504"/>
          </a:xfrm>
          <a:prstGeom prst="blockArc">
            <a:avLst>
              <a:gd name="adj1" fmla="val 12743999"/>
              <a:gd name="adj2" fmla="val 16200000"/>
              <a:gd name="adj3" fmla="val 25000"/>
            </a:avLst>
          </a:prstGeom>
          <a:solidFill>
            <a:srgbClr val="B1C90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4" name="Centro"/>
          <p:cNvSpPr txBox="1"/>
          <p:nvPr/>
        </p:nvSpPr>
        <p:spPr>
          <a:xfrm>
            <a:off x="3886200" y="2578608"/>
            <a:ext cx="1371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>
                <a:solidFill>
                  <a:srgbClr val="002060"/>
                </a:solidFill>
                <a:latin typeface="Area Normal Trial Black"/>
              </a:rPr>
              <a:t>338</a:t>
            </a:r>
          </a:p>
          <a:p>
            <a:pPr algn="ctr">
              <a:spcAft>
                <a:spcPts val="0"/>
              </a:spcAft>
            </a:pPr>
            <a:r>
              <a:rPr sz="1050" b="0">
                <a:solidFill>
                  <a:srgbClr val="002060"/>
                </a:solidFill>
                <a:latin typeface="Area Normal Trial Light"/>
              </a:rPr>
              <a:t>RA únicos</a:t>
            </a:r>
          </a:p>
        </p:txBody>
      </p:sp>
      <p:pic>
        <p:nvPicPr>
          <p:cNvPr id="436" name="Logo POLI" descr="logo_sell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8120" y="256032"/>
            <a:ext cx="914400" cy="203200"/>
          </a:xfrm>
          <a:prstGeom prst="rect">
            <a:avLst/>
          </a:prstGeom>
        </p:spPr>
      </p:pic>
      <p:sp>
        <p:nvSpPr>
          <p:cNvPr id="437" name="Numero"/>
          <p:cNvSpPr txBox="1"/>
          <p:nvPr/>
        </p:nvSpPr>
        <p:spPr>
          <a:xfrm>
            <a:off x="320040" y="4727448"/>
            <a:ext cx="3657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002060"/>
                </a:solidFill>
                <a:latin typeface="Area Normal Trial Light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2" name="Fondo POLI" descr="bg_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grpSp>
        <p:nvGrpSpPr>
          <p:cNvPr id="670" name="Google Shape;670;p26"/>
          <p:cNvGrpSpPr/>
          <p:nvPr/>
        </p:nvGrpSpPr>
        <p:grpSpPr>
          <a:xfrm>
            <a:off x="4370471" y="1172738"/>
            <a:ext cx="2038508" cy="673402"/>
            <a:chOff x="4370471" y="1172738"/>
            <a:chExt cx="2038508" cy="673402"/>
          </a:xfrm>
        </p:grpSpPr>
        <p:sp>
          <p:nvSpPr>
            <p:cNvPr id="671" name="Google Shape;671;p26"/>
            <p:cNvSpPr txBox="1"/>
            <p:nvPr/>
          </p:nvSpPr>
          <p:spPr>
            <a:xfrm>
              <a:off x="4370480" y="1172738"/>
              <a:ext cx="2038500" cy="253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00">
                  <a:solidFill>
                    <a:schemeClr val="accent2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Matrices por taxonomía</a:t>
              </a:r>
              <a:endParaRPr sz="1800">
                <a:solidFill>
                  <a:schemeClr val="accen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672" name="Google Shape;672;p26"/>
            <p:cNvSpPr txBox="1"/>
            <p:nvPr/>
          </p:nvSpPr>
          <p:spPr>
            <a:xfrm>
              <a:off x="4370471" y="1405440"/>
              <a:ext cx="2038500" cy="44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26 usan ambas, 21 solo Bloom y 3 solo BAK.</a:t>
              </a:r>
              <a:endPara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673" name="Google Shape;673;p26"/>
          <p:cNvGrpSpPr/>
          <p:nvPr/>
        </p:nvGrpSpPr>
        <p:grpSpPr>
          <a:xfrm>
            <a:off x="4370471" y="2227091"/>
            <a:ext cx="2038508" cy="674689"/>
            <a:chOff x="4370471" y="2227091"/>
            <a:chExt cx="2038508" cy="674689"/>
          </a:xfrm>
        </p:grpSpPr>
        <p:sp>
          <p:nvSpPr>
            <p:cNvPr id="674" name="Google Shape;674;p26"/>
            <p:cNvSpPr txBox="1"/>
            <p:nvPr/>
          </p:nvSpPr>
          <p:spPr>
            <a:xfrm>
              <a:off x="4370471" y="2227091"/>
              <a:ext cx="2038500" cy="253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00">
                  <a:solidFill>
                    <a:schemeClr val="accent3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Escala común</a:t>
              </a:r>
              <a:endParaRPr sz="1800">
                <a:solidFill>
                  <a:schemeClr val="accent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675" name="Google Shape;675;p26"/>
            <p:cNvSpPr txBox="1"/>
            <p:nvPr/>
          </p:nvSpPr>
          <p:spPr>
            <a:xfrm>
              <a:off x="4370479" y="2461080"/>
              <a:ext cx="2038500" cy="44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Bloom y BAK se llevaron a una escala de 1 a 6.</a:t>
              </a:r>
              <a:endPara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676" name="Google Shape;676;p26"/>
          <p:cNvGrpSpPr/>
          <p:nvPr/>
        </p:nvGrpSpPr>
        <p:grpSpPr>
          <a:xfrm>
            <a:off x="6648300" y="2227090"/>
            <a:ext cx="2038504" cy="674689"/>
            <a:chOff x="6648300" y="2227090"/>
            <a:chExt cx="2038504" cy="674689"/>
          </a:xfrm>
        </p:grpSpPr>
        <p:sp>
          <p:nvSpPr>
            <p:cNvPr id="677" name="Google Shape;677;p26"/>
            <p:cNvSpPr txBox="1"/>
            <p:nvPr/>
          </p:nvSpPr>
          <p:spPr>
            <a:xfrm>
              <a:off x="6648300" y="2227090"/>
              <a:ext cx="2038500" cy="253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00">
                  <a:solidFill>
                    <a:schemeClr val="accent5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Cautela</a:t>
              </a:r>
              <a:endParaRPr sz="1800">
                <a:solidFill>
                  <a:schemeClr val="accent5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678" name="Google Shape;678;p26"/>
            <p:cNvSpPr txBox="1"/>
            <p:nvPr/>
          </p:nvSpPr>
          <p:spPr>
            <a:xfrm>
              <a:off x="6648304" y="2461079"/>
              <a:ext cx="2038500" cy="44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La exigencia solo se compara entre matrices del mismo nivel de formación.</a:t>
              </a:r>
              <a:endPara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679" name="Google Shape;679;p26"/>
          <p:cNvGrpSpPr/>
          <p:nvPr/>
        </p:nvGrpSpPr>
        <p:grpSpPr>
          <a:xfrm>
            <a:off x="6648300" y="1172738"/>
            <a:ext cx="2038502" cy="673402"/>
            <a:chOff x="6648300" y="1172738"/>
            <a:chExt cx="2038502" cy="673402"/>
          </a:xfrm>
        </p:grpSpPr>
        <p:sp>
          <p:nvSpPr>
            <p:cNvPr id="680" name="Google Shape;680;p26"/>
            <p:cNvSpPr txBox="1"/>
            <p:nvPr/>
          </p:nvSpPr>
          <p:spPr>
            <a:xfrm>
              <a:off x="6648300" y="1172738"/>
              <a:ext cx="2038500" cy="253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00">
                  <a:solidFill>
                    <a:schemeClr val="accent4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Nivel cognitivo</a:t>
              </a:r>
              <a:endParaRPr sz="1800">
                <a:solidFill>
                  <a:schemeClr val="accent4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681" name="Google Shape;681;p26"/>
            <p:cNvSpPr txBox="1"/>
            <p:nvPr/>
          </p:nvSpPr>
          <p:spPr>
            <a:xfrm>
              <a:off x="6648303" y="1405440"/>
              <a:ext cx="2038500" cy="44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Comprensión y Análisis concentran el 83 % de los RA cognitivos.</a:t>
              </a:r>
              <a:endPara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682" name="Google Shape;682;p26"/>
          <p:cNvGrpSpPr/>
          <p:nvPr/>
        </p:nvGrpSpPr>
        <p:grpSpPr>
          <a:xfrm>
            <a:off x="762000" y="3383875"/>
            <a:ext cx="3536602" cy="1140600"/>
            <a:chOff x="762000" y="3383875"/>
            <a:chExt cx="3536602" cy="1140600"/>
          </a:xfrm>
        </p:grpSpPr>
        <p:grpSp>
          <p:nvGrpSpPr>
            <p:cNvPr id="683" name="Google Shape;683;p26"/>
            <p:cNvGrpSpPr/>
            <p:nvPr/>
          </p:nvGrpSpPr>
          <p:grpSpPr>
            <a:xfrm>
              <a:off x="3157823" y="3383875"/>
              <a:ext cx="1140779" cy="1140600"/>
              <a:chOff x="3157823" y="3383875"/>
              <a:chExt cx="1140779" cy="1140600"/>
            </a:xfrm>
          </p:grpSpPr>
          <p:grpSp>
            <p:nvGrpSpPr>
              <p:cNvPr id="684" name="Google Shape;684;p26"/>
              <p:cNvGrpSpPr/>
              <p:nvPr/>
            </p:nvGrpSpPr>
            <p:grpSpPr>
              <a:xfrm>
                <a:off x="3157823" y="3383875"/>
                <a:ext cx="1140779" cy="1140600"/>
                <a:chOff x="3157823" y="3383875"/>
                <a:chExt cx="1140779" cy="1140600"/>
              </a:xfrm>
            </p:grpSpPr>
            <p:sp>
              <p:nvSpPr>
                <p:cNvPr id="685" name="Google Shape;685;p26"/>
                <p:cNvSpPr/>
                <p:nvPr/>
              </p:nvSpPr>
              <p:spPr>
                <a:xfrm>
                  <a:off x="3158002" y="3383875"/>
                  <a:ext cx="1140600" cy="1140600"/>
                </a:xfrm>
                <a:prstGeom prst="donut">
                  <a:avLst>
                    <a:gd name="adj" fmla="val 6802"/>
                  </a:avLst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86" name="Google Shape;686;p26"/>
                <p:cNvSpPr/>
                <p:nvPr/>
              </p:nvSpPr>
              <p:spPr>
                <a:xfrm flipH="1">
                  <a:off x="3157823" y="3384084"/>
                  <a:ext cx="1140600" cy="1140000"/>
                </a:xfrm>
                <a:prstGeom prst="blockArc">
                  <a:avLst>
                    <a:gd name="adj1" fmla="val 5724076"/>
                    <a:gd name="adj2" fmla="val 16200076"/>
                    <a:gd name="adj3" fmla="val 6826"/>
                  </a:avLst>
                </a:prstGeom>
                <a:gradFill>
                  <a:gsLst>
                    <a:gs pos="0">
                      <a:srgbClr val="00B0F0"/>
                    </a:gs>
                    <a:gs pos="100000">
                      <a:srgbClr val="002060"/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687" name="Google Shape;687;p26"/>
              <p:cNvSpPr txBox="1"/>
              <p:nvPr/>
            </p:nvSpPr>
            <p:spPr>
              <a:xfrm>
                <a:off x="3239613" y="3708725"/>
                <a:ext cx="977400" cy="490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500">
                    <a:solidFill>
                      <a:schemeClr val="accent1"/>
                    </a:solidFill>
                    <a:latin typeface="Fira Sans Extra Condensed Medium"/>
                    <a:ea typeface="Fira Sans Extra Condensed Medium"/>
                    <a:cs typeface="Fira Sans Extra Condensed Medium"/>
                    <a:sym typeface="Fira Sans Extra Condensed Medium"/>
                  </a:rPr>
                  <a:t>48,5 %</a:t>
                </a:r>
                <a:endParaRPr sz="2500">
                  <a:solidFill>
                    <a:schemeClr val="accent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endParaRPr>
              </a:p>
            </p:txBody>
          </p:sp>
        </p:grpSp>
        <p:grpSp>
          <p:nvGrpSpPr>
            <p:cNvPr id="688" name="Google Shape;688;p26"/>
            <p:cNvGrpSpPr/>
            <p:nvPr/>
          </p:nvGrpSpPr>
          <p:grpSpPr>
            <a:xfrm>
              <a:off x="762000" y="3458538"/>
              <a:ext cx="2238000" cy="991074"/>
              <a:chOff x="762000" y="3458538"/>
              <a:chExt cx="2238000" cy="991074"/>
            </a:xfrm>
          </p:grpSpPr>
          <p:sp>
            <p:nvSpPr>
              <p:cNvPr id="689" name="Google Shape;689;p26"/>
              <p:cNvSpPr txBox="1"/>
              <p:nvPr/>
            </p:nvSpPr>
            <p:spPr>
              <a:xfrm>
                <a:off x="762000" y="3458538"/>
                <a:ext cx="2238000" cy="401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2000">
                    <a:solidFill>
                      <a:schemeClr val="accent2"/>
                    </a:solidFill>
                    <a:latin typeface="Fira Sans Extra Condensed Medium"/>
                    <a:ea typeface="Fira Sans Extra Condensed Medium"/>
                    <a:cs typeface="Fira Sans Extra Condensed Medium"/>
                    <a:sym typeface="Fira Sans Extra Condensed Medium"/>
                  </a:rPr>
                  <a:t>Bloom</a:t>
                </a:r>
                <a:endParaRPr sz="2400">
                  <a:solidFill>
                    <a:schemeClr val="accent2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endParaRPr>
              </a:p>
            </p:txBody>
          </p:sp>
          <p:sp>
            <p:nvSpPr>
              <p:cNvPr id="690" name="Google Shape;690;p26"/>
              <p:cNvSpPr txBox="1"/>
              <p:nvPr/>
            </p:nvSpPr>
            <p:spPr>
              <a:xfrm>
                <a:off x="762000" y="3810012"/>
                <a:ext cx="2238000" cy="639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rPr>
                  <a:t>164 RA únicos</a:t>
                </a:r>
                <a:endParaRPr sz="13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</p:grpSp>
      <p:grpSp>
        <p:nvGrpSpPr>
          <p:cNvPr id="691" name="Google Shape;691;p26"/>
          <p:cNvGrpSpPr/>
          <p:nvPr/>
        </p:nvGrpSpPr>
        <p:grpSpPr>
          <a:xfrm>
            <a:off x="4845248" y="3383875"/>
            <a:ext cx="3536752" cy="1140600"/>
            <a:chOff x="4845248" y="3383875"/>
            <a:chExt cx="3536752" cy="1140600"/>
          </a:xfrm>
        </p:grpSpPr>
        <p:grpSp>
          <p:nvGrpSpPr>
            <p:cNvPr id="692" name="Google Shape;692;p26"/>
            <p:cNvGrpSpPr/>
            <p:nvPr/>
          </p:nvGrpSpPr>
          <p:grpSpPr>
            <a:xfrm>
              <a:off x="4845248" y="3383875"/>
              <a:ext cx="1140779" cy="1140600"/>
              <a:chOff x="4845248" y="3383875"/>
              <a:chExt cx="1140779" cy="1140600"/>
            </a:xfrm>
          </p:grpSpPr>
          <p:grpSp>
            <p:nvGrpSpPr>
              <p:cNvPr id="693" name="Google Shape;693;p26"/>
              <p:cNvGrpSpPr/>
              <p:nvPr/>
            </p:nvGrpSpPr>
            <p:grpSpPr>
              <a:xfrm>
                <a:off x="4845248" y="3383875"/>
                <a:ext cx="1140779" cy="1140600"/>
                <a:chOff x="4845248" y="3383875"/>
                <a:chExt cx="1140779" cy="1140600"/>
              </a:xfrm>
            </p:grpSpPr>
            <p:sp>
              <p:nvSpPr>
                <p:cNvPr id="694" name="Google Shape;694;p26"/>
                <p:cNvSpPr/>
                <p:nvPr/>
              </p:nvSpPr>
              <p:spPr>
                <a:xfrm>
                  <a:off x="4845427" y="3383875"/>
                  <a:ext cx="1140600" cy="1140600"/>
                </a:xfrm>
                <a:prstGeom prst="donut">
                  <a:avLst>
                    <a:gd name="adj" fmla="val 6802"/>
                  </a:avLst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95" name="Google Shape;695;p26"/>
                <p:cNvSpPr/>
                <p:nvPr/>
              </p:nvSpPr>
              <p:spPr>
                <a:xfrm flipH="1">
                  <a:off x="4845248" y="3384084"/>
                  <a:ext cx="1140600" cy="1140000"/>
                </a:xfrm>
                <a:prstGeom prst="blockArc">
                  <a:avLst>
                    <a:gd name="adj1" fmla="val 5076076"/>
                    <a:gd name="adj2" fmla="val 16200076"/>
                    <a:gd name="adj3" fmla="val 6826"/>
                  </a:avLst>
                </a:prstGeom>
                <a:gradFill>
                  <a:gsLst>
                    <a:gs pos="0">
                      <a:srgbClr val="D5E66A"/>
                    </a:gs>
                    <a:gs pos="100000">
                      <a:srgbClr val="B1C900"/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696" name="Google Shape;696;p26"/>
              <p:cNvSpPr txBox="1"/>
              <p:nvPr/>
            </p:nvSpPr>
            <p:spPr>
              <a:xfrm>
                <a:off x="4927038" y="3708725"/>
                <a:ext cx="977400" cy="490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500">
                    <a:solidFill>
                      <a:schemeClr val="accent5"/>
                    </a:solidFill>
                    <a:latin typeface="Fira Sans Extra Condensed Medium"/>
                    <a:ea typeface="Fira Sans Extra Condensed Medium"/>
                    <a:cs typeface="Fira Sans Extra Condensed Medium"/>
                    <a:sym typeface="Fira Sans Extra Condensed Medium"/>
                  </a:rPr>
                  <a:t>51,5 %</a:t>
                </a:r>
                <a:endParaRPr sz="2500">
                  <a:solidFill>
                    <a:schemeClr val="accent5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endParaRPr>
              </a:p>
            </p:txBody>
          </p:sp>
        </p:grpSp>
        <p:grpSp>
          <p:nvGrpSpPr>
            <p:cNvPr id="697" name="Google Shape;697;p26"/>
            <p:cNvGrpSpPr/>
            <p:nvPr/>
          </p:nvGrpSpPr>
          <p:grpSpPr>
            <a:xfrm>
              <a:off x="6144000" y="3458538"/>
              <a:ext cx="2238000" cy="991074"/>
              <a:chOff x="6144000" y="3458538"/>
              <a:chExt cx="2238000" cy="991074"/>
            </a:xfrm>
          </p:grpSpPr>
          <p:sp>
            <p:nvSpPr>
              <p:cNvPr id="698" name="Google Shape;698;p26"/>
              <p:cNvSpPr txBox="1"/>
              <p:nvPr/>
            </p:nvSpPr>
            <p:spPr>
              <a:xfrm>
                <a:off x="6144000" y="3458538"/>
                <a:ext cx="2238000" cy="401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2000">
                    <a:solidFill>
                      <a:schemeClr val="accent5"/>
                    </a:solidFill>
                    <a:latin typeface="Fira Sans Extra Condensed Medium"/>
                    <a:ea typeface="Fira Sans Extra Condensed Medium"/>
                    <a:cs typeface="Fira Sans Extra Condensed Medium"/>
                    <a:sym typeface="Fira Sans Extra Condensed Medium"/>
                  </a:rPr>
                  <a:t>BAK</a:t>
                </a:r>
                <a:endParaRPr sz="2400">
                  <a:solidFill>
                    <a:schemeClr val="accent5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endParaRPr>
              </a:p>
            </p:txBody>
          </p:sp>
          <p:sp>
            <p:nvSpPr>
              <p:cNvPr id="699" name="Google Shape;699;p26"/>
              <p:cNvSpPr txBox="1"/>
              <p:nvPr/>
            </p:nvSpPr>
            <p:spPr>
              <a:xfrm>
                <a:off x="6144000" y="3810012"/>
                <a:ext cx="2238000" cy="639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rPr>
                  <a:t>174 RA únicos</a:t>
                </a:r>
                <a:endParaRPr sz="13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</p:grpSp>
      <p:sp>
        <p:nvSpPr>
          <p:cNvPr id="719" name="Titulo"/>
          <p:cNvSpPr txBox="1"/>
          <p:nvPr/>
        </p:nvSpPr>
        <p:spPr>
          <a:xfrm>
            <a:off x="457200" y="256032"/>
            <a:ext cx="70408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2100" b="1">
                <a:solidFill>
                  <a:srgbClr val="002060"/>
                </a:solidFill>
                <a:latin typeface="Area Normal Trial Black"/>
              </a:rPr>
              <a:t>Taxonomías (2): dos escalas, una comparación común</a:t>
            </a:r>
          </a:p>
        </p:txBody>
      </p:sp>
      <p:graphicFrame>
        <p:nvGraphicFramePr>
          <p:cNvPr id="720" name="Chart 719"/>
          <p:cNvGraphicFramePr>
            <a:graphicFrameLocks noGrp="1"/>
          </p:cNvGraphicFramePr>
          <p:nvPr/>
        </p:nvGraphicFramePr>
        <p:xfrm>
          <a:off x="411480" y="1188720"/>
          <a:ext cx="3749039" cy="2057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21" name="Titulo grafico"/>
          <p:cNvSpPr txBox="1"/>
          <p:nvPr/>
        </p:nvSpPr>
        <p:spPr>
          <a:xfrm>
            <a:off x="502920" y="1024128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002060"/>
                </a:solidFill>
                <a:latin typeface="Area Normal Trial Black"/>
              </a:rPr>
              <a:t>Nivel cognitivo de los RA (n = 161)</a:t>
            </a:r>
          </a:p>
        </p:txBody>
      </p:sp>
      <p:pic>
        <p:nvPicPr>
          <p:cNvPr id="723" name="Logo POLI" descr="logo_sell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18120" y="256032"/>
            <a:ext cx="914400" cy="203200"/>
          </a:xfrm>
          <a:prstGeom prst="rect">
            <a:avLst/>
          </a:prstGeom>
        </p:spPr>
      </p:pic>
      <p:sp>
        <p:nvSpPr>
          <p:cNvPr id="724" name="Numero"/>
          <p:cNvSpPr txBox="1"/>
          <p:nvPr/>
        </p:nvSpPr>
        <p:spPr>
          <a:xfrm>
            <a:off x="8458200" y="4727448"/>
            <a:ext cx="3657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002060"/>
                </a:solidFill>
                <a:latin typeface="Area Normal Trial Light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Fondo POLI" descr="bg_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grpSp>
        <p:nvGrpSpPr>
          <p:cNvPr id="55" name="Google Shape;55;p15"/>
          <p:cNvGrpSpPr/>
          <p:nvPr/>
        </p:nvGrpSpPr>
        <p:grpSpPr>
          <a:xfrm>
            <a:off x="4080463" y="1761602"/>
            <a:ext cx="3033183" cy="624803"/>
            <a:chOff x="4080463" y="1761602"/>
            <a:chExt cx="3033183" cy="624803"/>
          </a:xfrm>
        </p:grpSpPr>
        <p:sp>
          <p:nvSpPr>
            <p:cNvPr id="56" name="Google Shape;56;p15"/>
            <p:cNvSpPr/>
            <p:nvPr/>
          </p:nvSpPr>
          <p:spPr>
            <a:xfrm>
              <a:off x="5314288" y="1899400"/>
              <a:ext cx="856025" cy="117650"/>
            </a:xfrm>
            <a:custGeom>
              <a:avLst/>
              <a:gdLst/>
              <a:ahLst/>
              <a:cxnLst/>
              <a:rect l="l" t="t" r="r" b="b"/>
              <a:pathLst>
                <a:path w="34241" h="4706" extrusionOk="0">
                  <a:moveTo>
                    <a:pt x="0" y="0"/>
                  </a:moveTo>
                  <a:lnTo>
                    <a:pt x="16676" y="0"/>
                  </a:lnTo>
                  <a:lnTo>
                    <a:pt x="34241" y="4706"/>
                  </a:lnTo>
                </a:path>
              </a:pathLst>
            </a:cu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57" name="Google Shape;57;p15"/>
            <p:cNvSpPr/>
            <p:nvPr/>
          </p:nvSpPr>
          <p:spPr>
            <a:xfrm>
              <a:off x="6141413" y="1829472"/>
              <a:ext cx="90217" cy="498041"/>
            </a:xfrm>
            <a:custGeom>
              <a:avLst/>
              <a:gdLst/>
              <a:ahLst/>
              <a:cxnLst/>
              <a:rect l="l" t="t" r="r" b="b"/>
              <a:pathLst>
                <a:path w="2918" h="16110" extrusionOk="0">
                  <a:moveTo>
                    <a:pt x="2918" y="0"/>
                  </a:moveTo>
                  <a:cubicBezTo>
                    <a:pt x="2918" y="0"/>
                    <a:pt x="1715" y="1036"/>
                    <a:pt x="858" y="1846"/>
                  </a:cubicBezTo>
                  <a:cubicBezTo>
                    <a:pt x="1" y="2655"/>
                    <a:pt x="1" y="4048"/>
                    <a:pt x="1" y="4048"/>
                  </a:cubicBezTo>
                  <a:lnTo>
                    <a:pt x="1" y="12121"/>
                  </a:lnTo>
                  <a:cubicBezTo>
                    <a:pt x="1" y="12657"/>
                    <a:pt x="203" y="13157"/>
                    <a:pt x="572" y="13526"/>
                  </a:cubicBezTo>
                  <a:cubicBezTo>
                    <a:pt x="799" y="13764"/>
                    <a:pt x="1108" y="14026"/>
                    <a:pt x="1453" y="14252"/>
                  </a:cubicBezTo>
                  <a:cubicBezTo>
                    <a:pt x="2358" y="14835"/>
                    <a:pt x="2918" y="16109"/>
                    <a:pt x="2918" y="16109"/>
                  </a:cubicBezTo>
                  <a:lnTo>
                    <a:pt x="2918" y="0"/>
                  </a:lnTo>
                  <a:close/>
                </a:path>
              </a:pathLst>
            </a:custGeom>
            <a:solidFill>
              <a:srgbClr val="00B0F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15"/>
            <p:cNvSpPr/>
            <p:nvPr/>
          </p:nvSpPr>
          <p:spPr>
            <a:xfrm>
              <a:off x="6231600" y="1770579"/>
              <a:ext cx="882045" cy="615827"/>
            </a:xfrm>
            <a:custGeom>
              <a:avLst/>
              <a:gdLst/>
              <a:ahLst/>
              <a:cxnLst/>
              <a:rect l="l" t="t" r="r" b="b"/>
              <a:pathLst>
                <a:path w="28529" h="19920" extrusionOk="0">
                  <a:moveTo>
                    <a:pt x="1" y="0"/>
                  </a:moveTo>
                  <a:lnTo>
                    <a:pt x="1" y="19919"/>
                  </a:lnTo>
                  <a:lnTo>
                    <a:pt x="28528" y="19919"/>
                  </a:lnTo>
                  <a:lnTo>
                    <a:pt x="19110" y="0"/>
                  </a:lnTo>
                  <a:close/>
                </a:path>
              </a:pathLst>
            </a:custGeom>
            <a:solidFill>
              <a:srgbClr val="00B0F0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15"/>
            <p:cNvSpPr/>
            <p:nvPr/>
          </p:nvSpPr>
          <p:spPr>
            <a:xfrm>
              <a:off x="4080463" y="1761602"/>
              <a:ext cx="1236000" cy="2712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5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N4 Transfer. · 0</a:t>
              </a:r>
              <a:endParaRPr>
                <a:solidFill>
                  <a:srgbClr val="FFFFFF"/>
                </a:solidFill>
              </a:endParaRPr>
            </a:p>
          </p:txBody>
        </p:sp>
        <p:grpSp>
          <p:nvGrpSpPr>
            <p:cNvPr id="60" name="Google Shape;60;p15"/>
            <p:cNvGrpSpPr/>
            <p:nvPr/>
          </p:nvGrpSpPr>
          <p:grpSpPr>
            <a:xfrm>
              <a:off x="6384017" y="1899409"/>
              <a:ext cx="358099" cy="358099"/>
              <a:chOff x="-57568775" y="3198925"/>
              <a:chExt cx="318225" cy="318225"/>
            </a:xfrm>
          </p:grpSpPr>
          <p:sp>
            <p:nvSpPr>
              <p:cNvPr id="61" name="Google Shape;61;p15"/>
              <p:cNvSpPr/>
              <p:nvPr/>
            </p:nvSpPr>
            <p:spPr>
              <a:xfrm>
                <a:off x="-57530950" y="3373775"/>
                <a:ext cx="18125" cy="64600"/>
              </a:xfrm>
              <a:custGeom>
                <a:avLst/>
                <a:gdLst/>
                <a:ahLst/>
                <a:cxnLst/>
                <a:rect l="l" t="t" r="r" b="b"/>
                <a:pathLst>
                  <a:path w="725" h="2584" extrusionOk="0">
                    <a:moveTo>
                      <a:pt x="725" y="0"/>
                    </a:moveTo>
                    <a:cubicBezTo>
                      <a:pt x="315" y="284"/>
                      <a:pt x="0" y="725"/>
                      <a:pt x="0" y="1261"/>
                    </a:cubicBezTo>
                    <a:lnTo>
                      <a:pt x="0" y="1324"/>
                    </a:lnTo>
                    <a:cubicBezTo>
                      <a:pt x="0" y="1859"/>
                      <a:pt x="315" y="2332"/>
                      <a:pt x="725" y="2584"/>
                    </a:cubicBezTo>
                    <a:lnTo>
                      <a:pt x="725" y="1576"/>
                    </a:lnTo>
                    <a:lnTo>
                      <a:pt x="72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" name="Google Shape;62;p15"/>
              <p:cNvSpPr/>
              <p:nvPr/>
            </p:nvSpPr>
            <p:spPr>
              <a:xfrm>
                <a:off x="-57568775" y="3406850"/>
                <a:ext cx="99275" cy="110300"/>
              </a:xfrm>
              <a:custGeom>
                <a:avLst/>
                <a:gdLst/>
                <a:ahLst/>
                <a:cxnLst/>
                <a:rect l="l" t="t" r="r" b="b"/>
                <a:pathLst>
                  <a:path w="3971" h="4412" extrusionOk="0">
                    <a:moveTo>
                      <a:pt x="757" y="1"/>
                    </a:moveTo>
                    <a:cubicBezTo>
                      <a:pt x="285" y="473"/>
                      <a:pt x="1" y="1103"/>
                      <a:pt x="1" y="1796"/>
                    </a:cubicBezTo>
                    <a:cubicBezTo>
                      <a:pt x="1" y="3246"/>
                      <a:pt x="1198" y="4411"/>
                      <a:pt x="2616" y="4411"/>
                    </a:cubicBezTo>
                    <a:cubicBezTo>
                      <a:pt x="3120" y="4411"/>
                      <a:pt x="3561" y="4254"/>
                      <a:pt x="3971" y="4002"/>
                    </a:cubicBezTo>
                    <a:cubicBezTo>
                      <a:pt x="3435" y="3561"/>
                      <a:pt x="2994" y="2962"/>
                      <a:pt x="2710" y="2363"/>
                    </a:cubicBezTo>
                    <a:lnTo>
                      <a:pt x="1891" y="1891"/>
                    </a:lnTo>
                    <a:cubicBezTo>
                      <a:pt x="1230" y="1481"/>
                      <a:pt x="789" y="788"/>
                      <a:pt x="757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" name="Google Shape;63;p15"/>
              <p:cNvSpPr/>
              <p:nvPr/>
            </p:nvSpPr>
            <p:spPr>
              <a:xfrm>
                <a:off x="-57494725" y="3254850"/>
                <a:ext cx="207175" cy="262300"/>
              </a:xfrm>
              <a:custGeom>
                <a:avLst/>
                <a:gdLst/>
                <a:ahLst/>
                <a:cxnLst/>
                <a:rect l="l" t="t" r="r" b="b"/>
                <a:pathLst>
                  <a:path w="8287" h="10492" extrusionOk="0">
                    <a:moveTo>
                      <a:pt x="2647" y="5293"/>
                    </a:moveTo>
                    <a:cubicBezTo>
                      <a:pt x="2836" y="5293"/>
                      <a:pt x="2993" y="5451"/>
                      <a:pt x="2993" y="5640"/>
                    </a:cubicBezTo>
                    <a:cubicBezTo>
                      <a:pt x="2993" y="5829"/>
                      <a:pt x="2836" y="5986"/>
                      <a:pt x="2647" y="5986"/>
                    </a:cubicBezTo>
                    <a:cubicBezTo>
                      <a:pt x="2628" y="5989"/>
                      <a:pt x="2609" y="5990"/>
                      <a:pt x="2592" y="5990"/>
                    </a:cubicBezTo>
                    <a:cubicBezTo>
                      <a:pt x="2400" y="5990"/>
                      <a:pt x="2269" y="5841"/>
                      <a:pt x="2269" y="5640"/>
                    </a:cubicBezTo>
                    <a:cubicBezTo>
                      <a:pt x="2269" y="5451"/>
                      <a:pt x="2426" y="5293"/>
                      <a:pt x="2647" y="5293"/>
                    </a:cubicBezTo>
                    <a:close/>
                    <a:moveTo>
                      <a:pt x="5640" y="5324"/>
                    </a:moveTo>
                    <a:cubicBezTo>
                      <a:pt x="5829" y="5324"/>
                      <a:pt x="5986" y="5482"/>
                      <a:pt x="5986" y="5671"/>
                    </a:cubicBezTo>
                    <a:cubicBezTo>
                      <a:pt x="6018" y="5860"/>
                      <a:pt x="5860" y="6018"/>
                      <a:pt x="5640" y="6018"/>
                    </a:cubicBezTo>
                    <a:cubicBezTo>
                      <a:pt x="5419" y="6018"/>
                      <a:pt x="5262" y="5860"/>
                      <a:pt x="5262" y="5671"/>
                    </a:cubicBezTo>
                    <a:cubicBezTo>
                      <a:pt x="5262" y="5482"/>
                      <a:pt x="5419" y="5324"/>
                      <a:pt x="5640" y="5324"/>
                    </a:cubicBezTo>
                    <a:close/>
                    <a:moveTo>
                      <a:pt x="5191" y="7845"/>
                    </a:moveTo>
                    <a:cubicBezTo>
                      <a:pt x="5285" y="7845"/>
                      <a:pt x="5372" y="7876"/>
                      <a:pt x="5419" y="7939"/>
                    </a:cubicBezTo>
                    <a:cubicBezTo>
                      <a:pt x="5640" y="8065"/>
                      <a:pt x="5640" y="8317"/>
                      <a:pt x="5482" y="8475"/>
                    </a:cubicBezTo>
                    <a:cubicBezTo>
                      <a:pt x="5104" y="8822"/>
                      <a:pt x="4632" y="9011"/>
                      <a:pt x="4128" y="9011"/>
                    </a:cubicBezTo>
                    <a:cubicBezTo>
                      <a:pt x="3624" y="9011"/>
                      <a:pt x="3151" y="8822"/>
                      <a:pt x="2836" y="8475"/>
                    </a:cubicBezTo>
                    <a:cubicBezTo>
                      <a:pt x="2678" y="8317"/>
                      <a:pt x="2678" y="8065"/>
                      <a:pt x="2836" y="7939"/>
                    </a:cubicBezTo>
                    <a:cubicBezTo>
                      <a:pt x="2915" y="7876"/>
                      <a:pt x="3009" y="7845"/>
                      <a:pt x="3100" y="7845"/>
                    </a:cubicBezTo>
                    <a:cubicBezTo>
                      <a:pt x="3190" y="7845"/>
                      <a:pt x="3277" y="7876"/>
                      <a:pt x="3340" y="7939"/>
                    </a:cubicBezTo>
                    <a:cubicBezTo>
                      <a:pt x="3561" y="8160"/>
                      <a:pt x="3844" y="8270"/>
                      <a:pt x="4128" y="8270"/>
                    </a:cubicBezTo>
                    <a:cubicBezTo>
                      <a:pt x="4411" y="8270"/>
                      <a:pt x="4695" y="8160"/>
                      <a:pt x="4915" y="7939"/>
                    </a:cubicBezTo>
                    <a:cubicBezTo>
                      <a:pt x="4994" y="7876"/>
                      <a:pt x="5096" y="7845"/>
                      <a:pt x="5191" y="7845"/>
                    </a:cubicBezTo>
                    <a:close/>
                    <a:moveTo>
                      <a:pt x="1796" y="0"/>
                    </a:moveTo>
                    <a:cubicBezTo>
                      <a:pt x="1670" y="126"/>
                      <a:pt x="1135" y="504"/>
                      <a:pt x="1072" y="630"/>
                    </a:cubicBezTo>
                    <a:cubicBezTo>
                      <a:pt x="442" y="1260"/>
                      <a:pt x="0" y="2363"/>
                      <a:pt x="0" y="3403"/>
                    </a:cubicBezTo>
                    <a:lnTo>
                      <a:pt x="0" y="6396"/>
                    </a:lnTo>
                    <a:cubicBezTo>
                      <a:pt x="0" y="8632"/>
                      <a:pt x="1859" y="10491"/>
                      <a:pt x="4128" y="10491"/>
                    </a:cubicBezTo>
                    <a:cubicBezTo>
                      <a:pt x="6427" y="10491"/>
                      <a:pt x="8286" y="8632"/>
                      <a:pt x="8286" y="6396"/>
                    </a:cubicBezTo>
                    <a:lnTo>
                      <a:pt x="8286" y="4505"/>
                    </a:lnTo>
                    <a:cubicBezTo>
                      <a:pt x="8157" y="4513"/>
                      <a:pt x="8028" y="4517"/>
                      <a:pt x="7899" y="4517"/>
                    </a:cubicBezTo>
                    <a:cubicBezTo>
                      <a:pt x="6396" y="4517"/>
                      <a:pt x="4939" y="4009"/>
                      <a:pt x="3750" y="2993"/>
                    </a:cubicBezTo>
                    <a:cubicBezTo>
                      <a:pt x="2804" y="2206"/>
                      <a:pt x="2174" y="1103"/>
                      <a:pt x="179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" name="Google Shape;64;p15"/>
              <p:cNvSpPr/>
              <p:nvPr/>
            </p:nvSpPr>
            <p:spPr>
              <a:xfrm>
                <a:off x="-57269475" y="3372975"/>
                <a:ext cx="18925" cy="63825"/>
              </a:xfrm>
              <a:custGeom>
                <a:avLst/>
                <a:gdLst/>
                <a:ahLst/>
                <a:cxnLst/>
                <a:rect l="l" t="t" r="r" b="b"/>
                <a:pathLst>
                  <a:path w="757" h="2553" extrusionOk="0">
                    <a:moveTo>
                      <a:pt x="1" y="1"/>
                    </a:moveTo>
                    <a:lnTo>
                      <a:pt x="1" y="2553"/>
                    </a:lnTo>
                    <a:cubicBezTo>
                      <a:pt x="442" y="2301"/>
                      <a:pt x="757" y="1828"/>
                      <a:pt x="757" y="1261"/>
                    </a:cubicBezTo>
                    <a:cubicBezTo>
                      <a:pt x="757" y="757"/>
                      <a:pt x="473" y="284"/>
                      <a:pt x="1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" name="Google Shape;65;p15"/>
              <p:cNvSpPr/>
              <p:nvPr/>
            </p:nvSpPr>
            <p:spPr>
              <a:xfrm>
                <a:off x="-57436450" y="3198925"/>
                <a:ext cx="185900" cy="154400"/>
              </a:xfrm>
              <a:custGeom>
                <a:avLst/>
                <a:gdLst/>
                <a:ahLst/>
                <a:cxnLst/>
                <a:rect l="l" t="t" r="r" b="b"/>
                <a:pathLst>
                  <a:path w="7436" h="6176" extrusionOk="0">
                    <a:moveTo>
                      <a:pt x="1828" y="0"/>
                    </a:moveTo>
                    <a:cubicBezTo>
                      <a:pt x="1198" y="0"/>
                      <a:pt x="568" y="126"/>
                      <a:pt x="1" y="315"/>
                    </a:cubicBezTo>
                    <a:cubicBezTo>
                      <a:pt x="1" y="977"/>
                      <a:pt x="127" y="1639"/>
                      <a:pt x="316" y="2237"/>
                    </a:cubicBezTo>
                    <a:cubicBezTo>
                      <a:pt x="631" y="3151"/>
                      <a:pt x="1167" y="3970"/>
                      <a:pt x="1923" y="4600"/>
                    </a:cubicBezTo>
                    <a:cubicBezTo>
                      <a:pt x="2710" y="5262"/>
                      <a:pt x="3655" y="5734"/>
                      <a:pt x="4632" y="5892"/>
                    </a:cubicBezTo>
                    <a:cubicBezTo>
                      <a:pt x="5073" y="5976"/>
                      <a:pt x="5262" y="5976"/>
                      <a:pt x="5507" y="5976"/>
                    </a:cubicBezTo>
                    <a:lnTo>
                      <a:pt x="5507" y="5976"/>
                    </a:lnTo>
                    <a:cubicBezTo>
                      <a:pt x="5630" y="5976"/>
                      <a:pt x="5766" y="5976"/>
                      <a:pt x="5955" y="5986"/>
                    </a:cubicBezTo>
                    <a:lnTo>
                      <a:pt x="6680" y="5986"/>
                    </a:lnTo>
                    <a:cubicBezTo>
                      <a:pt x="6963" y="5986"/>
                      <a:pt x="7215" y="6049"/>
                      <a:pt x="7436" y="6175"/>
                    </a:cubicBezTo>
                    <a:lnTo>
                      <a:pt x="7436" y="5671"/>
                    </a:lnTo>
                    <a:lnTo>
                      <a:pt x="7436" y="5640"/>
                    </a:lnTo>
                    <a:cubicBezTo>
                      <a:pt x="7436" y="2552"/>
                      <a:pt x="4916" y="0"/>
                      <a:pt x="182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" name="Google Shape;66;p15"/>
              <p:cNvSpPr/>
              <p:nvPr/>
            </p:nvSpPr>
            <p:spPr>
              <a:xfrm>
                <a:off x="-57532525" y="3215450"/>
                <a:ext cx="77975" cy="148900"/>
              </a:xfrm>
              <a:custGeom>
                <a:avLst/>
                <a:gdLst/>
                <a:ahLst/>
                <a:cxnLst/>
                <a:rect l="l" t="t" r="r" b="b"/>
                <a:pathLst>
                  <a:path w="3119" h="5956" extrusionOk="0">
                    <a:moveTo>
                      <a:pt x="3056" y="1"/>
                    </a:moveTo>
                    <a:cubicBezTo>
                      <a:pt x="1260" y="946"/>
                      <a:pt x="0" y="2836"/>
                      <a:pt x="0" y="5010"/>
                    </a:cubicBezTo>
                    <a:lnTo>
                      <a:pt x="0" y="5199"/>
                    </a:lnTo>
                    <a:lnTo>
                      <a:pt x="0" y="5955"/>
                    </a:lnTo>
                    <a:lnTo>
                      <a:pt x="63" y="5955"/>
                    </a:lnTo>
                    <a:cubicBezTo>
                      <a:pt x="158" y="5829"/>
                      <a:pt x="284" y="5766"/>
                      <a:pt x="410" y="5672"/>
                    </a:cubicBezTo>
                    <a:lnTo>
                      <a:pt x="788" y="5451"/>
                    </a:lnTo>
                    <a:lnTo>
                      <a:pt x="788" y="4601"/>
                    </a:lnTo>
                    <a:cubicBezTo>
                      <a:pt x="914" y="3088"/>
                      <a:pt x="1828" y="1576"/>
                      <a:pt x="3119" y="789"/>
                    </a:cubicBezTo>
                    <a:cubicBezTo>
                      <a:pt x="3088" y="505"/>
                      <a:pt x="3056" y="253"/>
                      <a:pt x="3056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67" name="Google Shape;67;p15"/>
          <p:cNvGrpSpPr/>
          <p:nvPr/>
        </p:nvGrpSpPr>
        <p:grpSpPr>
          <a:xfrm>
            <a:off x="4080463" y="3785246"/>
            <a:ext cx="4101445" cy="821597"/>
            <a:chOff x="4080463" y="3785246"/>
            <a:chExt cx="4101445" cy="821597"/>
          </a:xfrm>
        </p:grpSpPr>
        <p:sp>
          <p:nvSpPr>
            <p:cNvPr id="68" name="Google Shape;68;p15"/>
            <p:cNvSpPr/>
            <p:nvPr/>
          </p:nvSpPr>
          <p:spPr>
            <a:xfrm>
              <a:off x="5314288" y="3920850"/>
              <a:ext cx="856025" cy="117650"/>
            </a:xfrm>
            <a:custGeom>
              <a:avLst/>
              <a:gdLst/>
              <a:ahLst/>
              <a:cxnLst/>
              <a:rect l="l" t="t" r="r" b="b"/>
              <a:pathLst>
                <a:path w="34241" h="4706" extrusionOk="0">
                  <a:moveTo>
                    <a:pt x="0" y="0"/>
                  </a:moveTo>
                  <a:lnTo>
                    <a:pt x="16676" y="0"/>
                  </a:lnTo>
                  <a:lnTo>
                    <a:pt x="34241" y="4706"/>
                  </a:lnTo>
                </a:path>
              </a:pathLst>
            </a:cu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69" name="Google Shape;69;p15"/>
            <p:cNvSpPr/>
            <p:nvPr/>
          </p:nvSpPr>
          <p:spPr>
            <a:xfrm>
              <a:off x="6141413" y="3961013"/>
              <a:ext cx="90217" cy="498041"/>
            </a:xfrm>
            <a:custGeom>
              <a:avLst/>
              <a:gdLst/>
              <a:ahLst/>
              <a:cxnLst/>
              <a:rect l="l" t="t" r="r" b="b"/>
              <a:pathLst>
                <a:path w="2918" h="16110" extrusionOk="0">
                  <a:moveTo>
                    <a:pt x="2918" y="0"/>
                  </a:moveTo>
                  <a:cubicBezTo>
                    <a:pt x="2918" y="0"/>
                    <a:pt x="1715" y="1036"/>
                    <a:pt x="858" y="1846"/>
                  </a:cubicBezTo>
                  <a:cubicBezTo>
                    <a:pt x="1" y="2667"/>
                    <a:pt x="1" y="4048"/>
                    <a:pt x="1" y="4048"/>
                  </a:cubicBezTo>
                  <a:lnTo>
                    <a:pt x="1" y="12121"/>
                  </a:lnTo>
                  <a:cubicBezTo>
                    <a:pt x="1" y="12656"/>
                    <a:pt x="203" y="13157"/>
                    <a:pt x="572" y="13526"/>
                  </a:cubicBezTo>
                  <a:cubicBezTo>
                    <a:pt x="799" y="13764"/>
                    <a:pt x="1108" y="14026"/>
                    <a:pt x="1453" y="14252"/>
                  </a:cubicBezTo>
                  <a:cubicBezTo>
                    <a:pt x="2358" y="14835"/>
                    <a:pt x="2918" y="16109"/>
                    <a:pt x="2918" y="16109"/>
                  </a:cubicBezTo>
                  <a:lnTo>
                    <a:pt x="2918" y="0"/>
                  </a:lnTo>
                  <a:close/>
                </a:path>
              </a:pathLst>
            </a:custGeom>
            <a:solidFill>
              <a:srgbClr val="15B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70;p15"/>
            <p:cNvSpPr/>
            <p:nvPr/>
          </p:nvSpPr>
          <p:spPr>
            <a:xfrm>
              <a:off x="6231600" y="3813224"/>
              <a:ext cx="1950307" cy="793619"/>
            </a:xfrm>
            <a:custGeom>
              <a:avLst/>
              <a:gdLst/>
              <a:ahLst/>
              <a:cxnLst/>
              <a:rect l="l" t="t" r="r" b="b"/>
              <a:pathLst>
                <a:path w="63081" h="25671" extrusionOk="0">
                  <a:moveTo>
                    <a:pt x="1" y="1"/>
                  </a:moveTo>
                  <a:lnTo>
                    <a:pt x="1" y="25671"/>
                  </a:lnTo>
                  <a:lnTo>
                    <a:pt x="63080" y="25671"/>
                  </a:lnTo>
                  <a:lnTo>
                    <a:pt x="50745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71;p15"/>
            <p:cNvSpPr/>
            <p:nvPr/>
          </p:nvSpPr>
          <p:spPr>
            <a:xfrm>
              <a:off x="4080463" y="3785246"/>
              <a:ext cx="1236000" cy="271200"/>
            </a:xfrm>
            <a:prstGeom prst="roundRect">
              <a:avLst>
                <a:gd name="adj" fmla="val 50000"/>
              </a:avLst>
            </a:prstGeom>
            <a:solidFill>
              <a:srgbClr val="15B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5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N1 Implement. · 18</a:t>
              </a:r>
              <a:endParaRPr>
                <a:solidFill>
                  <a:srgbClr val="FFFFFF"/>
                </a:solidFill>
              </a:endParaRPr>
            </a:p>
          </p:txBody>
        </p:sp>
        <p:grpSp>
          <p:nvGrpSpPr>
            <p:cNvPr id="72" name="Google Shape;72;p15"/>
            <p:cNvGrpSpPr/>
            <p:nvPr/>
          </p:nvGrpSpPr>
          <p:grpSpPr>
            <a:xfrm>
              <a:off x="6841217" y="4030884"/>
              <a:ext cx="359871" cy="358324"/>
              <a:chOff x="-55596550" y="3590175"/>
              <a:chExt cx="319800" cy="318425"/>
            </a:xfrm>
          </p:grpSpPr>
          <p:sp>
            <p:nvSpPr>
              <p:cNvPr id="73" name="Google Shape;73;p15"/>
              <p:cNvSpPr/>
              <p:nvPr/>
            </p:nvSpPr>
            <p:spPr>
              <a:xfrm>
                <a:off x="-55596550" y="3590175"/>
                <a:ext cx="319800" cy="112850"/>
              </a:xfrm>
              <a:custGeom>
                <a:avLst/>
                <a:gdLst/>
                <a:ahLst/>
                <a:cxnLst/>
                <a:rect l="l" t="t" r="r" b="b"/>
                <a:pathLst>
                  <a:path w="12792" h="4514" extrusionOk="0">
                    <a:moveTo>
                      <a:pt x="6380" y="0"/>
                    </a:moveTo>
                    <a:cubicBezTo>
                      <a:pt x="6309" y="0"/>
                      <a:pt x="6238" y="24"/>
                      <a:pt x="6175" y="71"/>
                    </a:cubicBezTo>
                    <a:lnTo>
                      <a:pt x="189" y="3789"/>
                    </a:lnTo>
                    <a:cubicBezTo>
                      <a:pt x="32" y="3883"/>
                      <a:pt x="0" y="4072"/>
                      <a:pt x="32" y="4230"/>
                    </a:cubicBezTo>
                    <a:cubicBezTo>
                      <a:pt x="95" y="4387"/>
                      <a:pt x="221" y="4513"/>
                      <a:pt x="378" y="4513"/>
                    </a:cubicBezTo>
                    <a:lnTo>
                      <a:pt x="12350" y="4513"/>
                    </a:lnTo>
                    <a:cubicBezTo>
                      <a:pt x="12508" y="4513"/>
                      <a:pt x="12665" y="4387"/>
                      <a:pt x="12728" y="4230"/>
                    </a:cubicBezTo>
                    <a:cubicBezTo>
                      <a:pt x="12791" y="4072"/>
                      <a:pt x="12728" y="3883"/>
                      <a:pt x="12571" y="3789"/>
                    </a:cubicBezTo>
                    <a:lnTo>
                      <a:pt x="6585" y="71"/>
                    </a:lnTo>
                    <a:cubicBezTo>
                      <a:pt x="6522" y="24"/>
                      <a:pt x="6451" y="0"/>
                      <a:pt x="638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" name="Google Shape;74;p15"/>
              <p:cNvSpPr/>
              <p:nvPr/>
            </p:nvSpPr>
            <p:spPr>
              <a:xfrm>
                <a:off x="-55539850" y="3721900"/>
                <a:ext cx="204800" cy="186700"/>
              </a:xfrm>
              <a:custGeom>
                <a:avLst/>
                <a:gdLst/>
                <a:ahLst/>
                <a:cxnLst/>
                <a:rect l="l" t="t" r="r" b="b"/>
                <a:pathLst>
                  <a:path w="8192" h="7468" extrusionOk="0">
                    <a:moveTo>
                      <a:pt x="2616" y="725"/>
                    </a:moveTo>
                    <a:cubicBezTo>
                      <a:pt x="2805" y="725"/>
                      <a:pt x="2962" y="883"/>
                      <a:pt x="2962" y="1072"/>
                    </a:cubicBezTo>
                    <a:cubicBezTo>
                      <a:pt x="2962" y="1292"/>
                      <a:pt x="2805" y="1450"/>
                      <a:pt x="2616" y="1450"/>
                    </a:cubicBezTo>
                    <a:cubicBezTo>
                      <a:pt x="2427" y="1450"/>
                      <a:pt x="2269" y="1292"/>
                      <a:pt x="2269" y="1072"/>
                    </a:cubicBezTo>
                    <a:cubicBezTo>
                      <a:pt x="2269" y="883"/>
                      <a:pt x="2427" y="725"/>
                      <a:pt x="2616" y="725"/>
                    </a:cubicBezTo>
                    <a:close/>
                    <a:moveTo>
                      <a:pt x="5609" y="725"/>
                    </a:moveTo>
                    <a:cubicBezTo>
                      <a:pt x="5798" y="725"/>
                      <a:pt x="5955" y="883"/>
                      <a:pt x="5955" y="1072"/>
                    </a:cubicBezTo>
                    <a:cubicBezTo>
                      <a:pt x="5955" y="1292"/>
                      <a:pt x="5798" y="1450"/>
                      <a:pt x="5609" y="1450"/>
                    </a:cubicBezTo>
                    <a:cubicBezTo>
                      <a:pt x="5420" y="1450"/>
                      <a:pt x="5262" y="1292"/>
                      <a:pt x="5262" y="1072"/>
                    </a:cubicBezTo>
                    <a:cubicBezTo>
                      <a:pt x="5262" y="883"/>
                      <a:pt x="5420" y="725"/>
                      <a:pt x="5609" y="725"/>
                    </a:cubicBezTo>
                    <a:close/>
                    <a:moveTo>
                      <a:pt x="3395" y="2245"/>
                    </a:moveTo>
                    <a:cubicBezTo>
                      <a:pt x="3490" y="2245"/>
                      <a:pt x="3577" y="2285"/>
                      <a:pt x="3624" y="2363"/>
                    </a:cubicBezTo>
                    <a:cubicBezTo>
                      <a:pt x="3781" y="2521"/>
                      <a:pt x="3781" y="2741"/>
                      <a:pt x="3624" y="2867"/>
                    </a:cubicBezTo>
                    <a:lnTo>
                      <a:pt x="2899" y="3624"/>
                    </a:lnTo>
                    <a:cubicBezTo>
                      <a:pt x="2820" y="3687"/>
                      <a:pt x="2718" y="3718"/>
                      <a:pt x="2620" y="3718"/>
                    </a:cubicBezTo>
                    <a:cubicBezTo>
                      <a:pt x="2521" y="3718"/>
                      <a:pt x="2427" y="3687"/>
                      <a:pt x="2364" y="3624"/>
                    </a:cubicBezTo>
                    <a:cubicBezTo>
                      <a:pt x="2206" y="3466"/>
                      <a:pt x="2206" y="3214"/>
                      <a:pt x="2364" y="3088"/>
                    </a:cubicBezTo>
                    <a:lnTo>
                      <a:pt x="3120" y="2363"/>
                    </a:lnTo>
                    <a:cubicBezTo>
                      <a:pt x="3199" y="2285"/>
                      <a:pt x="3301" y="2245"/>
                      <a:pt x="3395" y="2245"/>
                    </a:cubicBezTo>
                    <a:close/>
                    <a:moveTo>
                      <a:pt x="4849" y="2245"/>
                    </a:moveTo>
                    <a:cubicBezTo>
                      <a:pt x="4947" y="2245"/>
                      <a:pt x="5042" y="2285"/>
                      <a:pt x="5105" y="2363"/>
                    </a:cubicBezTo>
                    <a:lnTo>
                      <a:pt x="5829" y="3088"/>
                    </a:lnTo>
                    <a:cubicBezTo>
                      <a:pt x="5987" y="3246"/>
                      <a:pt x="5987" y="3498"/>
                      <a:pt x="5829" y="3624"/>
                    </a:cubicBezTo>
                    <a:cubicBezTo>
                      <a:pt x="5750" y="3687"/>
                      <a:pt x="5656" y="3718"/>
                      <a:pt x="5565" y="3718"/>
                    </a:cubicBezTo>
                    <a:cubicBezTo>
                      <a:pt x="5475" y="3718"/>
                      <a:pt x="5388" y="3687"/>
                      <a:pt x="5325" y="3624"/>
                    </a:cubicBezTo>
                    <a:lnTo>
                      <a:pt x="4569" y="2867"/>
                    </a:lnTo>
                    <a:cubicBezTo>
                      <a:pt x="4474" y="2741"/>
                      <a:pt x="4474" y="2521"/>
                      <a:pt x="4569" y="2363"/>
                    </a:cubicBezTo>
                    <a:cubicBezTo>
                      <a:pt x="4648" y="2285"/>
                      <a:pt x="4750" y="2245"/>
                      <a:pt x="4849" y="2245"/>
                    </a:cubicBezTo>
                    <a:close/>
                    <a:moveTo>
                      <a:pt x="5164" y="4041"/>
                    </a:moveTo>
                    <a:cubicBezTo>
                      <a:pt x="5262" y="4041"/>
                      <a:pt x="5357" y="4080"/>
                      <a:pt x="5420" y="4159"/>
                    </a:cubicBezTo>
                    <a:cubicBezTo>
                      <a:pt x="5577" y="4317"/>
                      <a:pt x="5577" y="4537"/>
                      <a:pt x="5420" y="4663"/>
                    </a:cubicBezTo>
                    <a:cubicBezTo>
                      <a:pt x="5042" y="5010"/>
                      <a:pt x="4569" y="5230"/>
                      <a:pt x="4065" y="5230"/>
                    </a:cubicBezTo>
                    <a:cubicBezTo>
                      <a:pt x="3561" y="5230"/>
                      <a:pt x="3088" y="5010"/>
                      <a:pt x="2773" y="4663"/>
                    </a:cubicBezTo>
                    <a:cubicBezTo>
                      <a:pt x="2616" y="4506"/>
                      <a:pt x="2616" y="4285"/>
                      <a:pt x="2773" y="4159"/>
                    </a:cubicBezTo>
                    <a:cubicBezTo>
                      <a:pt x="2852" y="4080"/>
                      <a:pt x="2946" y="4041"/>
                      <a:pt x="3037" y="4041"/>
                    </a:cubicBezTo>
                    <a:cubicBezTo>
                      <a:pt x="3128" y="4041"/>
                      <a:pt x="3214" y="4080"/>
                      <a:pt x="3277" y="4159"/>
                    </a:cubicBezTo>
                    <a:cubicBezTo>
                      <a:pt x="3514" y="4380"/>
                      <a:pt x="3821" y="4490"/>
                      <a:pt x="4116" y="4490"/>
                    </a:cubicBezTo>
                    <a:cubicBezTo>
                      <a:pt x="4411" y="4490"/>
                      <a:pt x="4695" y="4380"/>
                      <a:pt x="4884" y="4159"/>
                    </a:cubicBezTo>
                    <a:cubicBezTo>
                      <a:pt x="4963" y="4080"/>
                      <a:pt x="5065" y="4041"/>
                      <a:pt x="5164" y="4041"/>
                    </a:cubicBezTo>
                    <a:close/>
                    <a:moveTo>
                      <a:pt x="1" y="1"/>
                    </a:moveTo>
                    <a:lnTo>
                      <a:pt x="1" y="3340"/>
                    </a:lnTo>
                    <a:cubicBezTo>
                      <a:pt x="1" y="5577"/>
                      <a:pt x="1860" y="7467"/>
                      <a:pt x="4096" y="7467"/>
                    </a:cubicBezTo>
                    <a:cubicBezTo>
                      <a:pt x="6365" y="7467"/>
                      <a:pt x="8192" y="5608"/>
                      <a:pt x="8192" y="3340"/>
                    </a:cubicBezTo>
                    <a:lnTo>
                      <a:pt x="8192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" name="Google Shape;75;p15"/>
              <p:cNvSpPr/>
              <p:nvPr/>
            </p:nvSpPr>
            <p:spPr>
              <a:xfrm>
                <a:off x="-55316150" y="3726625"/>
                <a:ext cx="18925" cy="63825"/>
              </a:xfrm>
              <a:custGeom>
                <a:avLst/>
                <a:gdLst/>
                <a:ahLst/>
                <a:cxnLst/>
                <a:rect l="l" t="t" r="r" b="b"/>
                <a:pathLst>
                  <a:path w="757" h="2553" extrusionOk="0">
                    <a:moveTo>
                      <a:pt x="0" y="1"/>
                    </a:moveTo>
                    <a:lnTo>
                      <a:pt x="0" y="2552"/>
                    </a:lnTo>
                    <a:cubicBezTo>
                      <a:pt x="441" y="2269"/>
                      <a:pt x="756" y="1796"/>
                      <a:pt x="756" y="1261"/>
                    </a:cubicBezTo>
                    <a:cubicBezTo>
                      <a:pt x="756" y="757"/>
                      <a:pt x="473" y="284"/>
                      <a:pt x="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" name="Google Shape;76;p15"/>
              <p:cNvSpPr/>
              <p:nvPr/>
            </p:nvSpPr>
            <p:spPr>
              <a:xfrm>
                <a:off x="-55576850" y="3727425"/>
                <a:ext cx="18900" cy="63800"/>
              </a:xfrm>
              <a:custGeom>
                <a:avLst/>
                <a:gdLst/>
                <a:ahLst/>
                <a:cxnLst/>
                <a:rect l="l" t="t" r="r" b="b"/>
                <a:pathLst>
                  <a:path w="756" h="2552" extrusionOk="0">
                    <a:moveTo>
                      <a:pt x="756" y="0"/>
                    </a:moveTo>
                    <a:cubicBezTo>
                      <a:pt x="315" y="252"/>
                      <a:pt x="0" y="725"/>
                      <a:pt x="0" y="1260"/>
                    </a:cubicBezTo>
                    <a:cubicBezTo>
                      <a:pt x="0" y="1827"/>
                      <a:pt x="315" y="2300"/>
                      <a:pt x="756" y="2552"/>
                    </a:cubicBezTo>
                    <a:lnTo>
                      <a:pt x="75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77" name="Google Shape;77;p15"/>
          <p:cNvGrpSpPr/>
          <p:nvPr/>
        </p:nvGrpSpPr>
        <p:grpSpPr>
          <a:xfrm>
            <a:off x="4080463" y="2386430"/>
            <a:ext cx="3360074" cy="669557"/>
            <a:chOff x="4080463" y="2386430"/>
            <a:chExt cx="3360074" cy="669557"/>
          </a:xfrm>
        </p:grpSpPr>
        <p:sp>
          <p:nvSpPr>
            <p:cNvPr id="78" name="Google Shape;78;p15"/>
            <p:cNvSpPr/>
            <p:nvPr/>
          </p:nvSpPr>
          <p:spPr>
            <a:xfrm>
              <a:off x="5314288" y="2571750"/>
              <a:ext cx="856025" cy="117650"/>
            </a:xfrm>
            <a:custGeom>
              <a:avLst/>
              <a:gdLst/>
              <a:ahLst/>
              <a:cxnLst/>
              <a:rect l="l" t="t" r="r" b="b"/>
              <a:pathLst>
                <a:path w="34241" h="4706" extrusionOk="0">
                  <a:moveTo>
                    <a:pt x="0" y="0"/>
                  </a:moveTo>
                  <a:lnTo>
                    <a:pt x="16676" y="0"/>
                  </a:lnTo>
                  <a:lnTo>
                    <a:pt x="34241" y="4706"/>
                  </a:lnTo>
                </a:path>
              </a:pathLst>
            </a:custGeom>
            <a:noFill/>
            <a:ln w="19050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79" name="Google Shape;79;p15"/>
            <p:cNvSpPr/>
            <p:nvPr/>
          </p:nvSpPr>
          <p:spPr>
            <a:xfrm>
              <a:off x="6141413" y="2472188"/>
              <a:ext cx="90217" cy="498041"/>
            </a:xfrm>
            <a:custGeom>
              <a:avLst/>
              <a:gdLst/>
              <a:ahLst/>
              <a:cxnLst/>
              <a:rect l="l" t="t" r="r" b="b"/>
              <a:pathLst>
                <a:path w="2918" h="16110" extrusionOk="0">
                  <a:moveTo>
                    <a:pt x="2918" y="0"/>
                  </a:moveTo>
                  <a:cubicBezTo>
                    <a:pt x="2918" y="0"/>
                    <a:pt x="1715" y="1036"/>
                    <a:pt x="858" y="1846"/>
                  </a:cubicBezTo>
                  <a:cubicBezTo>
                    <a:pt x="1" y="2667"/>
                    <a:pt x="1" y="4049"/>
                    <a:pt x="1" y="4049"/>
                  </a:cubicBezTo>
                  <a:lnTo>
                    <a:pt x="1" y="12121"/>
                  </a:lnTo>
                  <a:cubicBezTo>
                    <a:pt x="1" y="12657"/>
                    <a:pt x="203" y="13157"/>
                    <a:pt x="572" y="13526"/>
                  </a:cubicBezTo>
                  <a:cubicBezTo>
                    <a:pt x="799" y="13764"/>
                    <a:pt x="1108" y="14026"/>
                    <a:pt x="1453" y="14252"/>
                  </a:cubicBezTo>
                  <a:cubicBezTo>
                    <a:pt x="2358" y="14836"/>
                    <a:pt x="2918" y="16110"/>
                    <a:pt x="2918" y="16110"/>
                  </a:cubicBezTo>
                  <a:lnTo>
                    <a:pt x="2918" y="0"/>
                  </a:ln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15"/>
            <p:cNvSpPr/>
            <p:nvPr/>
          </p:nvSpPr>
          <p:spPr>
            <a:xfrm>
              <a:off x="6231600" y="2386430"/>
              <a:ext cx="1208936" cy="669557"/>
            </a:xfrm>
            <a:custGeom>
              <a:avLst/>
              <a:gdLst/>
              <a:ahLst/>
              <a:cxnLst/>
              <a:rect l="l" t="t" r="r" b="b"/>
              <a:pathLst>
                <a:path w="39102" h="21658" extrusionOk="0">
                  <a:moveTo>
                    <a:pt x="1" y="0"/>
                  </a:moveTo>
                  <a:lnTo>
                    <a:pt x="1" y="21658"/>
                  </a:lnTo>
                  <a:lnTo>
                    <a:pt x="39101" y="21658"/>
                  </a:lnTo>
                  <a:lnTo>
                    <a:pt x="28528" y="0"/>
                  </a:lnTo>
                  <a:close/>
                </a:path>
              </a:pathLst>
            </a:custGeom>
            <a:solidFill>
              <a:srgbClr val="002060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15"/>
            <p:cNvSpPr/>
            <p:nvPr/>
          </p:nvSpPr>
          <p:spPr>
            <a:xfrm>
              <a:off x="4080463" y="2436150"/>
              <a:ext cx="1236000" cy="2712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5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N3 Aprendizaje · 3</a:t>
              </a:r>
              <a:endParaRPr>
                <a:solidFill>
                  <a:srgbClr val="FFFFFF"/>
                </a:solidFill>
              </a:endParaRPr>
            </a:p>
          </p:txBody>
        </p:sp>
        <p:grpSp>
          <p:nvGrpSpPr>
            <p:cNvPr id="82" name="Google Shape;82;p15"/>
            <p:cNvGrpSpPr/>
            <p:nvPr/>
          </p:nvGrpSpPr>
          <p:grpSpPr>
            <a:xfrm>
              <a:off x="6536417" y="2540434"/>
              <a:ext cx="314662" cy="358971"/>
              <a:chOff x="-56766175" y="3198925"/>
              <a:chExt cx="279625" cy="319000"/>
            </a:xfrm>
          </p:grpSpPr>
          <p:sp>
            <p:nvSpPr>
              <p:cNvPr id="83" name="Google Shape;83;p15"/>
              <p:cNvSpPr/>
              <p:nvPr/>
            </p:nvSpPr>
            <p:spPr>
              <a:xfrm>
                <a:off x="-56766175" y="3335975"/>
                <a:ext cx="18925" cy="63825"/>
              </a:xfrm>
              <a:custGeom>
                <a:avLst/>
                <a:gdLst/>
                <a:ahLst/>
                <a:cxnLst/>
                <a:rect l="l" t="t" r="r" b="b"/>
                <a:pathLst>
                  <a:path w="757" h="2553" extrusionOk="0">
                    <a:moveTo>
                      <a:pt x="757" y="0"/>
                    </a:moveTo>
                    <a:cubicBezTo>
                      <a:pt x="316" y="221"/>
                      <a:pt x="1" y="693"/>
                      <a:pt x="1" y="1260"/>
                    </a:cubicBezTo>
                    <a:cubicBezTo>
                      <a:pt x="1" y="1796"/>
                      <a:pt x="316" y="2269"/>
                      <a:pt x="757" y="2552"/>
                    </a:cubicBezTo>
                    <a:lnTo>
                      <a:pt x="757" y="158"/>
                    </a:lnTo>
                    <a:lnTo>
                      <a:pt x="75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" name="Google Shape;84;p15"/>
              <p:cNvSpPr/>
              <p:nvPr/>
            </p:nvSpPr>
            <p:spPr>
              <a:xfrm>
                <a:off x="-56747275" y="3198925"/>
                <a:ext cx="222925" cy="93750"/>
              </a:xfrm>
              <a:custGeom>
                <a:avLst/>
                <a:gdLst/>
                <a:ahLst/>
                <a:cxnLst/>
                <a:rect l="l" t="t" r="r" b="b"/>
                <a:pathLst>
                  <a:path w="8917" h="3750" extrusionOk="0">
                    <a:moveTo>
                      <a:pt x="347" y="0"/>
                    </a:moveTo>
                    <a:cubicBezTo>
                      <a:pt x="158" y="0"/>
                      <a:pt x="1" y="158"/>
                      <a:pt x="32" y="347"/>
                    </a:cubicBezTo>
                    <a:cubicBezTo>
                      <a:pt x="410" y="2269"/>
                      <a:pt x="2080" y="3749"/>
                      <a:pt x="4096" y="3749"/>
                    </a:cubicBezTo>
                    <a:lnTo>
                      <a:pt x="8917" y="3749"/>
                    </a:lnTo>
                    <a:cubicBezTo>
                      <a:pt x="8728" y="1639"/>
                      <a:pt x="6995" y="0"/>
                      <a:pt x="485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" name="Google Shape;85;p15"/>
              <p:cNvSpPr/>
              <p:nvPr/>
            </p:nvSpPr>
            <p:spPr>
              <a:xfrm>
                <a:off x="-56710250" y="3348575"/>
                <a:ext cx="55150" cy="55150"/>
              </a:xfrm>
              <a:custGeom>
                <a:avLst/>
                <a:gdLst/>
                <a:ahLst/>
                <a:cxnLst/>
                <a:rect l="l" t="t" r="r" b="b"/>
                <a:pathLst>
                  <a:path w="2206" h="2206" extrusionOk="0">
                    <a:moveTo>
                      <a:pt x="1103" y="0"/>
                    </a:moveTo>
                    <a:cubicBezTo>
                      <a:pt x="473" y="0"/>
                      <a:pt x="0" y="504"/>
                      <a:pt x="0" y="1103"/>
                    </a:cubicBezTo>
                    <a:cubicBezTo>
                      <a:pt x="0" y="1670"/>
                      <a:pt x="504" y="2206"/>
                      <a:pt x="1103" y="2206"/>
                    </a:cubicBezTo>
                    <a:cubicBezTo>
                      <a:pt x="1733" y="2206"/>
                      <a:pt x="2206" y="1702"/>
                      <a:pt x="2206" y="1103"/>
                    </a:cubicBezTo>
                    <a:cubicBezTo>
                      <a:pt x="2206" y="504"/>
                      <a:pt x="1733" y="0"/>
                      <a:pt x="110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" name="Google Shape;86;p15"/>
              <p:cNvSpPr/>
              <p:nvPr/>
            </p:nvSpPr>
            <p:spPr>
              <a:xfrm>
                <a:off x="-56597625" y="3349350"/>
                <a:ext cx="55150" cy="55175"/>
              </a:xfrm>
              <a:custGeom>
                <a:avLst/>
                <a:gdLst/>
                <a:ahLst/>
                <a:cxnLst/>
                <a:rect l="l" t="t" r="r" b="b"/>
                <a:pathLst>
                  <a:path w="2206" h="2207" extrusionOk="0">
                    <a:moveTo>
                      <a:pt x="1103" y="1"/>
                    </a:moveTo>
                    <a:cubicBezTo>
                      <a:pt x="473" y="1"/>
                      <a:pt x="1" y="505"/>
                      <a:pt x="1" y="1103"/>
                    </a:cubicBezTo>
                    <a:cubicBezTo>
                      <a:pt x="1" y="1702"/>
                      <a:pt x="473" y="2206"/>
                      <a:pt x="1103" y="2206"/>
                    </a:cubicBezTo>
                    <a:cubicBezTo>
                      <a:pt x="1702" y="2206"/>
                      <a:pt x="2206" y="1702"/>
                      <a:pt x="2206" y="1103"/>
                    </a:cubicBezTo>
                    <a:cubicBezTo>
                      <a:pt x="2206" y="505"/>
                      <a:pt x="1702" y="1"/>
                      <a:pt x="1103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" name="Google Shape;87;p15"/>
              <p:cNvSpPr/>
              <p:nvPr/>
            </p:nvSpPr>
            <p:spPr>
              <a:xfrm>
                <a:off x="-56727575" y="3376925"/>
                <a:ext cx="204800" cy="141000"/>
              </a:xfrm>
              <a:custGeom>
                <a:avLst/>
                <a:gdLst/>
                <a:ahLst/>
                <a:cxnLst/>
                <a:rect l="l" t="t" r="r" b="b"/>
                <a:pathLst>
                  <a:path w="8192" h="5640" extrusionOk="0">
                    <a:moveTo>
                      <a:pt x="5104" y="2174"/>
                    </a:moveTo>
                    <a:cubicBezTo>
                      <a:pt x="5199" y="2174"/>
                      <a:pt x="5293" y="2206"/>
                      <a:pt x="5356" y="2269"/>
                    </a:cubicBezTo>
                    <a:cubicBezTo>
                      <a:pt x="5545" y="2395"/>
                      <a:pt x="5545" y="2647"/>
                      <a:pt x="5388" y="2804"/>
                    </a:cubicBezTo>
                    <a:cubicBezTo>
                      <a:pt x="5041" y="3151"/>
                      <a:pt x="4569" y="3340"/>
                      <a:pt x="4096" y="3340"/>
                    </a:cubicBezTo>
                    <a:cubicBezTo>
                      <a:pt x="3560" y="3340"/>
                      <a:pt x="3088" y="3151"/>
                      <a:pt x="2741" y="2804"/>
                    </a:cubicBezTo>
                    <a:cubicBezTo>
                      <a:pt x="2584" y="2647"/>
                      <a:pt x="2584" y="2395"/>
                      <a:pt x="2741" y="2269"/>
                    </a:cubicBezTo>
                    <a:cubicBezTo>
                      <a:pt x="2820" y="2206"/>
                      <a:pt x="2922" y="2174"/>
                      <a:pt x="3021" y="2174"/>
                    </a:cubicBezTo>
                    <a:cubicBezTo>
                      <a:pt x="3119" y="2174"/>
                      <a:pt x="3214" y="2206"/>
                      <a:pt x="3277" y="2269"/>
                    </a:cubicBezTo>
                    <a:cubicBezTo>
                      <a:pt x="3482" y="2489"/>
                      <a:pt x="3765" y="2600"/>
                      <a:pt x="4053" y="2600"/>
                    </a:cubicBezTo>
                    <a:cubicBezTo>
                      <a:pt x="4340" y="2600"/>
                      <a:pt x="4632" y="2489"/>
                      <a:pt x="4852" y="2269"/>
                    </a:cubicBezTo>
                    <a:cubicBezTo>
                      <a:pt x="4915" y="2206"/>
                      <a:pt x="5010" y="2174"/>
                      <a:pt x="5104" y="2174"/>
                    </a:cubicBezTo>
                    <a:close/>
                    <a:moveTo>
                      <a:pt x="0" y="0"/>
                    </a:moveTo>
                    <a:lnTo>
                      <a:pt x="0" y="1513"/>
                    </a:lnTo>
                    <a:cubicBezTo>
                      <a:pt x="0" y="3623"/>
                      <a:pt x="1639" y="5451"/>
                      <a:pt x="3718" y="5640"/>
                    </a:cubicBezTo>
                    <a:lnTo>
                      <a:pt x="3718" y="4537"/>
                    </a:lnTo>
                    <a:cubicBezTo>
                      <a:pt x="3718" y="4348"/>
                      <a:pt x="3875" y="4191"/>
                      <a:pt x="4096" y="4191"/>
                    </a:cubicBezTo>
                    <a:cubicBezTo>
                      <a:pt x="4285" y="4191"/>
                      <a:pt x="4442" y="4348"/>
                      <a:pt x="4442" y="4537"/>
                    </a:cubicBezTo>
                    <a:lnTo>
                      <a:pt x="4442" y="5640"/>
                    </a:lnTo>
                    <a:cubicBezTo>
                      <a:pt x="6522" y="5451"/>
                      <a:pt x="8192" y="3623"/>
                      <a:pt x="8192" y="1513"/>
                    </a:cubicBezTo>
                    <a:lnTo>
                      <a:pt x="8192" y="0"/>
                    </a:lnTo>
                    <a:cubicBezTo>
                      <a:pt x="8192" y="1009"/>
                      <a:pt x="7309" y="1859"/>
                      <a:pt x="6301" y="1859"/>
                    </a:cubicBezTo>
                    <a:cubicBezTo>
                      <a:pt x="5388" y="1859"/>
                      <a:pt x="4632" y="1229"/>
                      <a:pt x="4474" y="347"/>
                    </a:cubicBezTo>
                    <a:lnTo>
                      <a:pt x="3655" y="347"/>
                    </a:lnTo>
                    <a:cubicBezTo>
                      <a:pt x="3497" y="1229"/>
                      <a:pt x="2710" y="1859"/>
                      <a:pt x="1828" y="1859"/>
                    </a:cubicBezTo>
                    <a:cubicBezTo>
                      <a:pt x="819" y="1859"/>
                      <a:pt x="0" y="1009"/>
                      <a:pt x="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" name="Google Shape;88;p15"/>
              <p:cNvSpPr/>
              <p:nvPr/>
            </p:nvSpPr>
            <p:spPr>
              <a:xfrm>
                <a:off x="-56729150" y="3289500"/>
                <a:ext cx="204000" cy="87450"/>
              </a:xfrm>
              <a:custGeom>
                <a:avLst/>
                <a:gdLst/>
                <a:ahLst/>
                <a:cxnLst/>
                <a:rect l="l" t="t" r="r" b="b"/>
                <a:pathLst>
                  <a:path w="8160" h="3498" extrusionOk="0">
                    <a:moveTo>
                      <a:pt x="567" y="0"/>
                    </a:moveTo>
                    <a:cubicBezTo>
                      <a:pt x="221" y="630"/>
                      <a:pt x="0" y="1292"/>
                      <a:pt x="0" y="2017"/>
                    </a:cubicBezTo>
                    <a:lnTo>
                      <a:pt x="0" y="3497"/>
                    </a:lnTo>
                    <a:cubicBezTo>
                      <a:pt x="0" y="2489"/>
                      <a:pt x="851" y="1639"/>
                      <a:pt x="1859" y="1639"/>
                    </a:cubicBezTo>
                    <a:cubicBezTo>
                      <a:pt x="2773" y="1639"/>
                      <a:pt x="3529" y="2269"/>
                      <a:pt x="3686" y="3151"/>
                    </a:cubicBezTo>
                    <a:lnTo>
                      <a:pt x="4505" y="3151"/>
                    </a:lnTo>
                    <a:cubicBezTo>
                      <a:pt x="4663" y="2269"/>
                      <a:pt x="5451" y="1639"/>
                      <a:pt x="6333" y="1639"/>
                    </a:cubicBezTo>
                    <a:cubicBezTo>
                      <a:pt x="7341" y="1639"/>
                      <a:pt x="8160" y="2489"/>
                      <a:pt x="8160" y="3497"/>
                    </a:cubicBezTo>
                    <a:lnTo>
                      <a:pt x="8160" y="914"/>
                    </a:lnTo>
                    <a:lnTo>
                      <a:pt x="3340" y="914"/>
                    </a:lnTo>
                    <a:cubicBezTo>
                      <a:pt x="2332" y="851"/>
                      <a:pt x="1355" y="536"/>
                      <a:pt x="56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" name="Google Shape;89;p15"/>
              <p:cNvSpPr/>
              <p:nvPr/>
            </p:nvSpPr>
            <p:spPr>
              <a:xfrm>
                <a:off x="-56505475" y="3335975"/>
                <a:ext cx="18925" cy="63825"/>
              </a:xfrm>
              <a:custGeom>
                <a:avLst/>
                <a:gdLst/>
                <a:ahLst/>
                <a:cxnLst/>
                <a:rect l="l" t="t" r="r" b="b"/>
                <a:pathLst>
                  <a:path w="757" h="2553" extrusionOk="0">
                    <a:moveTo>
                      <a:pt x="1" y="0"/>
                    </a:moveTo>
                    <a:lnTo>
                      <a:pt x="1" y="2552"/>
                    </a:lnTo>
                    <a:cubicBezTo>
                      <a:pt x="442" y="2269"/>
                      <a:pt x="757" y="1796"/>
                      <a:pt x="757" y="1260"/>
                    </a:cubicBezTo>
                    <a:cubicBezTo>
                      <a:pt x="757" y="693"/>
                      <a:pt x="473" y="221"/>
                      <a:pt x="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90" name="Google Shape;90;p15"/>
          <p:cNvGrpSpPr/>
          <p:nvPr/>
        </p:nvGrpSpPr>
        <p:grpSpPr>
          <a:xfrm>
            <a:off x="4080463" y="536650"/>
            <a:ext cx="2742002" cy="1233849"/>
            <a:chOff x="4080463" y="536650"/>
            <a:chExt cx="2742002" cy="1233849"/>
          </a:xfrm>
        </p:grpSpPr>
        <p:sp>
          <p:nvSpPr>
            <p:cNvPr id="91" name="Google Shape;91;p15"/>
            <p:cNvSpPr/>
            <p:nvPr/>
          </p:nvSpPr>
          <p:spPr>
            <a:xfrm>
              <a:off x="5314288" y="1222650"/>
              <a:ext cx="856025" cy="117650"/>
            </a:xfrm>
            <a:custGeom>
              <a:avLst/>
              <a:gdLst/>
              <a:ahLst/>
              <a:cxnLst/>
              <a:rect l="l" t="t" r="r" b="b"/>
              <a:pathLst>
                <a:path w="34241" h="4706" extrusionOk="0">
                  <a:moveTo>
                    <a:pt x="0" y="0"/>
                  </a:moveTo>
                  <a:lnTo>
                    <a:pt x="16676" y="0"/>
                  </a:lnTo>
                  <a:lnTo>
                    <a:pt x="34241" y="4706"/>
                  </a:lnTo>
                </a:path>
              </a:pathLst>
            </a:custGeom>
            <a:noFill/>
            <a:ln w="19050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92" name="Google Shape;92;p15"/>
            <p:cNvSpPr/>
            <p:nvPr/>
          </p:nvSpPr>
          <p:spPr>
            <a:xfrm>
              <a:off x="6141413" y="1067848"/>
              <a:ext cx="90217" cy="498412"/>
            </a:xfrm>
            <a:custGeom>
              <a:avLst/>
              <a:gdLst/>
              <a:ahLst/>
              <a:cxnLst/>
              <a:rect l="l" t="t" r="r" b="b"/>
              <a:pathLst>
                <a:path w="2918" h="16122" extrusionOk="0">
                  <a:moveTo>
                    <a:pt x="2918" y="0"/>
                  </a:moveTo>
                  <a:cubicBezTo>
                    <a:pt x="2918" y="0"/>
                    <a:pt x="1715" y="1048"/>
                    <a:pt x="858" y="1858"/>
                  </a:cubicBezTo>
                  <a:cubicBezTo>
                    <a:pt x="1" y="2667"/>
                    <a:pt x="1" y="4060"/>
                    <a:pt x="1" y="4060"/>
                  </a:cubicBezTo>
                  <a:lnTo>
                    <a:pt x="1" y="12133"/>
                  </a:lnTo>
                  <a:cubicBezTo>
                    <a:pt x="1" y="12668"/>
                    <a:pt x="203" y="13169"/>
                    <a:pt x="572" y="13538"/>
                  </a:cubicBezTo>
                  <a:cubicBezTo>
                    <a:pt x="799" y="13764"/>
                    <a:pt x="1108" y="14038"/>
                    <a:pt x="1453" y="14264"/>
                  </a:cubicBezTo>
                  <a:cubicBezTo>
                    <a:pt x="2358" y="14847"/>
                    <a:pt x="2918" y="16121"/>
                    <a:pt x="2918" y="16121"/>
                  </a:cubicBezTo>
                  <a:lnTo>
                    <a:pt x="2918" y="0"/>
                  </a:lnTo>
                  <a:close/>
                </a:path>
              </a:pathLst>
            </a:custGeom>
            <a:solidFill>
              <a:srgbClr val="22B2D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93;p15"/>
            <p:cNvSpPr/>
            <p:nvPr/>
          </p:nvSpPr>
          <p:spPr>
            <a:xfrm>
              <a:off x="6231600" y="536650"/>
              <a:ext cx="590864" cy="1233849"/>
            </a:xfrm>
            <a:custGeom>
              <a:avLst/>
              <a:gdLst/>
              <a:ahLst/>
              <a:cxnLst/>
              <a:rect l="l" t="t" r="r" b="b"/>
              <a:pathLst>
                <a:path w="19111" h="39911" extrusionOk="0">
                  <a:moveTo>
                    <a:pt x="1" y="1"/>
                  </a:moveTo>
                  <a:lnTo>
                    <a:pt x="1" y="39910"/>
                  </a:lnTo>
                  <a:lnTo>
                    <a:pt x="19110" y="3991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B2DE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15"/>
            <p:cNvSpPr/>
            <p:nvPr/>
          </p:nvSpPr>
          <p:spPr>
            <a:xfrm>
              <a:off x="4080463" y="1087054"/>
              <a:ext cx="1236000" cy="2712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5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N5 Efecto ext. · 1</a:t>
              </a:r>
              <a:endParaRPr>
                <a:solidFill>
                  <a:srgbClr val="FFFFFF"/>
                </a:solidFill>
              </a:endParaRPr>
            </a:p>
          </p:txBody>
        </p:sp>
        <p:grpSp>
          <p:nvGrpSpPr>
            <p:cNvPr id="95" name="Google Shape;95;p15"/>
            <p:cNvGrpSpPr/>
            <p:nvPr/>
          </p:nvGrpSpPr>
          <p:grpSpPr>
            <a:xfrm>
              <a:off x="6290815" y="1281823"/>
              <a:ext cx="301731" cy="334607"/>
              <a:chOff x="-57162350" y="3982000"/>
              <a:chExt cx="287500" cy="318825"/>
            </a:xfrm>
          </p:grpSpPr>
          <p:sp>
            <p:nvSpPr>
              <p:cNvPr id="96" name="Google Shape;96;p15"/>
              <p:cNvSpPr/>
              <p:nvPr/>
            </p:nvSpPr>
            <p:spPr>
              <a:xfrm>
                <a:off x="-56989850" y="4151150"/>
                <a:ext cx="55150" cy="55150"/>
              </a:xfrm>
              <a:custGeom>
                <a:avLst/>
                <a:gdLst/>
                <a:ahLst/>
                <a:cxnLst/>
                <a:rect l="l" t="t" r="r" b="b"/>
                <a:pathLst>
                  <a:path w="2206" h="2206" extrusionOk="0">
                    <a:moveTo>
                      <a:pt x="1103" y="1"/>
                    </a:moveTo>
                    <a:cubicBezTo>
                      <a:pt x="504" y="1"/>
                      <a:pt x="0" y="473"/>
                      <a:pt x="0" y="1103"/>
                    </a:cubicBezTo>
                    <a:cubicBezTo>
                      <a:pt x="0" y="1702"/>
                      <a:pt x="504" y="2206"/>
                      <a:pt x="1103" y="2206"/>
                    </a:cubicBezTo>
                    <a:cubicBezTo>
                      <a:pt x="1733" y="2206"/>
                      <a:pt x="2205" y="1702"/>
                      <a:pt x="2205" y="1103"/>
                    </a:cubicBezTo>
                    <a:cubicBezTo>
                      <a:pt x="2205" y="473"/>
                      <a:pt x="1733" y="1"/>
                      <a:pt x="1103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" name="Google Shape;97;p15"/>
              <p:cNvSpPr/>
              <p:nvPr/>
            </p:nvSpPr>
            <p:spPr>
              <a:xfrm>
                <a:off x="-57162350" y="3982000"/>
                <a:ext cx="287500" cy="161300"/>
              </a:xfrm>
              <a:custGeom>
                <a:avLst/>
                <a:gdLst/>
                <a:ahLst/>
                <a:cxnLst/>
                <a:rect l="l" t="t" r="r" b="b"/>
                <a:pathLst>
                  <a:path w="11500" h="6452" extrusionOk="0">
                    <a:moveTo>
                      <a:pt x="5778" y="1"/>
                    </a:moveTo>
                    <a:cubicBezTo>
                      <a:pt x="5286" y="1"/>
                      <a:pt x="4789" y="166"/>
                      <a:pt x="4380" y="497"/>
                    </a:cubicBezTo>
                    <a:cubicBezTo>
                      <a:pt x="4263" y="479"/>
                      <a:pt x="4146" y="470"/>
                      <a:pt x="4031" y="470"/>
                    </a:cubicBezTo>
                    <a:cubicBezTo>
                      <a:pt x="3147" y="470"/>
                      <a:pt x="2323" y="992"/>
                      <a:pt x="2017" y="1883"/>
                    </a:cubicBezTo>
                    <a:cubicBezTo>
                      <a:pt x="1072" y="2230"/>
                      <a:pt x="473" y="3238"/>
                      <a:pt x="631" y="4246"/>
                    </a:cubicBezTo>
                    <a:cubicBezTo>
                      <a:pt x="127" y="4876"/>
                      <a:pt x="1" y="5695"/>
                      <a:pt x="316" y="6452"/>
                    </a:cubicBezTo>
                    <a:cubicBezTo>
                      <a:pt x="536" y="6294"/>
                      <a:pt x="757" y="6168"/>
                      <a:pt x="1040" y="6074"/>
                    </a:cubicBezTo>
                    <a:cubicBezTo>
                      <a:pt x="1355" y="4498"/>
                      <a:pt x="2458" y="3175"/>
                      <a:pt x="4002" y="2577"/>
                    </a:cubicBezTo>
                    <a:cubicBezTo>
                      <a:pt x="4096" y="2545"/>
                      <a:pt x="4096" y="2545"/>
                      <a:pt x="4191" y="2513"/>
                    </a:cubicBezTo>
                    <a:cubicBezTo>
                      <a:pt x="4224" y="2504"/>
                      <a:pt x="4257" y="2499"/>
                      <a:pt x="4290" y="2499"/>
                    </a:cubicBezTo>
                    <a:cubicBezTo>
                      <a:pt x="4474" y="2499"/>
                      <a:pt x="4637" y="2641"/>
                      <a:pt x="4663" y="2829"/>
                    </a:cubicBezTo>
                    <a:cubicBezTo>
                      <a:pt x="4789" y="4593"/>
                      <a:pt x="6239" y="5979"/>
                      <a:pt x="8003" y="5979"/>
                    </a:cubicBezTo>
                    <a:lnTo>
                      <a:pt x="9862" y="5979"/>
                    </a:lnTo>
                    <a:cubicBezTo>
                      <a:pt x="10366" y="5979"/>
                      <a:pt x="10807" y="6137"/>
                      <a:pt x="11185" y="6389"/>
                    </a:cubicBezTo>
                    <a:cubicBezTo>
                      <a:pt x="11500" y="5695"/>
                      <a:pt x="11405" y="4876"/>
                      <a:pt x="10870" y="4246"/>
                    </a:cubicBezTo>
                    <a:cubicBezTo>
                      <a:pt x="11027" y="3207"/>
                      <a:pt x="10492" y="2230"/>
                      <a:pt x="9515" y="1883"/>
                    </a:cubicBezTo>
                    <a:cubicBezTo>
                      <a:pt x="9178" y="1040"/>
                      <a:pt x="8363" y="472"/>
                      <a:pt x="7475" y="472"/>
                    </a:cubicBezTo>
                    <a:cubicBezTo>
                      <a:pt x="7368" y="472"/>
                      <a:pt x="7260" y="480"/>
                      <a:pt x="7152" y="497"/>
                    </a:cubicBezTo>
                    <a:cubicBezTo>
                      <a:pt x="6758" y="166"/>
                      <a:pt x="6270" y="1"/>
                      <a:pt x="577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" name="Google Shape;98;p15"/>
              <p:cNvSpPr/>
              <p:nvPr/>
            </p:nvSpPr>
            <p:spPr>
              <a:xfrm>
                <a:off x="-57119850" y="4066875"/>
                <a:ext cx="126075" cy="111875"/>
              </a:xfrm>
              <a:custGeom>
                <a:avLst/>
                <a:gdLst/>
                <a:ahLst/>
                <a:cxnLst/>
                <a:rect l="l" t="t" r="r" b="b"/>
                <a:pathLst>
                  <a:path w="5043" h="4475" extrusionOk="0">
                    <a:moveTo>
                      <a:pt x="2333" y="1"/>
                    </a:moveTo>
                    <a:cubicBezTo>
                      <a:pt x="915" y="694"/>
                      <a:pt x="2" y="2111"/>
                      <a:pt x="2" y="3718"/>
                    </a:cubicBezTo>
                    <a:lnTo>
                      <a:pt x="2" y="4191"/>
                    </a:lnTo>
                    <a:lnTo>
                      <a:pt x="2" y="4359"/>
                    </a:lnTo>
                    <a:lnTo>
                      <a:pt x="2" y="4359"/>
                    </a:lnTo>
                    <a:cubicBezTo>
                      <a:pt x="32" y="3375"/>
                      <a:pt x="829" y="2616"/>
                      <a:pt x="1861" y="2616"/>
                    </a:cubicBezTo>
                    <a:cubicBezTo>
                      <a:pt x="2774" y="2616"/>
                      <a:pt x="3499" y="3246"/>
                      <a:pt x="3656" y="4096"/>
                    </a:cubicBezTo>
                    <a:lnTo>
                      <a:pt x="4507" y="4096"/>
                    </a:lnTo>
                    <a:cubicBezTo>
                      <a:pt x="4570" y="3718"/>
                      <a:pt x="4791" y="3403"/>
                      <a:pt x="5043" y="3120"/>
                    </a:cubicBezTo>
                    <a:cubicBezTo>
                      <a:pt x="3656" y="2647"/>
                      <a:pt x="2617" y="1481"/>
                      <a:pt x="2333" y="1"/>
                    </a:cubicBezTo>
                    <a:close/>
                    <a:moveTo>
                      <a:pt x="2" y="4359"/>
                    </a:moveTo>
                    <a:cubicBezTo>
                      <a:pt x="1" y="4397"/>
                      <a:pt x="1" y="4435"/>
                      <a:pt x="2" y="4474"/>
                    </a:cubicBezTo>
                    <a:lnTo>
                      <a:pt x="2" y="4359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" name="Google Shape;99;p15"/>
              <p:cNvSpPr/>
              <p:nvPr/>
            </p:nvSpPr>
            <p:spPr>
              <a:xfrm>
                <a:off x="-57100925" y="4151150"/>
                <a:ext cx="55175" cy="55150"/>
              </a:xfrm>
              <a:custGeom>
                <a:avLst/>
                <a:gdLst/>
                <a:ahLst/>
                <a:cxnLst/>
                <a:rect l="l" t="t" r="r" b="b"/>
                <a:pathLst>
                  <a:path w="2207" h="2206" extrusionOk="0">
                    <a:moveTo>
                      <a:pt x="1104" y="1"/>
                    </a:moveTo>
                    <a:cubicBezTo>
                      <a:pt x="505" y="1"/>
                      <a:pt x="1" y="473"/>
                      <a:pt x="1" y="1103"/>
                    </a:cubicBezTo>
                    <a:cubicBezTo>
                      <a:pt x="1" y="1702"/>
                      <a:pt x="505" y="2206"/>
                      <a:pt x="1104" y="2206"/>
                    </a:cubicBezTo>
                    <a:cubicBezTo>
                      <a:pt x="1702" y="2206"/>
                      <a:pt x="2206" y="1702"/>
                      <a:pt x="2206" y="1103"/>
                    </a:cubicBezTo>
                    <a:cubicBezTo>
                      <a:pt x="2206" y="473"/>
                      <a:pt x="1702" y="1"/>
                      <a:pt x="1104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" name="Google Shape;100;p15"/>
              <p:cNvSpPr/>
              <p:nvPr/>
            </p:nvSpPr>
            <p:spPr>
              <a:xfrm>
                <a:off x="-57119825" y="4179500"/>
                <a:ext cx="204800" cy="121325"/>
              </a:xfrm>
              <a:custGeom>
                <a:avLst/>
                <a:gdLst/>
                <a:ahLst/>
                <a:cxnLst/>
                <a:rect l="l" t="t" r="r" b="b"/>
                <a:pathLst>
                  <a:path w="8192" h="4853" extrusionOk="0">
                    <a:moveTo>
                      <a:pt x="5160" y="2151"/>
                    </a:moveTo>
                    <a:cubicBezTo>
                      <a:pt x="5254" y="2151"/>
                      <a:pt x="5341" y="2190"/>
                      <a:pt x="5388" y="2269"/>
                    </a:cubicBezTo>
                    <a:cubicBezTo>
                      <a:pt x="5546" y="2427"/>
                      <a:pt x="5546" y="2679"/>
                      <a:pt x="5388" y="2805"/>
                    </a:cubicBezTo>
                    <a:cubicBezTo>
                      <a:pt x="5042" y="3151"/>
                      <a:pt x="4569" y="3340"/>
                      <a:pt x="4096" y="3340"/>
                    </a:cubicBezTo>
                    <a:cubicBezTo>
                      <a:pt x="3624" y="3340"/>
                      <a:pt x="3120" y="3151"/>
                      <a:pt x="2805" y="2805"/>
                    </a:cubicBezTo>
                    <a:cubicBezTo>
                      <a:pt x="2647" y="2647"/>
                      <a:pt x="2647" y="2395"/>
                      <a:pt x="2805" y="2269"/>
                    </a:cubicBezTo>
                    <a:cubicBezTo>
                      <a:pt x="2884" y="2190"/>
                      <a:pt x="2978" y="2151"/>
                      <a:pt x="3069" y="2151"/>
                    </a:cubicBezTo>
                    <a:cubicBezTo>
                      <a:pt x="3159" y="2151"/>
                      <a:pt x="3246" y="2190"/>
                      <a:pt x="3309" y="2269"/>
                    </a:cubicBezTo>
                    <a:cubicBezTo>
                      <a:pt x="3529" y="2490"/>
                      <a:pt x="3813" y="2600"/>
                      <a:pt x="4096" y="2600"/>
                    </a:cubicBezTo>
                    <a:cubicBezTo>
                      <a:pt x="4380" y="2600"/>
                      <a:pt x="4664" y="2490"/>
                      <a:pt x="4884" y="2269"/>
                    </a:cubicBezTo>
                    <a:cubicBezTo>
                      <a:pt x="4963" y="2190"/>
                      <a:pt x="5065" y="2151"/>
                      <a:pt x="5160" y="2151"/>
                    </a:cubicBezTo>
                    <a:close/>
                    <a:moveTo>
                      <a:pt x="1" y="1"/>
                    </a:moveTo>
                    <a:lnTo>
                      <a:pt x="1" y="2238"/>
                    </a:lnTo>
                    <a:cubicBezTo>
                      <a:pt x="1" y="3687"/>
                      <a:pt x="1198" y="4853"/>
                      <a:pt x="2616" y="4853"/>
                    </a:cubicBezTo>
                    <a:lnTo>
                      <a:pt x="5609" y="4853"/>
                    </a:lnTo>
                    <a:cubicBezTo>
                      <a:pt x="7058" y="4853"/>
                      <a:pt x="8192" y="3655"/>
                      <a:pt x="8192" y="2238"/>
                    </a:cubicBezTo>
                    <a:lnTo>
                      <a:pt x="8192" y="1"/>
                    </a:lnTo>
                    <a:cubicBezTo>
                      <a:pt x="8192" y="977"/>
                      <a:pt x="7341" y="1860"/>
                      <a:pt x="6302" y="1860"/>
                    </a:cubicBezTo>
                    <a:cubicBezTo>
                      <a:pt x="5388" y="1860"/>
                      <a:pt x="4664" y="1230"/>
                      <a:pt x="4506" y="347"/>
                    </a:cubicBezTo>
                    <a:lnTo>
                      <a:pt x="3655" y="347"/>
                    </a:lnTo>
                    <a:cubicBezTo>
                      <a:pt x="3498" y="1230"/>
                      <a:pt x="2710" y="1860"/>
                      <a:pt x="1860" y="1860"/>
                    </a:cubicBezTo>
                    <a:cubicBezTo>
                      <a:pt x="820" y="1860"/>
                      <a:pt x="1" y="1009"/>
                      <a:pt x="1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" name="Google Shape;101;p15"/>
              <p:cNvSpPr/>
              <p:nvPr/>
            </p:nvSpPr>
            <p:spPr>
              <a:xfrm>
                <a:off x="-57158400" y="4156675"/>
                <a:ext cx="18900" cy="63825"/>
              </a:xfrm>
              <a:custGeom>
                <a:avLst/>
                <a:gdLst/>
                <a:ahLst/>
                <a:cxnLst/>
                <a:rect l="l" t="t" r="r" b="b"/>
                <a:pathLst>
                  <a:path w="756" h="2553" extrusionOk="0">
                    <a:moveTo>
                      <a:pt x="756" y="0"/>
                    </a:moveTo>
                    <a:cubicBezTo>
                      <a:pt x="315" y="252"/>
                      <a:pt x="0" y="725"/>
                      <a:pt x="0" y="1260"/>
                    </a:cubicBezTo>
                    <a:cubicBezTo>
                      <a:pt x="0" y="1827"/>
                      <a:pt x="315" y="2300"/>
                      <a:pt x="756" y="2552"/>
                    </a:cubicBezTo>
                    <a:lnTo>
                      <a:pt x="75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" name="Google Shape;102;p15"/>
              <p:cNvSpPr/>
              <p:nvPr/>
            </p:nvSpPr>
            <p:spPr>
              <a:xfrm>
                <a:off x="-56896125" y="4155875"/>
                <a:ext cx="18925" cy="63825"/>
              </a:xfrm>
              <a:custGeom>
                <a:avLst/>
                <a:gdLst/>
                <a:ahLst/>
                <a:cxnLst/>
                <a:rect l="l" t="t" r="r" b="b"/>
                <a:pathLst>
                  <a:path w="757" h="2553" extrusionOk="0">
                    <a:moveTo>
                      <a:pt x="0" y="1"/>
                    </a:moveTo>
                    <a:lnTo>
                      <a:pt x="0" y="2553"/>
                    </a:lnTo>
                    <a:cubicBezTo>
                      <a:pt x="441" y="2269"/>
                      <a:pt x="756" y="1796"/>
                      <a:pt x="756" y="1261"/>
                    </a:cubicBezTo>
                    <a:cubicBezTo>
                      <a:pt x="756" y="757"/>
                      <a:pt x="441" y="284"/>
                      <a:pt x="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" name="Google Shape;103;p15"/>
              <p:cNvSpPr/>
              <p:nvPr/>
            </p:nvSpPr>
            <p:spPr>
              <a:xfrm>
                <a:off x="-56924475" y="4149575"/>
                <a:ext cx="9450" cy="29175"/>
              </a:xfrm>
              <a:custGeom>
                <a:avLst/>
                <a:gdLst/>
                <a:ahLst/>
                <a:cxnLst/>
                <a:rect l="l" t="t" r="r" b="b"/>
                <a:pathLst>
                  <a:path w="378" h="1167" extrusionOk="0">
                    <a:moveTo>
                      <a:pt x="0" y="1"/>
                    </a:moveTo>
                    <a:cubicBezTo>
                      <a:pt x="221" y="379"/>
                      <a:pt x="378" y="757"/>
                      <a:pt x="378" y="1166"/>
                    </a:cubicBezTo>
                    <a:lnTo>
                      <a:pt x="378" y="883"/>
                    </a:lnTo>
                    <a:lnTo>
                      <a:pt x="378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04" name="Google Shape;104;p15"/>
          <p:cNvGrpSpPr/>
          <p:nvPr/>
        </p:nvGrpSpPr>
        <p:grpSpPr>
          <a:xfrm>
            <a:off x="4080463" y="3053450"/>
            <a:ext cx="3719585" cy="761591"/>
            <a:chOff x="4080463" y="3053450"/>
            <a:chExt cx="3719585" cy="761591"/>
          </a:xfrm>
        </p:grpSpPr>
        <p:sp>
          <p:nvSpPr>
            <p:cNvPr id="105" name="Google Shape;105;p15"/>
            <p:cNvSpPr/>
            <p:nvPr/>
          </p:nvSpPr>
          <p:spPr>
            <a:xfrm>
              <a:off x="5314288" y="3246300"/>
              <a:ext cx="856025" cy="117650"/>
            </a:xfrm>
            <a:custGeom>
              <a:avLst/>
              <a:gdLst/>
              <a:ahLst/>
              <a:cxnLst/>
              <a:rect l="l" t="t" r="r" b="b"/>
              <a:pathLst>
                <a:path w="34241" h="4706" extrusionOk="0">
                  <a:moveTo>
                    <a:pt x="0" y="0"/>
                  </a:moveTo>
                  <a:lnTo>
                    <a:pt x="16676" y="0"/>
                  </a:lnTo>
                  <a:lnTo>
                    <a:pt x="34241" y="4706"/>
                  </a:lnTo>
                </a:path>
              </a:pathLst>
            </a:custGeom>
            <a:noFill/>
            <a:ln w="19050" cap="flat" cmpd="sng">
              <a:solidFill>
                <a:schemeClr val="accent6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106" name="Google Shape;106;p15"/>
            <p:cNvSpPr/>
            <p:nvPr/>
          </p:nvSpPr>
          <p:spPr>
            <a:xfrm>
              <a:off x="6141413" y="3185225"/>
              <a:ext cx="90217" cy="498041"/>
            </a:xfrm>
            <a:custGeom>
              <a:avLst/>
              <a:gdLst/>
              <a:ahLst/>
              <a:cxnLst/>
              <a:rect l="l" t="t" r="r" b="b"/>
              <a:pathLst>
                <a:path w="2918" h="16110" extrusionOk="0">
                  <a:moveTo>
                    <a:pt x="2918" y="1"/>
                  </a:moveTo>
                  <a:cubicBezTo>
                    <a:pt x="2918" y="1"/>
                    <a:pt x="1715" y="1037"/>
                    <a:pt x="858" y="1858"/>
                  </a:cubicBezTo>
                  <a:cubicBezTo>
                    <a:pt x="1" y="2668"/>
                    <a:pt x="1" y="4061"/>
                    <a:pt x="1" y="4061"/>
                  </a:cubicBezTo>
                  <a:lnTo>
                    <a:pt x="1" y="12121"/>
                  </a:lnTo>
                  <a:cubicBezTo>
                    <a:pt x="1" y="12657"/>
                    <a:pt x="203" y="13169"/>
                    <a:pt x="572" y="13526"/>
                  </a:cubicBezTo>
                  <a:cubicBezTo>
                    <a:pt x="799" y="13764"/>
                    <a:pt x="1108" y="14026"/>
                    <a:pt x="1453" y="14253"/>
                  </a:cubicBezTo>
                  <a:cubicBezTo>
                    <a:pt x="2358" y="14836"/>
                    <a:pt x="2918" y="16110"/>
                    <a:pt x="2918" y="16110"/>
                  </a:cubicBezTo>
                  <a:lnTo>
                    <a:pt x="2918" y="1"/>
                  </a:lnTo>
                  <a:close/>
                </a:path>
              </a:pathLst>
            </a:custGeom>
            <a:solidFill>
              <a:srgbClr val="0A3F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07;p15"/>
            <p:cNvSpPr/>
            <p:nvPr/>
          </p:nvSpPr>
          <p:spPr>
            <a:xfrm>
              <a:off x="6231600" y="3053450"/>
              <a:ext cx="1568447" cy="761591"/>
            </a:xfrm>
            <a:custGeom>
              <a:avLst/>
              <a:gdLst/>
              <a:ahLst/>
              <a:cxnLst/>
              <a:rect l="l" t="t" r="r" b="b"/>
              <a:pathLst>
                <a:path w="50591" h="24635" extrusionOk="0">
                  <a:moveTo>
                    <a:pt x="1" y="0"/>
                  </a:moveTo>
                  <a:lnTo>
                    <a:pt x="1" y="24634"/>
                  </a:lnTo>
                  <a:lnTo>
                    <a:pt x="50591" y="24634"/>
                  </a:lnTo>
                  <a:lnTo>
                    <a:pt x="38982" y="0"/>
                  </a:ln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15"/>
            <p:cNvSpPr/>
            <p:nvPr/>
          </p:nvSpPr>
          <p:spPr>
            <a:xfrm>
              <a:off x="4080463" y="3110698"/>
              <a:ext cx="1236000" cy="2712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5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N2 Percepción · 369</a:t>
              </a:r>
              <a:endParaRPr>
                <a:solidFill>
                  <a:srgbClr val="FFFFFF"/>
                </a:solidFill>
              </a:endParaRPr>
            </a:p>
          </p:txBody>
        </p:sp>
        <p:grpSp>
          <p:nvGrpSpPr>
            <p:cNvPr id="109" name="Google Shape;109;p15"/>
            <p:cNvGrpSpPr/>
            <p:nvPr/>
          </p:nvGrpSpPr>
          <p:grpSpPr>
            <a:xfrm>
              <a:off x="6688817" y="3255114"/>
              <a:ext cx="314662" cy="358971"/>
              <a:chOff x="-54793175" y="3198925"/>
              <a:chExt cx="279625" cy="319000"/>
            </a:xfrm>
          </p:grpSpPr>
          <p:sp>
            <p:nvSpPr>
              <p:cNvPr id="110" name="Google Shape;110;p15"/>
              <p:cNvSpPr/>
              <p:nvPr/>
            </p:nvSpPr>
            <p:spPr>
              <a:xfrm>
                <a:off x="-54532475" y="3354075"/>
                <a:ext cx="18925" cy="60675"/>
              </a:xfrm>
              <a:custGeom>
                <a:avLst/>
                <a:gdLst/>
                <a:ahLst/>
                <a:cxnLst/>
                <a:rect l="l" t="t" r="r" b="b"/>
                <a:pathLst>
                  <a:path w="757" h="2427" extrusionOk="0">
                    <a:moveTo>
                      <a:pt x="1" y="1"/>
                    </a:moveTo>
                    <a:lnTo>
                      <a:pt x="1" y="788"/>
                    </a:lnTo>
                    <a:cubicBezTo>
                      <a:pt x="158" y="1355"/>
                      <a:pt x="190" y="1891"/>
                      <a:pt x="190" y="2427"/>
                    </a:cubicBezTo>
                    <a:cubicBezTo>
                      <a:pt x="505" y="2143"/>
                      <a:pt x="757" y="1734"/>
                      <a:pt x="757" y="1261"/>
                    </a:cubicBezTo>
                    <a:cubicBezTo>
                      <a:pt x="757" y="725"/>
                      <a:pt x="473" y="253"/>
                      <a:pt x="1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" name="Google Shape;111;p15"/>
              <p:cNvSpPr/>
              <p:nvPr/>
            </p:nvSpPr>
            <p:spPr>
              <a:xfrm>
                <a:off x="-54793175" y="3198925"/>
                <a:ext cx="97675" cy="126050"/>
              </a:xfrm>
              <a:custGeom>
                <a:avLst/>
                <a:gdLst/>
                <a:ahLst/>
                <a:cxnLst/>
                <a:rect l="l" t="t" r="r" b="b"/>
                <a:pathLst>
                  <a:path w="3907" h="5042" extrusionOk="0">
                    <a:moveTo>
                      <a:pt x="2993" y="0"/>
                    </a:moveTo>
                    <a:cubicBezTo>
                      <a:pt x="2426" y="0"/>
                      <a:pt x="1954" y="315"/>
                      <a:pt x="1702" y="756"/>
                    </a:cubicBezTo>
                    <a:cubicBezTo>
                      <a:pt x="1632" y="746"/>
                      <a:pt x="1562" y="742"/>
                      <a:pt x="1494" y="742"/>
                    </a:cubicBezTo>
                    <a:cubicBezTo>
                      <a:pt x="695" y="742"/>
                      <a:pt x="0" y="1396"/>
                      <a:pt x="0" y="2237"/>
                    </a:cubicBezTo>
                    <a:cubicBezTo>
                      <a:pt x="0" y="2521"/>
                      <a:pt x="63" y="2741"/>
                      <a:pt x="190" y="2993"/>
                    </a:cubicBezTo>
                    <a:cubicBezTo>
                      <a:pt x="63" y="3214"/>
                      <a:pt x="0" y="3466"/>
                      <a:pt x="0" y="3749"/>
                    </a:cubicBezTo>
                    <a:cubicBezTo>
                      <a:pt x="0" y="4285"/>
                      <a:pt x="316" y="4758"/>
                      <a:pt x="757" y="5041"/>
                    </a:cubicBezTo>
                    <a:lnTo>
                      <a:pt x="757" y="4852"/>
                    </a:lnTo>
                    <a:cubicBezTo>
                      <a:pt x="757" y="2804"/>
                      <a:pt x="2048" y="1008"/>
                      <a:pt x="3907" y="315"/>
                    </a:cubicBezTo>
                    <a:cubicBezTo>
                      <a:pt x="3655" y="126"/>
                      <a:pt x="3340" y="0"/>
                      <a:pt x="299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" name="Google Shape;112;p15"/>
              <p:cNvSpPr/>
              <p:nvPr/>
            </p:nvSpPr>
            <p:spPr>
              <a:xfrm>
                <a:off x="-54624625" y="3349350"/>
                <a:ext cx="55150" cy="55175"/>
              </a:xfrm>
              <a:custGeom>
                <a:avLst/>
                <a:gdLst/>
                <a:ahLst/>
                <a:cxnLst/>
                <a:rect l="l" t="t" r="r" b="b"/>
                <a:pathLst>
                  <a:path w="2206" h="2207" extrusionOk="0">
                    <a:moveTo>
                      <a:pt x="1103" y="1"/>
                    </a:moveTo>
                    <a:cubicBezTo>
                      <a:pt x="473" y="1"/>
                      <a:pt x="1" y="505"/>
                      <a:pt x="1" y="1103"/>
                    </a:cubicBezTo>
                    <a:cubicBezTo>
                      <a:pt x="1" y="1702"/>
                      <a:pt x="473" y="2206"/>
                      <a:pt x="1103" y="2206"/>
                    </a:cubicBezTo>
                    <a:cubicBezTo>
                      <a:pt x="1702" y="2206"/>
                      <a:pt x="2206" y="1702"/>
                      <a:pt x="2206" y="1103"/>
                    </a:cubicBezTo>
                    <a:cubicBezTo>
                      <a:pt x="2206" y="505"/>
                      <a:pt x="1702" y="1"/>
                      <a:pt x="1103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" name="Google Shape;113;p15"/>
              <p:cNvSpPr/>
              <p:nvPr/>
            </p:nvSpPr>
            <p:spPr>
              <a:xfrm>
                <a:off x="-54737250" y="3349350"/>
                <a:ext cx="55150" cy="55175"/>
              </a:xfrm>
              <a:custGeom>
                <a:avLst/>
                <a:gdLst/>
                <a:ahLst/>
                <a:cxnLst/>
                <a:rect l="l" t="t" r="r" b="b"/>
                <a:pathLst>
                  <a:path w="2206" h="2207" extrusionOk="0">
                    <a:moveTo>
                      <a:pt x="1103" y="1"/>
                    </a:moveTo>
                    <a:cubicBezTo>
                      <a:pt x="504" y="1"/>
                      <a:pt x="0" y="505"/>
                      <a:pt x="0" y="1103"/>
                    </a:cubicBezTo>
                    <a:cubicBezTo>
                      <a:pt x="0" y="1702"/>
                      <a:pt x="504" y="2206"/>
                      <a:pt x="1103" y="2206"/>
                    </a:cubicBezTo>
                    <a:cubicBezTo>
                      <a:pt x="1733" y="2206"/>
                      <a:pt x="2206" y="1702"/>
                      <a:pt x="2206" y="1103"/>
                    </a:cubicBezTo>
                    <a:cubicBezTo>
                      <a:pt x="2206" y="505"/>
                      <a:pt x="1733" y="1"/>
                      <a:pt x="1103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" name="Google Shape;114;p15"/>
              <p:cNvSpPr/>
              <p:nvPr/>
            </p:nvSpPr>
            <p:spPr>
              <a:xfrm>
                <a:off x="-54770325" y="3218600"/>
                <a:ext cx="233925" cy="299325"/>
              </a:xfrm>
              <a:custGeom>
                <a:avLst/>
                <a:gdLst/>
                <a:ahLst/>
                <a:cxnLst/>
                <a:rect l="l" t="t" r="r" b="b"/>
                <a:pathLst>
                  <a:path w="9357" h="11973" extrusionOk="0">
                    <a:moveTo>
                      <a:pt x="6175" y="2962"/>
                    </a:moveTo>
                    <a:cubicBezTo>
                      <a:pt x="6364" y="2962"/>
                      <a:pt x="6522" y="3120"/>
                      <a:pt x="6522" y="3309"/>
                    </a:cubicBezTo>
                    <a:cubicBezTo>
                      <a:pt x="6522" y="3498"/>
                      <a:pt x="6364" y="3656"/>
                      <a:pt x="6175" y="3656"/>
                    </a:cubicBezTo>
                    <a:lnTo>
                      <a:pt x="3182" y="3656"/>
                    </a:lnTo>
                    <a:cubicBezTo>
                      <a:pt x="2993" y="3656"/>
                      <a:pt x="2836" y="3498"/>
                      <a:pt x="2836" y="3309"/>
                    </a:cubicBezTo>
                    <a:cubicBezTo>
                      <a:pt x="2836" y="3120"/>
                      <a:pt x="2993" y="2962"/>
                      <a:pt x="3182" y="2962"/>
                    </a:cubicBezTo>
                    <a:close/>
                    <a:moveTo>
                      <a:pt x="6931" y="4443"/>
                    </a:moveTo>
                    <a:cubicBezTo>
                      <a:pt x="9357" y="4443"/>
                      <a:pt x="9357" y="8192"/>
                      <a:pt x="6931" y="8192"/>
                    </a:cubicBezTo>
                    <a:cubicBezTo>
                      <a:pt x="6018" y="8192"/>
                      <a:pt x="5261" y="7562"/>
                      <a:pt x="5104" y="6680"/>
                    </a:cubicBezTo>
                    <a:lnTo>
                      <a:pt x="4285" y="6680"/>
                    </a:lnTo>
                    <a:cubicBezTo>
                      <a:pt x="4127" y="7562"/>
                      <a:pt x="3340" y="8192"/>
                      <a:pt x="2458" y="8192"/>
                    </a:cubicBezTo>
                    <a:cubicBezTo>
                      <a:pt x="0" y="8192"/>
                      <a:pt x="0" y="4443"/>
                      <a:pt x="2458" y="4443"/>
                    </a:cubicBezTo>
                    <a:cubicBezTo>
                      <a:pt x="3371" y="4443"/>
                      <a:pt x="4127" y="5073"/>
                      <a:pt x="4285" y="5955"/>
                    </a:cubicBezTo>
                    <a:lnTo>
                      <a:pt x="5104" y="5955"/>
                    </a:lnTo>
                    <a:cubicBezTo>
                      <a:pt x="5261" y="5073"/>
                      <a:pt x="6049" y="4443"/>
                      <a:pt x="6931" y="4443"/>
                    </a:cubicBezTo>
                    <a:close/>
                    <a:moveTo>
                      <a:pt x="5695" y="8547"/>
                    </a:moveTo>
                    <a:cubicBezTo>
                      <a:pt x="5789" y="8547"/>
                      <a:pt x="5876" y="8586"/>
                      <a:pt x="5923" y="8665"/>
                    </a:cubicBezTo>
                    <a:cubicBezTo>
                      <a:pt x="6144" y="8791"/>
                      <a:pt x="6144" y="9011"/>
                      <a:pt x="5986" y="9169"/>
                    </a:cubicBezTo>
                    <a:cubicBezTo>
                      <a:pt x="5608" y="9515"/>
                      <a:pt x="5135" y="9704"/>
                      <a:pt x="4631" y="9704"/>
                    </a:cubicBezTo>
                    <a:cubicBezTo>
                      <a:pt x="4127" y="9704"/>
                      <a:pt x="3655" y="9515"/>
                      <a:pt x="3340" y="9169"/>
                    </a:cubicBezTo>
                    <a:cubicBezTo>
                      <a:pt x="3182" y="9011"/>
                      <a:pt x="3182" y="8791"/>
                      <a:pt x="3340" y="8665"/>
                    </a:cubicBezTo>
                    <a:cubicBezTo>
                      <a:pt x="3418" y="8586"/>
                      <a:pt x="3513" y="8547"/>
                      <a:pt x="3603" y="8547"/>
                    </a:cubicBezTo>
                    <a:cubicBezTo>
                      <a:pt x="3694" y="8547"/>
                      <a:pt x="3781" y="8586"/>
                      <a:pt x="3844" y="8665"/>
                    </a:cubicBezTo>
                    <a:cubicBezTo>
                      <a:pt x="4064" y="8885"/>
                      <a:pt x="4348" y="8996"/>
                      <a:pt x="4631" y="8996"/>
                    </a:cubicBezTo>
                    <a:cubicBezTo>
                      <a:pt x="4915" y="8996"/>
                      <a:pt x="5198" y="8885"/>
                      <a:pt x="5419" y="8665"/>
                    </a:cubicBezTo>
                    <a:cubicBezTo>
                      <a:pt x="5498" y="8586"/>
                      <a:pt x="5600" y="8547"/>
                      <a:pt x="5695" y="8547"/>
                    </a:cubicBezTo>
                    <a:close/>
                    <a:moveTo>
                      <a:pt x="4663" y="1"/>
                    </a:moveTo>
                    <a:cubicBezTo>
                      <a:pt x="2426" y="1"/>
                      <a:pt x="599" y="1828"/>
                      <a:pt x="599" y="4097"/>
                    </a:cubicBezTo>
                    <a:lnTo>
                      <a:pt x="599" y="6270"/>
                    </a:lnTo>
                    <a:cubicBezTo>
                      <a:pt x="158" y="7751"/>
                      <a:pt x="441" y="9137"/>
                      <a:pt x="1260" y="10240"/>
                    </a:cubicBezTo>
                    <a:cubicBezTo>
                      <a:pt x="2079" y="11343"/>
                      <a:pt x="3340" y="11973"/>
                      <a:pt x="4663" y="11973"/>
                    </a:cubicBezTo>
                    <a:cubicBezTo>
                      <a:pt x="6018" y="11973"/>
                      <a:pt x="7309" y="11343"/>
                      <a:pt x="8097" y="10240"/>
                    </a:cubicBezTo>
                    <a:cubicBezTo>
                      <a:pt x="8916" y="9169"/>
                      <a:pt x="9200" y="7783"/>
                      <a:pt x="8758" y="6270"/>
                    </a:cubicBezTo>
                    <a:lnTo>
                      <a:pt x="8758" y="4097"/>
                    </a:lnTo>
                    <a:cubicBezTo>
                      <a:pt x="8758" y="2994"/>
                      <a:pt x="8349" y="1954"/>
                      <a:pt x="7593" y="1167"/>
                    </a:cubicBezTo>
                    <a:cubicBezTo>
                      <a:pt x="6805" y="379"/>
                      <a:pt x="5766" y="1"/>
                      <a:pt x="4663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" name="Google Shape;115;p15"/>
              <p:cNvSpPr/>
              <p:nvPr/>
            </p:nvSpPr>
            <p:spPr>
              <a:xfrm>
                <a:off x="-54612025" y="3198925"/>
                <a:ext cx="96100" cy="123675"/>
              </a:xfrm>
              <a:custGeom>
                <a:avLst/>
                <a:gdLst/>
                <a:ahLst/>
                <a:cxnLst/>
                <a:rect l="l" t="t" r="r" b="b"/>
                <a:pathLst>
                  <a:path w="3844" h="4947" extrusionOk="0">
                    <a:moveTo>
                      <a:pt x="851" y="0"/>
                    </a:moveTo>
                    <a:cubicBezTo>
                      <a:pt x="536" y="0"/>
                      <a:pt x="221" y="95"/>
                      <a:pt x="1" y="252"/>
                    </a:cubicBezTo>
                    <a:cubicBezTo>
                      <a:pt x="662" y="504"/>
                      <a:pt x="1261" y="882"/>
                      <a:pt x="1765" y="1418"/>
                    </a:cubicBezTo>
                    <a:cubicBezTo>
                      <a:pt x="2679" y="2363"/>
                      <a:pt x="3183" y="3560"/>
                      <a:pt x="3183" y="4821"/>
                    </a:cubicBezTo>
                    <a:lnTo>
                      <a:pt x="3183" y="4947"/>
                    </a:lnTo>
                    <a:cubicBezTo>
                      <a:pt x="3592" y="4695"/>
                      <a:pt x="3844" y="4253"/>
                      <a:pt x="3844" y="3749"/>
                    </a:cubicBezTo>
                    <a:cubicBezTo>
                      <a:pt x="3844" y="3466"/>
                      <a:pt x="3781" y="3214"/>
                      <a:pt x="3655" y="2993"/>
                    </a:cubicBezTo>
                    <a:cubicBezTo>
                      <a:pt x="3781" y="2741"/>
                      <a:pt x="3844" y="2521"/>
                      <a:pt x="3844" y="2237"/>
                    </a:cubicBezTo>
                    <a:cubicBezTo>
                      <a:pt x="3844" y="1380"/>
                      <a:pt x="3123" y="716"/>
                      <a:pt x="2330" y="716"/>
                    </a:cubicBezTo>
                    <a:cubicBezTo>
                      <a:pt x="2279" y="716"/>
                      <a:pt x="2227" y="719"/>
                      <a:pt x="2174" y="725"/>
                    </a:cubicBezTo>
                    <a:cubicBezTo>
                      <a:pt x="1891" y="252"/>
                      <a:pt x="1418" y="0"/>
                      <a:pt x="85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" name="Google Shape;116;p15"/>
              <p:cNvSpPr/>
              <p:nvPr/>
            </p:nvSpPr>
            <p:spPr>
              <a:xfrm>
                <a:off x="-54793175" y="3353300"/>
                <a:ext cx="18925" cy="60675"/>
              </a:xfrm>
              <a:custGeom>
                <a:avLst/>
                <a:gdLst/>
                <a:ahLst/>
                <a:cxnLst/>
                <a:rect l="l" t="t" r="r" b="b"/>
                <a:pathLst>
                  <a:path w="757" h="2427" extrusionOk="0">
                    <a:moveTo>
                      <a:pt x="757" y="0"/>
                    </a:moveTo>
                    <a:cubicBezTo>
                      <a:pt x="316" y="284"/>
                      <a:pt x="0" y="756"/>
                      <a:pt x="0" y="1292"/>
                    </a:cubicBezTo>
                    <a:cubicBezTo>
                      <a:pt x="0" y="1765"/>
                      <a:pt x="190" y="2174"/>
                      <a:pt x="536" y="2426"/>
                    </a:cubicBezTo>
                    <a:cubicBezTo>
                      <a:pt x="505" y="1859"/>
                      <a:pt x="599" y="1292"/>
                      <a:pt x="757" y="756"/>
                    </a:cubicBezTo>
                    <a:lnTo>
                      <a:pt x="75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17" name="Google Shape;117;p15"/>
          <p:cNvSpPr txBox="1"/>
          <p:nvPr/>
        </p:nvSpPr>
        <p:spPr>
          <a:xfrm>
            <a:off x="457200" y="274320"/>
            <a:ext cx="3200400" cy="118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 b="1">
                <a:solidFill>
                  <a:srgbClr val="002060"/>
                </a:solidFill>
                <a:latin typeface="Area Normal Trial Black"/>
                <a:ea typeface="Fira Sans Extra Condensed Medium"/>
                <a:cs typeface="Fira Sans Extra Condensed Medium"/>
                <a:sym typeface="Fira Sans Extra Condensed Medium"/>
              </a:rPr>
              <a:t>Todas las estrategias miden algo; casi ninguna mide si se aprendió</a:t>
            </a:r>
            <a:endParaRPr sz="2800">
              <a:solidFill>
                <a:srgbClr val="434343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118" name="Google Shape;118;p15"/>
          <p:cNvSpPr txBox="1"/>
          <p:nvPr/>
        </p:nvSpPr>
        <p:spPr>
          <a:xfrm>
            <a:off x="457200" y="1600200"/>
            <a:ext cx="3108960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800"/>
              </a:spcAft>
              <a:buNone/>
            </a:pPr>
            <a:r>
              <a:rPr lang="en" sz="1150">
                <a:solidFill>
                  <a:srgbClr val="263A58"/>
                </a:solidFill>
                <a:latin typeface="Roboto"/>
                <a:ea typeface="Roboto"/>
                <a:cs typeface="Roboto"/>
                <a:sym typeface="Roboto"/>
              </a:rPr>
              <a:t>99,5 % de los 1.185 indicadores mide ejecución (N1) o percepción (N2).</a:t>
            </a:r>
            <a:endParaRPr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800"/>
              </a:spcAft>
              <a:buNone/>
            </a:pPr>
            <a:r>
              <a:rPr lang="en" sz="1150">
                <a:solidFill>
                  <a:srgbClr val="263A58"/>
                </a:solidFill>
                <a:latin typeface="Roboto"/>
                <a:ea typeface="Roboto"/>
                <a:cs typeface="Roboto"/>
                <a:sym typeface="Roboto"/>
              </a:rPr>
              <a:t>3 de 391 estrategias (0,8 %) aportan aprendizaje demostrado (N3).</a:t>
            </a:r>
            <a:endParaRPr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800"/>
              </a:spcAft>
              <a:buNone/>
            </a:pPr>
            <a:r>
              <a:rPr lang="en" sz="1150">
                <a:solidFill>
                  <a:srgbClr val="263A58"/>
                </a:solidFill>
                <a:latin typeface="Roboto"/>
                <a:ea typeface="Roboto"/>
                <a:cs typeface="Roboto"/>
                <a:sym typeface="Roboto"/>
              </a:rPr>
              <a:t>38 de 44 RA sin estrategia son el RA genérico: sin él, la trazabilidad pasa de 87,0 % a 98,0 %.</a:t>
            </a:r>
            <a:endParaRPr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9" name="Cautela"/>
          <p:cNvSpPr txBox="1"/>
          <p:nvPr/>
        </p:nvSpPr>
        <p:spPr>
          <a:xfrm>
            <a:off x="457200" y="4709160"/>
            <a:ext cx="7863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D6285"/>
                </a:solidFill>
                <a:latin typeface="Area Normal Trial Light"/>
              </a:rPr>
              <a:t>Estrategias por nivel de evidencia declarado. N1–N5 los clasificó un solo codificador; la plantilla no exige un nivel mínimo.</a:t>
            </a:r>
          </a:p>
        </p:txBody>
      </p:sp>
      <p:pic>
        <p:nvPicPr>
          <p:cNvPr id="121" name="Logo POLI" descr="logo_sell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8120" y="256032"/>
            <a:ext cx="914400" cy="203200"/>
          </a:xfrm>
          <a:prstGeom prst="rect">
            <a:avLst/>
          </a:prstGeom>
        </p:spPr>
      </p:pic>
      <p:sp>
        <p:nvSpPr>
          <p:cNvPr id="122" name="Numero"/>
          <p:cNvSpPr txBox="1"/>
          <p:nvPr/>
        </p:nvSpPr>
        <p:spPr>
          <a:xfrm>
            <a:off x="8458200" y="4727448"/>
            <a:ext cx="3657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002060"/>
                </a:solidFill>
                <a:latin typeface="Area Normal Trial Light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9" name="Fondo POLI" descr="bg_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grpSp>
        <p:nvGrpSpPr>
          <p:cNvPr id="600" name="Google Shape;600;p24"/>
          <p:cNvGrpSpPr/>
          <p:nvPr/>
        </p:nvGrpSpPr>
        <p:grpSpPr>
          <a:xfrm>
            <a:off x="3350650" y="1210525"/>
            <a:ext cx="2442600" cy="2999426"/>
            <a:chOff x="3350650" y="1210525"/>
            <a:chExt cx="2442600" cy="2999426"/>
          </a:xfrm>
        </p:grpSpPr>
        <p:grpSp>
          <p:nvGrpSpPr>
            <p:cNvPr id="601" name="Google Shape;601;p24"/>
            <p:cNvGrpSpPr/>
            <p:nvPr/>
          </p:nvGrpSpPr>
          <p:grpSpPr>
            <a:xfrm>
              <a:off x="3350650" y="3181050"/>
              <a:ext cx="2442600" cy="1028901"/>
              <a:chOff x="3350650" y="3181050"/>
              <a:chExt cx="2442600" cy="1028901"/>
            </a:xfrm>
          </p:grpSpPr>
          <p:sp>
            <p:nvSpPr>
              <p:cNvPr id="602" name="Google Shape;602;p24"/>
              <p:cNvSpPr txBox="1"/>
              <p:nvPr/>
            </p:nvSpPr>
            <p:spPr>
              <a:xfrm>
                <a:off x="3552783" y="3181050"/>
                <a:ext cx="2038500" cy="253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400">
                    <a:solidFill>
                      <a:schemeClr val="accent3"/>
                    </a:solidFill>
                    <a:latin typeface="Fira Sans Extra Condensed Medium"/>
                    <a:ea typeface="Fira Sans Extra Condensed Medium"/>
                    <a:cs typeface="Fira Sans Extra Condensed Medium"/>
                    <a:sym typeface="Fira Sans Extra Condensed Medium"/>
                  </a:rPr>
                  <a:t>Asignaturas que concentran</a:t>
                </a:r>
                <a:endParaRPr sz="2000">
                  <a:solidFill>
                    <a:schemeClr val="accent3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endParaRPr>
              </a:p>
            </p:txBody>
          </p:sp>
          <p:sp>
            <p:nvSpPr>
              <p:cNvPr id="603" name="Google Shape;603;p24"/>
              <p:cNvSpPr txBox="1"/>
              <p:nvPr/>
            </p:nvSpPr>
            <p:spPr>
              <a:xfrm>
                <a:off x="3350650" y="3441951"/>
                <a:ext cx="2442600" cy="768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rPr>
                  <a:t>937 de 1.616 asignaturas pertenecen a esas denominaciones.</a:t>
                </a:r>
                <a:endParaRPr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grpSp>
          <p:nvGrpSpPr>
            <p:cNvPr id="604" name="Google Shape;604;p24"/>
            <p:cNvGrpSpPr/>
            <p:nvPr/>
          </p:nvGrpSpPr>
          <p:grpSpPr>
            <a:xfrm>
              <a:off x="3684525" y="1210525"/>
              <a:ext cx="1774900" cy="1774800"/>
              <a:chOff x="3684525" y="1210525"/>
              <a:chExt cx="1774900" cy="1774800"/>
            </a:xfrm>
          </p:grpSpPr>
          <p:grpSp>
            <p:nvGrpSpPr>
              <p:cNvPr id="605" name="Google Shape;605;p24"/>
              <p:cNvGrpSpPr/>
              <p:nvPr/>
            </p:nvGrpSpPr>
            <p:grpSpPr>
              <a:xfrm>
                <a:off x="3684525" y="1210525"/>
                <a:ext cx="1774900" cy="1774800"/>
                <a:chOff x="3684525" y="1210525"/>
                <a:chExt cx="1774900" cy="1774800"/>
              </a:xfrm>
            </p:grpSpPr>
            <p:sp>
              <p:nvSpPr>
                <p:cNvPr id="606" name="Google Shape;606;p24"/>
                <p:cNvSpPr/>
                <p:nvPr/>
              </p:nvSpPr>
              <p:spPr>
                <a:xfrm>
                  <a:off x="3684625" y="1210525"/>
                  <a:ext cx="1774800" cy="1774800"/>
                </a:xfrm>
                <a:prstGeom prst="donut">
                  <a:avLst>
                    <a:gd name="adj" fmla="val 25000"/>
                  </a:avLst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07" name="Google Shape;607;p24"/>
                <p:cNvSpPr/>
                <p:nvPr/>
              </p:nvSpPr>
              <p:spPr>
                <a:xfrm flipH="1">
                  <a:off x="3684525" y="1210850"/>
                  <a:ext cx="1774800" cy="1774200"/>
                </a:xfrm>
                <a:prstGeom prst="blockArc">
                  <a:avLst>
                    <a:gd name="adj1" fmla="val 3650655"/>
                    <a:gd name="adj2" fmla="val 16178655"/>
                    <a:gd name="adj3" fmla="val 24797"/>
                  </a:avLst>
                </a:prstGeom>
                <a:gradFill>
                  <a:gsLst>
                    <a:gs pos="0">
                      <a:srgbClr val="22B2DE"/>
                    </a:gs>
                    <a:gs pos="100000">
                      <a:srgbClr val="0A3F80"/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608" name="Google Shape;608;p24"/>
              <p:cNvSpPr txBox="1"/>
              <p:nvPr/>
            </p:nvSpPr>
            <p:spPr>
              <a:xfrm>
                <a:off x="4117875" y="1877575"/>
                <a:ext cx="908400" cy="440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>
                    <a:solidFill>
                      <a:schemeClr val="accent1"/>
                    </a:solidFill>
                    <a:latin typeface="Fira Sans Extra Condensed Medium"/>
                    <a:ea typeface="Fira Sans Extra Condensed Medium"/>
                    <a:cs typeface="Fira Sans Extra Condensed Medium"/>
                    <a:sym typeface="Fira Sans Extra Condensed Medium"/>
                  </a:rPr>
                  <a:t>58,0 %</a:t>
                </a:r>
                <a:endParaRPr sz="2200">
                  <a:solidFill>
                    <a:schemeClr val="accent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endParaRPr>
              </a:p>
            </p:txBody>
          </p:sp>
        </p:grpSp>
      </p:grpSp>
      <p:grpSp>
        <p:nvGrpSpPr>
          <p:cNvPr id="609" name="Google Shape;609;p24"/>
          <p:cNvGrpSpPr/>
          <p:nvPr/>
        </p:nvGrpSpPr>
        <p:grpSpPr>
          <a:xfrm>
            <a:off x="661675" y="1210525"/>
            <a:ext cx="2442600" cy="2999426"/>
            <a:chOff x="661675" y="1210525"/>
            <a:chExt cx="2442600" cy="2999426"/>
          </a:xfrm>
        </p:grpSpPr>
        <p:grpSp>
          <p:nvGrpSpPr>
            <p:cNvPr id="610" name="Google Shape;610;p24"/>
            <p:cNvGrpSpPr/>
            <p:nvPr/>
          </p:nvGrpSpPr>
          <p:grpSpPr>
            <a:xfrm>
              <a:off x="661675" y="3181050"/>
              <a:ext cx="2442600" cy="1028901"/>
              <a:chOff x="661675" y="3181050"/>
              <a:chExt cx="2442600" cy="1028901"/>
            </a:xfrm>
          </p:grpSpPr>
          <p:sp>
            <p:nvSpPr>
              <p:cNvPr id="611" name="Google Shape;611;p24"/>
              <p:cNvSpPr txBox="1"/>
              <p:nvPr/>
            </p:nvSpPr>
            <p:spPr>
              <a:xfrm>
                <a:off x="863733" y="3181050"/>
                <a:ext cx="2038500" cy="253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400">
                    <a:solidFill>
                      <a:schemeClr val="accent2"/>
                    </a:solidFill>
                    <a:latin typeface="Fira Sans Extra Condensed Medium"/>
                    <a:ea typeface="Fira Sans Extra Condensed Medium"/>
                    <a:cs typeface="Fira Sans Extra Condensed Medium"/>
                    <a:sym typeface="Fira Sans Extra Condensed Medium"/>
                  </a:rPr>
                  <a:t>Denominaciones repetidas</a:t>
                </a:r>
                <a:endParaRPr sz="2000">
                  <a:solidFill>
                    <a:schemeClr val="accent2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endParaRPr>
              </a:p>
            </p:txBody>
          </p:sp>
          <p:sp>
            <p:nvSpPr>
              <p:cNvPr id="612" name="Google Shape;612;p24"/>
              <p:cNvSpPr txBox="1"/>
              <p:nvPr/>
            </p:nvSpPr>
            <p:spPr>
              <a:xfrm>
                <a:off x="661675" y="3441951"/>
                <a:ext cx="2442600" cy="768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rPr>
                  <a:t>159 de 709 aparecen en más de un programa.</a:t>
                </a:r>
                <a:endParaRPr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grpSp>
          <p:nvGrpSpPr>
            <p:cNvPr id="613" name="Google Shape;613;p24"/>
            <p:cNvGrpSpPr/>
            <p:nvPr/>
          </p:nvGrpSpPr>
          <p:grpSpPr>
            <a:xfrm>
              <a:off x="995475" y="1210525"/>
              <a:ext cx="1774900" cy="1774800"/>
              <a:chOff x="995475" y="1210525"/>
              <a:chExt cx="1774900" cy="1774800"/>
            </a:xfrm>
          </p:grpSpPr>
          <p:grpSp>
            <p:nvGrpSpPr>
              <p:cNvPr id="614" name="Google Shape;614;p24"/>
              <p:cNvGrpSpPr/>
              <p:nvPr/>
            </p:nvGrpSpPr>
            <p:grpSpPr>
              <a:xfrm>
                <a:off x="995475" y="1210525"/>
                <a:ext cx="1774900" cy="1774800"/>
                <a:chOff x="995475" y="1210525"/>
                <a:chExt cx="1774900" cy="1774800"/>
              </a:xfrm>
            </p:grpSpPr>
            <p:sp>
              <p:nvSpPr>
                <p:cNvPr id="615" name="Google Shape;615;p24"/>
                <p:cNvSpPr/>
                <p:nvPr/>
              </p:nvSpPr>
              <p:spPr>
                <a:xfrm>
                  <a:off x="995575" y="1210525"/>
                  <a:ext cx="1774800" cy="1774800"/>
                </a:xfrm>
                <a:prstGeom prst="donut">
                  <a:avLst>
                    <a:gd name="adj" fmla="val 25000"/>
                  </a:avLst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16" name="Google Shape;616;p24"/>
                <p:cNvSpPr/>
                <p:nvPr/>
              </p:nvSpPr>
              <p:spPr>
                <a:xfrm flipH="1">
                  <a:off x="995475" y="1210850"/>
                  <a:ext cx="1774800" cy="1774200"/>
                </a:xfrm>
                <a:prstGeom prst="blockArc">
                  <a:avLst>
                    <a:gd name="adj1" fmla="val 11340255"/>
                    <a:gd name="adj2" fmla="val 16178655"/>
                    <a:gd name="adj3" fmla="val 24797"/>
                  </a:avLst>
                </a:prstGeom>
                <a:gradFill>
                  <a:gsLst>
                    <a:gs pos="0">
                      <a:srgbClr val="00B0F0"/>
                    </a:gs>
                    <a:gs pos="100000">
                      <a:srgbClr val="002060"/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617" name="Google Shape;617;p24"/>
              <p:cNvSpPr txBox="1"/>
              <p:nvPr/>
            </p:nvSpPr>
            <p:spPr>
              <a:xfrm>
                <a:off x="1428825" y="1877575"/>
                <a:ext cx="908400" cy="440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>
                    <a:solidFill>
                      <a:schemeClr val="accent1"/>
                    </a:solidFill>
                    <a:latin typeface="Fira Sans Extra Condensed Medium"/>
                    <a:ea typeface="Fira Sans Extra Condensed Medium"/>
                    <a:cs typeface="Fira Sans Extra Condensed Medium"/>
                    <a:sym typeface="Fira Sans Extra Condensed Medium"/>
                  </a:rPr>
                  <a:t>22,4 %</a:t>
                </a:r>
                <a:endParaRPr sz="2200">
                  <a:solidFill>
                    <a:schemeClr val="accent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endParaRPr>
              </a:p>
            </p:txBody>
          </p:sp>
        </p:grpSp>
      </p:grpSp>
      <p:grpSp>
        <p:nvGrpSpPr>
          <p:cNvPr id="618" name="Google Shape;618;p24"/>
          <p:cNvGrpSpPr/>
          <p:nvPr/>
        </p:nvGrpSpPr>
        <p:grpSpPr>
          <a:xfrm>
            <a:off x="6039675" y="1210525"/>
            <a:ext cx="2442600" cy="2999426"/>
            <a:chOff x="6039675" y="1210525"/>
            <a:chExt cx="2442600" cy="2999426"/>
          </a:xfrm>
        </p:grpSpPr>
        <p:grpSp>
          <p:nvGrpSpPr>
            <p:cNvPr id="619" name="Google Shape;619;p24"/>
            <p:cNvGrpSpPr/>
            <p:nvPr/>
          </p:nvGrpSpPr>
          <p:grpSpPr>
            <a:xfrm>
              <a:off x="6039675" y="3181050"/>
              <a:ext cx="2442600" cy="1028901"/>
              <a:chOff x="6039675" y="3181050"/>
              <a:chExt cx="2442600" cy="1028901"/>
            </a:xfrm>
          </p:grpSpPr>
          <p:sp>
            <p:nvSpPr>
              <p:cNvPr id="620" name="Google Shape;620;p24"/>
              <p:cNvSpPr txBox="1"/>
              <p:nvPr/>
            </p:nvSpPr>
            <p:spPr>
              <a:xfrm>
                <a:off x="6241833" y="3181050"/>
                <a:ext cx="2038500" cy="253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400">
                    <a:solidFill>
                      <a:schemeClr val="accent4"/>
                    </a:solidFill>
                    <a:latin typeface="Fira Sans Extra Condensed Medium"/>
                    <a:ea typeface="Fira Sans Extra Condensed Medium"/>
                    <a:cs typeface="Fira Sans Extra Condensed Medium"/>
                    <a:sym typeface="Fira Sans Extra Condensed Medium"/>
                  </a:rPr>
                  <a:t>Homónimas divergentes</a:t>
                </a:r>
                <a:endParaRPr sz="2000">
                  <a:solidFill>
                    <a:schemeClr val="accent4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endParaRPr>
              </a:p>
            </p:txBody>
          </p:sp>
          <p:sp>
            <p:nvSpPr>
              <p:cNvPr id="621" name="Google Shape;621;p24"/>
              <p:cNvSpPr txBox="1"/>
              <p:nvPr/>
            </p:nvSpPr>
            <p:spPr>
              <a:xfrm>
                <a:off x="6039675" y="3441951"/>
                <a:ext cx="2442600" cy="768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rPr>
                  <a:t>15 de 159 con similitud menor a 0,60: revisar primero.</a:t>
                </a:r>
                <a:endParaRPr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grpSp>
          <p:nvGrpSpPr>
            <p:cNvPr id="622" name="Google Shape;622;p24"/>
            <p:cNvGrpSpPr/>
            <p:nvPr/>
          </p:nvGrpSpPr>
          <p:grpSpPr>
            <a:xfrm>
              <a:off x="6373575" y="1210525"/>
              <a:ext cx="1774900" cy="1774800"/>
              <a:chOff x="6373575" y="1210525"/>
              <a:chExt cx="1774900" cy="1774800"/>
            </a:xfrm>
          </p:grpSpPr>
          <p:grpSp>
            <p:nvGrpSpPr>
              <p:cNvPr id="623" name="Google Shape;623;p24"/>
              <p:cNvGrpSpPr/>
              <p:nvPr/>
            </p:nvGrpSpPr>
            <p:grpSpPr>
              <a:xfrm>
                <a:off x="6373575" y="1210525"/>
                <a:ext cx="1774900" cy="1774800"/>
                <a:chOff x="6373575" y="1210525"/>
                <a:chExt cx="1774900" cy="1774800"/>
              </a:xfrm>
            </p:grpSpPr>
            <p:sp>
              <p:nvSpPr>
                <p:cNvPr id="624" name="Google Shape;624;p24"/>
                <p:cNvSpPr/>
                <p:nvPr/>
              </p:nvSpPr>
              <p:spPr>
                <a:xfrm>
                  <a:off x="6373675" y="1210525"/>
                  <a:ext cx="1774800" cy="1774800"/>
                </a:xfrm>
                <a:prstGeom prst="donut">
                  <a:avLst>
                    <a:gd name="adj" fmla="val 25000"/>
                  </a:avLst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25" name="Google Shape;625;p24"/>
                <p:cNvSpPr/>
                <p:nvPr/>
              </p:nvSpPr>
              <p:spPr>
                <a:xfrm flipH="1">
                  <a:off x="6373575" y="1210850"/>
                  <a:ext cx="1774800" cy="1774200"/>
                </a:xfrm>
                <a:prstGeom prst="blockArc">
                  <a:avLst>
                    <a:gd name="adj1" fmla="val 14148255"/>
                    <a:gd name="adj2" fmla="val 16178655"/>
                    <a:gd name="adj3" fmla="val 24797"/>
                  </a:avLst>
                </a:prstGeom>
                <a:gradFill>
                  <a:gsLst>
                    <a:gs pos="0">
                      <a:srgbClr val="7FD8F5"/>
                    </a:gs>
                    <a:gs pos="100000">
                      <a:srgbClr val="15BECE"/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626" name="Google Shape;626;p24"/>
              <p:cNvSpPr txBox="1"/>
              <p:nvPr/>
            </p:nvSpPr>
            <p:spPr>
              <a:xfrm>
                <a:off x="6806925" y="1877575"/>
                <a:ext cx="908400" cy="440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>
                    <a:solidFill>
                      <a:schemeClr val="accent1"/>
                    </a:solidFill>
                    <a:latin typeface="Fira Sans Extra Condensed Medium"/>
                    <a:ea typeface="Fira Sans Extra Condensed Medium"/>
                    <a:cs typeface="Fira Sans Extra Condensed Medium"/>
                    <a:sym typeface="Fira Sans Extra Condensed Medium"/>
                  </a:rPr>
                  <a:t>9,4 %</a:t>
                </a:r>
                <a:endParaRPr sz="2200">
                  <a:solidFill>
                    <a:schemeClr val="accent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endParaRPr>
              </a:p>
            </p:txBody>
          </p:sp>
        </p:grpSp>
      </p:grpSp>
      <p:sp>
        <p:nvSpPr>
          <p:cNvPr id="627" name="Titulo"/>
          <p:cNvSpPr txBox="1"/>
          <p:nvPr/>
        </p:nvSpPr>
        <p:spPr>
          <a:xfrm>
            <a:off x="457200" y="256032"/>
            <a:ext cx="70408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2100" b="1">
                <a:solidFill>
                  <a:srgbClr val="002060"/>
                </a:solidFill>
                <a:latin typeface="Area Normal Trial Black"/>
              </a:rPr>
              <a:t>Una quinta parte del catálogo concentra más de la mitad de la actividad</a:t>
            </a:r>
          </a:p>
        </p:txBody>
      </p:sp>
      <p:sp>
        <p:nvSpPr>
          <p:cNvPr id="628" name="Nucleo"/>
          <p:cNvSpPr txBox="1"/>
          <p:nvPr/>
        </p:nvSpPr>
        <p:spPr>
          <a:xfrm>
            <a:off x="457200" y="4370832"/>
            <a:ext cx="8229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00B0F0"/>
                </a:solidFill>
                <a:latin typeface="Area Normal Trial Black"/>
              </a:rPr>
              <a:t>NÚCLEO COMÚN  </a:t>
            </a:r>
            <a:r>
              <a:rPr sz="1100" b="0">
                <a:solidFill>
                  <a:srgbClr val="263A58"/>
                </a:solidFill>
                <a:latin typeface="Area Normal Trial Light"/>
              </a:rPr>
              <a:t>6 asignaturas en los 29 pregrados y en ningún posgrado. Además: 14 variantes de nombre por corregir y 189 candidatos a homologación por validar.</a:t>
            </a:r>
          </a:p>
        </p:txBody>
      </p:sp>
      <p:pic>
        <p:nvPicPr>
          <p:cNvPr id="630" name="Logo POLI" descr="logo_sell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8120" y="256032"/>
            <a:ext cx="914400" cy="203200"/>
          </a:xfrm>
          <a:prstGeom prst="rect">
            <a:avLst/>
          </a:prstGeom>
        </p:spPr>
      </p:pic>
      <p:sp>
        <p:nvSpPr>
          <p:cNvPr id="631" name="Numero"/>
          <p:cNvSpPr txBox="1"/>
          <p:nvPr/>
        </p:nvSpPr>
        <p:spPr>
          <a:xfrm>
            <a:off x="8458200" y="4727448"/>
            <a:ext cx="3657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002060"/>
                </a:solidFill>
                <a:latin typeface="Area Normal Trial Light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4" name="Fondo POLI" descr="bg_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grpSp>
        <p:nvGrpSpPr>
          <p:cNvPr id="1658" name="Google Shape;1658;p39"/>
          <p:cNvGrpSpPr/>
          <p:nvPr/>
        </p:nvGrpSpPr>
        <p:grpSpPr>
          <a:xfrm>
            <a:off x="4889217" y="1329825"/>
            <a:ext cx="3537683" cy="3112800"/>
            <a:chOff x="4889217" y="1329825"/>
            <a:chExt cx="3537683" cy="3112800"/>
          </a:xfrm>
        </p:grpSpPr>
        <p:grpSp>
          <p:nvGrpSpPr>
            <p:cNvPr id="1659" name="Google Shape;1659;p39"/>
            <p:cNvGrpSpPr/>
            <p:nvPr/>
          </p:nvGrpSpPr>
          <p:grpSpPr>
            <a:xfrm>
              <a:off x="4904600" y="1329825"/>
              <a:ext cx="3522300" cy="3112800"/>
              <a:chOff x="4904600" y="1329825"/>
              <a:chExt cx="3522300" cy="3112800"/>
            </a:xfrm>
          </p:grpSpPr>
          <p:sp>
            <p:nvSpPr>
              <p:cNvPr id="1660" name="Google Shape;1660;p39"/>
              <p:cNvSpPr/>
              <p:nvPr/>
            </p:nvSpPr>
            <p:spPr>
              <a:xfrm>
                <a:off x="4904600" y="1329825"/>
                <a:ext cx="3522300" cy="336600"/>
              </a:xfrm>
              <a:prstGeom prst="rect">
                <a:avLst/>
              </a:prstGeom>
              <a:gradFill>
                <a:gsLst>
                  <a:gs pos="0">
                    <a:srgbClr val="D5E66A"/>
                  </a:gs>
                  <a:gs pos="100000">
                    <a:srgbClr val="B1C900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>
                    <a:solidFill>
                      <a:schemeClr val="lt1"/>
                    </a:solidFill>
                    <a:latin typeface="Roboto"/>
                    <a:ea typeface="Roboto"/>
                    <a:cs typeface="Roboto"/>
                    <a:sym typeface="Roboto"/>
                  </a:rPr>
                  <a:t>Profundidad: % de las 1.616 asignaturas</a:t>
                </a:r>
                <a:endParaRPr sz="12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grpSp>
            <p:nvGrpSpPr>
              <p:cNvPr id="1661" name="Google Shape;1661;p39"/>
              <p:cNvGrpSpPr/>
              <p:nvPr/>
            </p:nvGrpSpPr>
            <p:grpSpPr>
              <a:xfrm>
                <a:off x="5036102" y="3856425"/>
                <a:ext cx="3314573" cy="586200"/>
                <a:chOff x="5036102" y="3856425"/>
                <a:chExt cx="3314573" cy="586200"/>
              </a:xfrm>
            </p:grpSpPr>
            <p:grpSp>
              <p:nvGrpSpPr>
                <p:cNvPr id="1662" name="Google Shape;1662;p39"/>
                <p:cNvGrpSpPr/>
                <p:nvPr/>
              </p:nvGrpSpPr>
              <p:grpSpPr>
                <a:xfrm>
                  <a:off x="5518200" y="3856425"/>
                  <a:ext cx="2832475" cy="586200"/>
                  <a:chOff x="5518200" y="3856425"/>
                  <a:chExt cx="2832475" cy="586200"/>
                </a:xfrm>
              </p:grpSpPr>
            </p:grpSp>
          </p:grpSp>
        </p:grpSp>
        <p:grpSp>
          <p:nvGrpSpPr>
            <p:cNvPr id="1666" name="Google Shape;1666;p39"/>
            <p:cNvGrpSpPr/>
            <p:nvPr/>
          </p:nvGrpSpPr>
          <p:grpSpPr>
            <a:xfrm>
              <a:off x="4889217" y="1858395"/>
              <a:ext cx="3493074" cy="1705271"/>
              <a:chOff x="5065374" y="1896525"/>
              <a:chExt cx="3336906" cy="1629032"/>
            </a:xfrm>
          </p:grpSpPr>
          <p:grpSp>
            <p:nvGrpSpPr>
              <p:cNvPr id="1675" name="Google Shape;1675;p39"/>
              <p:cNvGrpSpPr/>
              <p:nvPr/>
            </p:nvGrpSpPr>
            <p:grpSpPr>
              <a:xfrm>
                <a:off x="5471580" y="1896533"/>
                <a:ext cx="2930700" cy="1406100"/>
                <a:chOff x="824775" y="1045525"/>
                <a:chExt cx="2930700" cy="1406100"/>
              </a:xfrm>
            </p:grpSpPr>
            <p:cxnSp>
              <p:nvCxnSpPr>
                <p:cNvPr id="1676" name="Google Shape;1676;p39"/>
                <p:cNvCxnSpPr/>
                <p:nvPr/>
              </p:nvCxnSpPr>
              <p:spPr>
                <a:xfrm>
                  <a:off x="829200" y="1045525"/>
                  <a:ext cx="0" cy="14061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</p:grpSp>
      <p:sp>
        <p:nvSpPr>
          <p:cNvPr id="1683" name="Google Shape;1683;p39"/>
          <p:cNvSpPr/>
          <p:nvPr/>
        </p:nvSpPr>
        <p:spPr>
          <a:xfrm>
            <a:off x="717100" y="1329825"/>
            <a:ext cx="3522300" cy="336600"/>
          </a:xfrm>
          <a:prstGeom prst="rect">
            <a:avLst/>
          </a:prstGeom>
          <a:gradFill>
            <a:gsLst>
              <a:gs pos="0">
                <a:srgbClr val="00B0F0"/>
              </a:gs>
              <a:gs pos="100000">
                <a:srgbClr val="002060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Programas por tipo de integración</a:t>
            </a:r>
            <a:endParaRPr sz="1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684" name="Google Shape;1684;p39"/>
          <p:cNvGrpSpPr/>
          <p:nvPr/>
        </p:nvGrpSpPr>
        <p:grpSpPr>
          <a:xfrm>
            <a:off x="945714" y="3856425"/>
            <a:ext cx="3217473" cy="586200"/>
            <a:chOff x="945714" y="3856425"/>
            <a:chExt cx="3217473" cy="586200"/>
          </a:xfrm>
        </p:grpSpPr>
        <p:grpSp>
          <p:nvGrpSpPr>
            <p:cNvPr id="1686" name="Google Shape;1686;p39"/>
            <p:cNvGrpSpPr/>
            <p:nvPr/>
          </p:nvGrpSpPr>
          <p:grpSpPr>
            <a:xfrm>
              <a:off x="1330713" y="3856425"/>
              <a:ext cx="2832475" cy="586200"/>
              <a:chOff x="1330713" y="3856425"/>
              <a:chExt cx="2832475" cy="586200"/>
            </a:xfrm>
          </p:grpSpPr>
        </p:grpSp>
      </p:grpSp>
      <p:sp>
        <p:nvSpPr>
          <p:cNvPr id="1690" name="Titulo"/>
          <p:cNvSpPr txBox="1"/>
          <p:nvPr/>
        </p:nvSpPr>
        <p:spPr>
          <a:xfrm>
            <a:off x="457200" y="256032"/>
            <a:ext cx="70408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2100" b="1">
                <a:solidFill>
                  <a:srgbClr val="002060"/>
                </a:solidFill>
                <a:latin typeface="Area Normal Trial Black"/>
              </a:rPr>
              <a:t>Tendencias globales: cómo las integran los 39 programas</a:t>
            </a:r>
          </a:p>
        </p:txBody>
      </p:sp>
      <p:graphicFrame>
        <p:nvGraphicFramePr>
          <p:cNvPr id="1691" name="Chart 1690"/>
          <p:cNvGraphicFramePr>
            <a:graphicFrameLocks noGrp="1"/>
          </p:cNvGraphicFramePr>
          <p:nvPr/>
        </p:nvGraphicFramePr>
        <p:xfrm>
          <a:off x="365760" y="1737360"/>
          <a:ext cx="4206240" cy="3017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692" name="Chart 1691"/>
          <p:cNvGraphicFramePr>
            <a:graphicFrameLocks noGrp="1"/>
          </p:cNvGraphicFramePr>
          <p:nvPr/>
        </p:nvGraphicFramePr>
        <p:xfrm>
          <a:off x="4892040" y="1737360"/>
          <a:ext cx="384048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693" name="Nota"/>
          <p:cNvSpPr txBox="1"/>
          <p:nvPr/>
        </p:nvSpPr>
        <p:spPr>
          <a:xfrm>
            <a:off x="4937760" y="4526280"/>
            <a:ext cx="374903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D6285"/>
                </a:solidFill>
                <a:latin typeface="Area Normal Trial Light"/>
              </a:rPr>
              <a:t>Las de mayor profundidad: marketing 16,1 %, transformación digital 15,8 %, estrategia 15,5 %.</a:t>
            </a:r>
          </a:p>
        </p:txBody>
      </p:sp>
      <p:pic>
        <p:nvPicPr>
          <p:cNvPr id="1695" name="Logo POLI" descr="logo_sell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18120" y="256032"/>
            <a:ext cx="914400" cy="203200"/>
          </a:xfrm>
          <a:prstGeom prst="rect">
            <a:avLst/>
          </a:prstGeom>
        </p:spPr>
      </p:pic>
      <p:sp>
        <p:nvSpPr>
          <p:cNvPr id="1696" name="Numero"/>
          <p:cNvSpPr txBox="1"/>
          <p:nvPr/>
        </p:nvSpPr>
        <p:spPr>
          <a:xfrm>
            <a:off x="8458200" y="4727448"/>
            <a:ext cx="3657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002060"/>
                </a:solidFill>
                <a:latin typeface="Area Normal Trial Light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6" name="Fondo POLI" descr="bg_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grpSp>
        <p:nvGrpSpPr>
          <p:cNvPr id="2160" name="Google Shape;2160;p45"/>
          <p:cNvGrpSpPr/>
          <p:nvPr/>
        </p:nvGrpSpPr>
        <p:grpSpPr>
          <a:xfrm>
            <a:off x="1088128" y="874532"/>
            <a:ext cx="3065459" cy="3489618"/>
            <a:chOff x="1088128" y="874532"/>
            <a:chExt cx="3065459" cy="3489618"/>
          </a:xfrm>
        </p:grpSpPr>
        <p:grpSp>
          <p:nvGrpSpPr>
            <p:cNvPr id="2161" name="Google Shape;2161;p45"/>
            <p:cNvGrpSpPr/>
            <p:nvPr/>
          </p:nvGrpSpPr>
          <p:grpSpPr>
            <a:xfrm>
              <a:off x="1472112" y="3739900"/>
              <a:ext cx="1040814" cy="239700"/>
              <a:chOff x="1472113" y="3739900"/>
              <a:chExt cx="1040814" cy="239700"/>
            </a:xfrm>
          </p:grpSpPr>
          <p:sp>
            <p:nvSpPr>
              <p:cNvPr id="2162" name="Google Shape;2162;p45"/>
              <p:cNvSpPr/>
              <p:nvPr/>
            </p:nvSpPr>
            <p:spPr>
              <a:xfrm>
                <a:off x="1472113" y="3811750"/>
                <a:ext cx="420600" cy="96000"/>
              </a:xfrm>
              <a:prstGeom prst="rect">
                <a:avLst/>
              </a:prstGeom>
              <a:gradFill>
                <a:gsLst>
                  <a:gs pos="0">
                    <a:srgbClr val="00B0F0"/>
                  </a:gs>
                  <a:gs pos="100000">
                    <a:srgbClr val="002060"/>
                  </a:gs>
                </a:gsLst>
                <a:lin ang="108014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3" name="Google Shape;2163;p45"/>
              <p:cNvSpPr txBox="1"/>
              <p:nvPr/>
            </p:nvSpPr>
            <p:spPr>
              <a:xfrm>
                <a:off x="1932726" y="3739900"/>
                <a:ext cx="580200" cy="239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rPr>
                  <a:t>77 %</a:t>
                </a:r>
                <a:endParaRPr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grpSp>
          <p:nvGrpSpPr>
            <p:cNvPr id="2164" name="Google Shape;2164;p45"/>
            <p:cNvGrpSpPr/>
            <p:nvPr/>
          </p:nvGrpSpPr>
          <p:grpSpPr>
            <a:xfrm>
              <a:off x="2782038" y="3739900"/>
              <a:ext cx="1040814" cy="239700"/>
              <a:chOff x="2782038" y="3739900"/>
              <a:chExt cx="1040814" cy="239700"/>
            </a:xfrm>
          </p:grpSpPr>
          <p:sp>
            <p:nvSpPr>
              <p:cNvPr id="2165" name="Google Shape;2165;p45"/>
              <p:cNvSpPr/>
              <p:nvPr/>
            </p:nvSpPr>
            <p:spPr>
              <a:xfrm>
                <a:off x="2782038" y="3811750"/>
                <a:ext cx="420600" cy="96000"/>
              </a:xfrm>
              <a:prstGeom prst="rect">
                <a:avLst/>
              </a:prstGeom>
              <a:gradFill>
                <a:gsLst>
                  <a:gs pos="0">
                    <a:srgbClr val="22B2DE"/>
                  </a:gs>
                  <a:gs pos="100000">
                    <a:srgbClr val="0A3F80"/>
                  </a:gs>
                </a:gsLst>
                <a:lin ang="108014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6" name="Google Shape;2166;p45"/>
              <p:cNvSpPr txBox="1"/>
              <p:nvPr/>
            </p:nvSpPr>
            <p:spPr>
              <a:xfrm>
                <a:off x="3242651" y="3739900"/>
                <a:ext cx="580200" cy="239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rPr>
                  <a:t>79 %</a:t>
                </a:r>
                <a:endParaRPr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grpSp>
          <p:nvGrpSpPr>
            <p:cNvPr id="2167" name="Google Shape;2167;p45"/>
            <p:cNvGrpSpPr/>
            <p:nvPr/>
          </p:nvGrpSpPr>
          <p:grpSpPr>
            <a:xfrm>
              <a:off x="1472112" y="4124450"/>
              <a:ext cx="1040814" cy="239700"/>
              <a:chOff x="1472113" y="4124450"/>
              <a:chExt cx="1040814" cy="239700"/>
            </a:xfrm>
          </p:grpSpPr>
          <p:sp>
            <p:nvSpPr>
              <p:cNvPr id="2168" name="Google Shape;2168;p45"/>
              <p:cNvSpPr/>
              <p:nvPr/>
            </p:nvSpPr>
            <p:spPr>
              <a:xfrm>
                <a:off x="1472113" y="4196300"/>
                <a:ext cx="420600" cy="96000"/>
              </a:xfrm>
              <a:prstGeom prst="rect">
                <a:avLst/>
              </a:prstGeom>
              <a:gradFill>
                <a:gsLst>
                  <a:gs pos="0">
                    <a:srgbClr val="7FD8F5"/>
                  </a:gs>
                  <a:gs pos="100000">
                    <a:srgbClr val="15BECE"/>
                  </a:gs>
                </a:gsLst>
                <a:lin ang="108014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9" name="Google Shape;2169;p45"/>
              <p:cNvSpPr txBox="1"/>
              <p:nvPr/>
            </p:nvSpPr>
            <p:spPr>
              <a:xfrm>
                <a:off x="1932726" y="4124450"/>
                <a:ext cx="580200" cy="239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rPr>
                  <a:t>54 %</a:t>
                </a:r>
                <a:endParaRPr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grpSp>
          <p:nvGrpSpPr>
            <p:cNvPr id="2170" name="Google Shape;2170;p45"/>
            <p:cNvGrpSpPr/>
            <p:nvPr/>
          </p:nvGrpSpPr>
          <p:grpSpPr>
            <a:xfrm>
              <a:off x="2782038" y="4124450"/>
              <a:ext cx="1040814" cy="239700"/>
              <a:chOff x="2782038" y="4124450"/>
              <a:chExt cx="1040814" cy="239700"/>
            </a:xfrm>
          </p:grpSpPr>
          <p:sp>
            <p:nvSpPr>
              <p:cNvPr id="2171" name="Google Shape;2171;p45"/>
              <p:cNvSpPr/>
              <p:nvPr/>
            </p:nvSpPr>
            <p:spPr>
              <a:xfrm>
                <a:off x="2782038" y="4196300"/>
                <a:ext cx="420600" cy="96000"/>
              </a:xfrm>
              <a:prstGeom prst="rect">
                <a:avLst/>
              </a:prstGeom>
              <a:gradFill>
                <a:gsLst>
                  <a:gs pos="0">
                    <a:srgbClr val="D5E66A"/>
                  </a:gs>
                  <a:gs pos="100000">
                    <a:srgbClr val="B1C900"/>
                  </a:gs>
                </a:gsLst>
                <a:lin ang="108014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2" name="Google Shape;2172;p45"/>
              <p:cNvSpPr txBox="1"/>
              <p:nvPr/>
            </p:nvSpPr>
            <p:spPr>
              <a:xfrm>
                <a:off x="3242651" y="4124450"/>
                <a:ext cx="580200" cy="239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rPr>
                  <a:t>23 %</a:t>
                </a:r>
                <a:endParaRPr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grpSp>
          <p:nvGrpSpPr>
            <p:cNvPr id="2173" name="Google Shape;2173;p45"/>
            <p:cNvGrpSpPr/>
            <p:nvPr/>
          </p:nvGrpSpPr>
          <p:grpSpPr>
            <a:xfrm>
              <a:off x="1088128" y="874532"/>
              <a:ext cx="3065459" cy="3065267"/>
              <a:chOff x="1088128" y="874532"/>
              <a:chExt cx="3065459" cy="3065267"/>
            </a:xfrm>
          </p:grpSpPr>
          <p:grpSp>
            <p:nvGrpSpPr>
              <p:cNvPr id="2174" name="Google Shape;2174;p45"/>
              <p:cNvGrpSpPr/>
              <p:nvPr/>
            </p:nvGrpSpPr>
            <p:grpSpPr>
              <a:xfrm>
                <a:off x="1088128" y="874532"/>
                <a:ext cx="3065459" cy="3065267"/>
                <a:chOff x="5080188" y="927900"/>
                <a:chExt cx="961200" cy="961200"/>
              </a:xfrm>
            </p:grpSpPr>
            <p:sp>
              <p:nvSpPr>
                <p:cNvPr id="2175" name="Google Shape;2175;p45"/>
                <p:cNvSpPr/>
                <p:nvPr/>
              </p:nvSpPr>
              <p:spPr>
                <a:xfrm>
                  <a:off x="5201900" y="1050116"/>
                  <a:ext cx="716700" cy="716700"/>
                </a:xfrm>
                <a:prstGeom prst="donut">
                  <a:avLst>
                    <a:gd name="adj" fmla="val 4716"/>
                  </a:avLst>
                </a:prstGeom>
                <a:gradFill>
                  <a:gsLst>
                    <a:gs pos="0">
                      <a:srgbClr val="F3F3F3"/>
                    </a:gs>
                    <a:gs pos="100000">
                      <a:srgbClr val="D9D9D9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76" name="Google Shape;2176;p45"/>
                <p:cNvSpPr/>
                <p:nvPr/>
              </p:nvSpPr>
              <p:spPr>
                <a:xfrm>
                  <a:off x="5269594" y="1117818"/>
                  <a:ext cx="581100" cy="581100"/>
                </a:xfrm>
                <a:prstGeom prst="donut">
                  <a:avLst>
                    <a:gd name="adj" fmla="val 5814"/>
                  </a:avLst>
                </a:prstGeom>
                <a:gradFill>
                  <a:gsLst>
                    <a:gs pos="0">
                      <a:srgbClr val="F3F3F3"/>
                    </a:gs>
                    <a:gs pos="100000">
                      <a:srgbClr val="D9D9D9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77" name="Google Shape;2177;p45"/>
                <p:cNvSpPr/>
                <p:nvPr/>
              </p:nvSpPr>
              <p:spPr>
                <a:xfrm>
                  <a:off x="5339279" y="1187526"/>
                  <a:ext cx="441900" cy="441600"/>
                </a:xfrm>
                <a:prstGeom prst="donut">
                  <a:avLst>
                    <a:gd name="adj" fmla="val 7648"/>
                  </a:avLst>
                </a:prstGeom>
                <a:gradFill>
                  <a:gsLst>
                    <a:gs pos="0">
                      <a:srgbClr val="F3F3F3"/>
                    </a:gs>
                    <a:gs pos="100000">
                      <a:srgbClr val="D9D9D9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78" name="Google Shape;2178;p45"/>
                <p:cNvSpPr/>
                <p:nvPr/>
              </p:nvSpPr>
              <p:spPr>
                <a:xfrm>
                  <a:off x="5414892" y="1263155"/>
                  <a:ext cx="290700" cy="290700"/>
                </a:xfrm>
                <a:prstGeom prst="donut">
                  <a:avLst>
                    <a:gd name="adj" fmla="val 10182"/>
                  </a:avLst>
                </a:prstGeom>
                <a:gradFill>
                  <a:gsLst>
                    <a:gs pos="0">
                      <a:srgbClr val="F3F3F3"/>
                    </a:gs>
                    <a:gs pos="100000">
                      <a:srgbClr val="D9D9D9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79" name="Google Shape;2179;p45"/>
                <p:cNvSpPr/>
                <p:nvPr/>
              </p:nvSpPr>
              <p:spPr>
                <a:xfrm rot="-3809958">
                  <a:off x="5202435" y="1050148"/>
                  <a:ext cx="716705" cy="716705"/>
                </a:xfrm>
                <a:prstGeom prst="blockArc">
                  <a:avLst>
                    <a:gd name="adj1" fmla="val 3380357"/>
                    <a:gd name="adj2" fmla="val 19995741"/>
                    <a:gd name="adj3" fmla="val 4692"/>
                  </a:avLst>
                </a:prstGeom>
                <a:gradFill>
                  <a:gsLst>
                    <a:gs pos="0">
                      <a:srgbClr val="00B0F0"/>
                    </a:gs>
                    <a:gs pos="100000">
                      <a:srgbClr val="002060"/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80" name="Google Shape;2180;p45"/>
                <p:cNvSpPr/>
                <p:nvPr/>
              </p:nvSpPr>
              <p:spPr>
                <a:xfrm rot="-3906059">
                  <a:off x="5269616" y="1117617"/>
                  <a:ext cx="581445" cy="581445"/>
                </a:xfrm>
                <a:prstGeom prst="blockArc">
                  <a:avLst>
                    <a:gd name="adj1" fmla="val 2931609"/>
                    <a:gd name="adj2" fmla="val 20100839"/>
                    <a:gd name="adj3" fmla="val 5564"/>
                  </a:avLst>
                </a:prstGeom>
                <a:gradFill>
                  <a:gsLst>
                    <a:gs pos="0">
                      <a:srgbClr val="22B2DE"/>
                    </a:gs>
                    <a:gs pos="100000">
                      <a:srgbClr val="0A3F80"/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81" name="Google Shape;2181;p45"/>
                <p:cNvSpPr/>
                <p:nvPr/>
              </p:nvSpPr>
              <p:spPr>
                <a:xfrm rot="-4222340">
                  <a:off x="5339825" y="1187386"/>
                  <a:ext cx="442087" cy="442087"/>
                </a:xfrm>
                <a:prstGeom prst="blockArc">
                  <a:avLst>
                    <a:gd name="adj1" fmla="val 8784130"/>
                    <a:gd name="adj2" fmla="val 20414899"/>
                    <a:gd name="adj3" fmla="val 7688"/>
                  </a:avLst>
                </a:prstGeom>
                <a:gradFill>
                  <a:gsLst>
                    <a:gs pos="0">
                      <a:srgbClr val="7FD8F5"/>
                    </a:gs>
                    <a:gs pos="100000">
                      <a:srgbClr val="15BECE"/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82" name="Google Shape;2182;p45"/>
                <p:cNvSpPr/>
                <p:nvPr/>
              </p:nvSpPr>
              <p:spPr>
                <a:xfrm rot="-4538880">
                  <a:off x="5414922" y="1262925"/>
                  <a:ext cx="290465" cy="290465"/>
                </a:xfrm>
                <a:prstGeom prst="blockArc">
                  <a:avLst>
                    <a:gd name="adj1" fmla="val 15716010"/>
                    <a:gd name="adj2" fmla="val 20700625"/>
                    <a:gd name="adj3" fmla="val 10156"/>
                  </a:avLst>
                </a:prstGeom>
                <a:gradFill>
                  <a:gsLst>
                    <a:gs pos="0">
                      <a:srgbClr val="D5E66A"/>
                    </a:gs>
                    <a:gs pos="100000">
                      <a:srgbClr val="B1C900"/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183" name="Google Shape;2183;p45"/>
              <p:cNvGrpSpPr/>
              <p:nvPr/>
            </p:nvGrpSpPr>
            <p:grpSpPr>
              <a:xfrm>
                <a:off x="2416588" y="2185135"/>
                <a:ext cx="408517" cy="444040"/>
                <a:chOff x="2100300" y="3804850"/>
                <a:chExt cx="444475" cy="483125"/>
              </a:xfrm>
            </p:grpSpPr>
            <p:sp>
              <p:nvSpPr>
                <p:cNvPr id="2184" name="Google Shape;2184;p45"/>
                <p:cNvSpPr/>
                <p:nvPr/>
              </p:nvSpPr>
              <p:spPr>
                <a:xfrm>
                  <a:off x="2100300" y="3804850"/>
                  <a:ext cx="444475" cy="483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79" h="19325" extrusionOk="0">
                      <a:moveTo>
                        <a:pt x="2123" y="4001"/>
                      </a:moveTo>
                      <a:cubicBezTo>
                        <a:pt x="2627" y="4001"/>
                        <a:pt x="2881" y="4611"/>
                        <a:pt x="2524" y="4967"/>
                      </a:cubicBezTo>
                      <a:cubicBezTo>
                        <a:pt x="2408" y="5083"/>
                        <a:pt x="2265" y="5134"/>
                        <a:pt x="2126" y="5134"/>
                      </a:cubicBezTo>
                      <a:cubicBezTo>
                        <a:pt x="1835" y="5134"/>
                        <a:pt x="1558" y="4909"/>
                        <a:pt x="1558" y="4569"/>
                      </a:cubicBezTo>
                      <a:cubicBezTo>
                        <a:pt x="1558" y="4255"/>
                        <a:pt x="1809" y="4001"/>
                        <a:pt x="2123" y="4001"/>
                      </a:cubicBezTo>
                      <a:close/>
                      <a:moveTo>
                        <a:pt x="15710" y="4001"/>
                      </a:moveTo>
                      <a:cubicBezTo>
                        <a:pt x="16215" y="4001"/>
                        <a:pt x="16468" y="4611"/>
                        <a:pt x="16112" y="4967"/>
                      </a:cubicBezTo>
                      <a:cubicBezTo>
                        <a:pt x="15995" y="5083"/>
                        <a:pt x="15853" y="5134"/>
                        <a:pt x="15714" y="5134"/>
                      </a:cubicBezTo>
                      <a:cubicBezTo>
                        <a:pt x="15423" y="5134"/>
                        <a:pt x="15146" y="4909"/>
                        <a:pt x="15146" y="4569"/>
                      </a:cubicBezTo>
                      <a:cubicBezTo>
                        <a:pt x="15146" y="4255"/>
                        <a:pt x="15396" y="4001"/>
                        <a:pt x="15710" y="4001"/>
                      </a:cubicBezTo>
                      <a:close/>
                      <a:moveTo>
                        <a:pt x="8917" y="1132"/>
                      </a:moveTo>
                      <a:cubicBezTo>
                        <a:pt x="9551" y="1132"/>
                        <a:pt x="10251" y="1993"/>
                        <a:pt x="10789" y="3436"/>
                      </a:cubicBezTo>
                      <a:cubicBezTo>
                        <a:pt x="10894" y="3723"/>
                        <a:pt x="10994" y="4028"/>
                        <a:pt x="11084" y="4345"/>
                      </a:cubicBezTo>
                      <a:cubicBezTo>
                        <a:pt x="10345" y="4590"/>
                        <a:pt x="9623" y="4877"/>
                        <a:pt x="8917" y="5203"/>
                      </a:cubicBezTo>
                      <a:cubicBezTo>
                        <a:pt x="8210" y="4877"/>
                        <a:pt x="7488" y="4590"/>
                        <a:pt x="6749" y="4345"/>
                      </a:cubicBezTo>
                      <a:cubicBezTo>
                        <a:pt x="6842" y="4028"/>
                        <a:pt x="6939" y="3723"/>
                        <a:pt x="7044" y="3436"/>
                      </a:cubicBezTo>
                      <a:cubicBezTo>
                        <a:pt x="7582" y="1993"/>
                        <a:pt x="8282" y="1132"/>
                        <a:pt x="8917" y="1132"/>
                      </a:cubicBezTo>
                      <a:close/>
                      <a:moveTo>
                        <a:pt x="6483" y="5453"/>
                      </a:moveTo>
                      <a:cubicBezTo>
                        <a:pt x="6845" y="5577"/>
                        <a:pt x="7217" y="5713"/>
                        <a:pt x="7591" y="5867"/>
                      </a:cubicBezTo>
                      <a:cubicBezTo>
                        <a:pt x="7371" y="5985"/>
                        <a:pt x="7153" y="6105"/>
                        <a:pt x="6936" y="6229"/>
                      </a:cubicBezTo>
                      <a:cubicBezTo>
                        <a:pt x="6715" y="6356"/>
                        <a:pt x="6501" y="6486"/>
                        <a:pt x="6287" y="6619"/>
                      </a:cubicBezTo>
                      <a:cubicBezTo>
                        <a:pt x="6341" y="6217"/>
                        <a:pt x="6407" y="5831"/>
                        <a:pt x="6483" y="5453"/>
                      </a:cubicBezTo>
                      <a:close/>
                      <a:moveTo>
                        <a:pt x="11350" y="5453"/>
                      </a:moveTo>
                      <a:cubicBezTo>
                        <a:pt x="11426" y="5831"/>
                        <a:pt x="11492" y="6217"/>
                        <a:pt x="11546" y="6619"/>
                      </a:cubicBezTo>
                      <a:cubicBezTo>
                        <a:pt x="11335" y="6486"/>
                        <a:pt x="11118" y="6356"/>
                        <a:pt x="10897" y="6229"/>
                      </a:cubicBezTo>
                      <a:cubicBezTo>
                        <a:pt x="10677" y="6102"/>
                        <a:pt x="10459" y="5982"/>
                        <a:pt x="10242" y="5867"/>
                      </a:cubicBezTo>
                      <a:cubicBezTo>
                        <a:pt x="10619" y="5716"/>
                        <a:pt x="10988" y="5574"/>
                        <a:pt x="11350" y="5453"/>
                      </a:cubicBezTo>
                      <a:close/>
                      <a:moveTo>
                        <a:pt x="3799" y="4852"/>
                      </a:moveTo>
                      <a:cubicBezTo>
                        <a:pt x="4336" y="4904"/>
                        <a:pt x="4870" y="4997"/>
                        <a:pt x="5396" y="5133"/>
                      </a:cubicBezTo>
                      <a:cubicBezTo>
                        <a:pt x="5239" y="5894"/>
                        <a:pt x="5124" y="6661"/>
                        <a:pt x="5055" y="7434"/>
                      </a:cubicBezTo>
                      <a:cubicBezTo>
                        <a:pt x="4421" y="7881"/>
                        <a:pt x="3811" y="8361"/>
                        <a:pt x="3231" y="8877"/>
                      </a:cubicBezTo>
                      <a:cubicBezTo>
                        <a:pt x="3004" y="8645"/>
                        <a:pt x="2796" y="8412"/>
                        <a:pt x="2606" y="8180"/>
                      </a:cubicBezTo>
                      <a:cubicBezTo>
                        <a:pt x="1969" y="7404"/>
                        <a:pt x="1579" y="6691"/>
                        <a:pt x="1483" y="6139"/>
                      </a:cubicBezTo>
                      <a:lnTo>
                        <a:pt x="1483" y="6139"/>
                      </a:lnTo>
                      <a:cubicBezTo>
                        <a:pt x="1695" y="6225"/>
                        <a:pt x="1912" y="6266"/>
                        <a:pt x="2125" y="6266"/>
                      </a:cubicBezTo>
                      <a:cubicBezTo>
                        <a:pt x="2922" y="6266"/>
                        <a:pt x="3656" y="5698"/>
                        <a:pt x="3799" y="4852"/>
                      </a:cubicBezTo>
                      <a:close/>
                      <a:moveTo>
                        <a:pt x="14037" y="4852"/>
                      </a:moveTo>
                      <a:cubicBezTo>
                        <a:pt x="14180" y="5698"/>
                        <a:pt x="14914" y="6266"/>
                        <a:pt x="15711" y="6266"/>
                      </a:cubicBezTo>
                      <a:cubicBezTo>
                        <a:pt x="15924" y="6266"/>
                        <a:pt x="16141" y="6225"/>
                        <a:pt x="16353" y="6139"/>
                      </a:cubicBezTo>
                      <a:lnTo>
                        <a:pt x="16353" y="6139"/>
                      </a:lnTo>
                      <a:cubicBezTo>
                        <a:pt x="16254" y="6691"/>
                        <a:pt x="15867" y="7404"/>
                        <a:pt x="15227" y="8180"/>
                      </a:cubicBezTo>
                      <a:cubicBezTo>
                        <a:pt x="15037" y="8412"/>
                        <a:pt x="14829" y="8645"/>
                        <a:pt x="14602" y="8877"/>
                      </a:cubicBezTo>
                      <a:cubicBezTo>
                        <a:pt x="14022" y="8361"/>
                        <a:pt x="13412" y="7881"/>
                        <a:pt x="12778" y="7434"/>
                      </a:cubicBezTo>
                      <a:cubicBezTo>
                        <a:pt x="12709" y="6661"/>
                        <a:pt x="12594" y="5894"/>
                        <a:pt x="12440" y="5133"/>
                      </a:cubicBezTo>
                      <a:cubicBezTo>
                        <a:pt x="12963" y="4997"/>
                        <a:pt x="13497" y="4904"/>
                        <a:pt x="14037" y="4852"/>
                      </a:cubicBezTo>
                      <a:close/>
                      <a:moveTo>
                        <a:pt x="4964" y="8908"/>
                      </a:moveTo>
                      <a:lnTo>
                        <a:pt x="4964" y="8908"/>
                      </a:lnTo>
                      <a:cubicBezTo>
                        <a:pt x="4958" y="9158"/>
                        <a:pt x="4955" y="9409"/>
                        <a:pt x="4955" y="9662"/>
                      </a:cubicBezTo>
                      <a:cubicBezTo>
                        <a:pt x="4952" y="9916"/>
                        <a:pt x="4958" y="10167"/>
                        <a:pt x="4964" y="10417"/>
                      </a:cubicBezTo>
                      <a:cubicBezTo>
                        <a:pt x="4644" y="10170"/>
                        <a:pt x="4339" y="9916"/>
                        <a:pt x="4052" y="9662"/>
                      </a:cubicBezTo>
                      <a:cubicBezTo>
                        <a:pt x="4339" y="9409"/>
                        <a:pt x="4644" y="9155"/>
                        <a:pt x="4964" y="8908"/>
                      </a:cubicBezTo>
                      <a:close/>
                      <a:moveTo>
                        <a:pt x="12869" y="8908"/>
                      </a:moveTo>
                      <a:lnTo>
                        <a:pt x="12869" y="8908"/>
                      </a:lnTo>
                      <a:cubicBezTo>
                        <a:pt x="13189" y="9155"/>
                        <a:pt x="13491" y="9409"/>
                        <a:pt x="13781" y="9662"/>
                      </a:cubicBezTo>
                      <a:cubicBezTo>
                        <a:pt x="13494" y="9916"/>
                        <a:pt x="13189" y="10170"/>
                        <a:pt x="12869" y="10417"/>
                      </a:cubicBezTo>
                      <a:cubicBezTo>
                        <a:pt x="12875" y="10167"/>
                        <a:pt x="12878" y="9916"/>
                        <a:pt x="12881" y="9662"/>
                      </a:cubicBezTo>
                      <a:cubicBezTo>
                        <a:pt x="12881" y="9409"/>
                        <a:pt x="12875" y="9158"/>
                        <a:pt x="12869" y="8908"/>
                      </a:cubicBezTo>
                      <a:close/>
                      <a:moveTo>
                        <a:pt x="8917" y="6459"/>
                      </a:moveTo>
                      <a:cubicBezTo>
                        <a:pt x="9391" y="6688"/>
                        <a:pt x="9865" y="6942"/>
                        <a:pt x="10333" y="7211"/>
                      </a:cubicBezTo>
                      <a:cubicBezTo>
                        <a:pt x="10801" y="7482"/>
                        <a:pt x="11260" y="7766"/>
                        <a:pt x="11694" y="8059"/>
                      </a:cubicBezTo>
                      <a:cubicBezTo>
                        <a:pt x="11728" y="8581"/>
                        <a:pt x="11749" y="9119"/>
                        <a:pt x="11749" y="9662"/>
                      </a:cubicBezTo>
                      <a:cubicBezTo>
                        <a:pt x="11749" y="10206"/>
                        <a:pt x="11728" y="10743"/>
                        <a:pt x="11694" y="11266"/>
                      </a:cubicBezTo>
                      <a:cubicBezTo>
                        <a:pt x="11260" y="11559"/>
                        <a:pt x="10804" y="11839"/>
                        <a:pt x="10333" y="12114"/>
                      </a:cubicBezTo>
                      <a:cubicBezTo>
                        <a:pt x="9862" y="12386"/>
                        <a:pt x="9388" y="12637"/>
                        <a:pt x="8920" y="12869"/>
                      </a:cubicBezTo>
                      <a:cubicBezTo>
                        <a:pt x="8445" y="12640"/>
                        <a:pt x="7971" y="12386"/>
                        <a:pt x="7500" y="12114"/>
                      </a:cubicBezTo>
                      <a:cubicBezTo>
                        <a:pt x="7032" y="11842"/>
                        <a:pt x="6576" y="11559"/>
                        <a:pt x="6139" y="11266"/>
                      </a:cubicBezTo>
                      <a:cubicBezTo>
                        <a:pt x="6105" y="10743"/>
                        <a:pt x="6087" y="10206"/>
                        <a:pt x="6087" y="9662"/>
                      </a:cubicBezTo>
                      <a:cubicBezTo>
                        <a:pt x="6087" y="9119"/>
                        <a:pt x="6105" y="8581"/>
                        <a:pt x="6139" y="8059"/>
                      </a:cubicBezTo>
                      <a:cubicBezTo>
                        <a:pt x="6576" y="7766"/>
                        <a:pt x="7029" y="7485"/>
                        <a:pt x="7500" y="7211"/>
                      </a:cubicBezTo>
                      <a:cubicBezTo>
                        <a:pt x="7971" y="6942"/>
                        <a:pt x="8445" y="6688"/>
                        <a:pt x="8917" y="6459"/>
                      </a:cubicBezTo>
                      <a:close/>
                      <a:moveTo>
                        <a:pt x="11546" y="12706"/>
                      </a:moveTo>
                      <a:lnTo>
                        <a:pt x="11546" y="12706"/>
                      </a:lnTo>
                      <a:cubicBezTo>
                        <a:pt x="11492" y="13108"/>
                        <a:pt x="11426" y="13497"/>
                        <a:pt x="11350" y="13872"/>
                      </a:cubicBezTo>
                      <a:cubicBezTo>
                        <a:pt x="10988" y="13751"/>
                        <a:pt x="10619" y="13612"/>
                        <a:pt x="10242" y="13461"/>
                      </a:cubicBezTo>
                      <a:cubicBezTo>
                        <a:pt x="10462" y="13343"/>
                        <a:pt x="10680" y="13219"/>
                        <a:pt x="10897" y="13096"/>
                      </a:cubicBezTo>
                      <a:cubicBezTo>
                        <a:pt x="11115" y="12969"/>
                        <a:pt x="11332" y="12839"/>
                        <a:pt x="11546" y="12706"/>
                      </a:cubicBezTo>
                      <a:close/>
                      <a:moveTo>
                        <a:pt x="6287" y="12706"/>
                      </a:moveTo>
                      <a:cubicBezTo>
                        <a:pt x="6498" y="12836"/>
                        <a:pt x="6715" y="12966"/>
                        <a:pt x="6936" y="13092"/>
                      </a:cubicBezTo>
                      <a:cubicBezTo>
                        <a:pt x="7153" y="13219"/>
                        <a:pt x="7374" y="13343"/>
                        <a:pt x="7597" y="13461"/>
                      </a:cubicBezTo>
                      <a:lnTo>
                        <a:pt x="7594" y="13461"/>
                      </a:lnTo>
                      <a:cubicBezTo>
                        <a:pt x="7217" y="13615"/>
                        <a:pt x="6848" y="13754"/>
                        <a:pt x="6483" y="13875"/>
                      </a:cubicBezTo>
                      <a:cubicBezTo>
                        <a:pt x="6407" y="13497"/>
                        <a:pt x="6341" y="13108"/>
                        <a:pt x="6287" y="12706"/>
                      </a:cubicBezTo>
                      <a:close/>
                      <a:moveTo>
                        <a:pt x="14602" y="10447"/>
                      </a:moveTo>
                      <a:cubicBezTo>
                        <a:pt x="14829" y="10680"/>
                        <a:pt x="15037" y="10912"/>
                        <a:pt x="15227" y="11145"/>
                      </a:cubicBezTo>
                      <a:cubicBezTo>
                        <a:pt x="15867" y="11921"/>
                        <a:pt x="16254" y="12634"/>
                        <a:pt x="16353" y="13186"/>
                      </a:cubicBezTo>
                      <a:cubicBezTo>
                        <a:pt x="16141" y="13099"/>
                        <a:pt x="15923" y="13059"/>
                        <a:pt x="15710" y="13059"/>
                      </a:cubicBezTo>
                      <a:cubicBezTo>
                        <a:pt x="14912" y="13059"/>
                        <a:pt x="14180" y="13627"/>
                        <a:pt x="14034" y="14472"/>
                      </a:cubicBezTo>
                      <a:cubicBezTo>
                        <a:pt x="13497" y="14421"/>
                        <a:pt x="12963" y="14327"/>
                        <a:pt x="12440" y="14192"/>
                      </a:cubicBezTo>
                      <a:cubicBezTo>
                        <a:pt x="12594" y="13431"/>
                        <a:pt x="12709" y="12664"/>
                        <a:pt x="12778" y="11891"/>
                      </a:cubicBezTo>
                      <a:cubicBezTo>
                        <a:pt x="13412" y="11444"/>
                        <a:pt x="14022" y="10964"/>
                        <a:pt x="14602" y="10447"/>
                      </a:cubicBezTo>
                      <a:close/>
                      <a:moveTo>
                        <a:pt x="3231" y="10447"/>
                      </a:moveTo>
                      <a:cubicBezTo>
                        <a:pt x="3811" y="10964"/>
                        <a:pt x="4421" y="11444"/>
                        <a:pt x="5055" y="11891"/>
                      </a:cubicBezTo>
                      <a:cubicBezTo>
                        <a:pt x="5124" y="12664"/>
                        <a:pt x="5239" y="13434"/>
                        <a:pt x="5393" y="14195"/>
                      </a:cubicBezTo>
                      <a:cubicBezTo>
                        <a:pt x="5079" y="14273"/>
                        <a:pt x="4774" y="14336"/>
                        <a:pt x="4478" y="14388"/>
                      </a:cubicBezTo>
                      <a:cubicBezTo>
                        <a:pt x="4028" y="14462"/>
                        <a:pt x="3616" y="14499"/>
                        <a:pt x="3250" y="14499"/>
                      </a:cubicBezTo>
                      <a:cubicBezTo>
                        <a:pt x="2389" y="14499"/>
                        <a:pt x="1786" y="14296"/>
                        <a:pt x="1561" y="13908"/>
                      </a:cubicBezTo>
                      <a:cubicBezTo>
                        <a:pt x="1244" y="13358"/>
                        <a:pt x="1634" y="12326"/>
                        <a:pt x="2606" y="11145"/>
                      </a:cubicBezTo>
                      <a:cubicBezTo>
                        <a:pt x="2796" y="10912"/>
                        <a:pt x="3007" y="10680"/>
                        <a:pt x="3231" y="10447"/>
                      </a:cubicBezTo>
                      <a:close/>
                      <a:moveTo>
                        <a:pt x="15707" y="14191"/>
                      </a:moveTo>
                      <a:cubicBezTo>
                        <a:pt x="15999" y="14191"/>
                        <a:pt x="16278" y="14416"/>
                        <a:pt x="16278" y="14759"/>
                      </a:cubicBezTo>
                      <a:cubicBezTo>
                        <a:pt x="16278" y="15070"/>
                        <a:pt x="16024" y="15324"/>
                        <a:pt x="15710" y="15324"/>
                      </a:cubicBezTo>
                      <a:cubicBezTo>
                        <a:pt x="15206" y="15324"/>
                        <a:pt x="14952" y="14714"/>
                        <a:pt x="15309" y="14358"/>
                      </a:cubicBezTo>
                      <a:cubicBezTo>
                        <a:pt x="15425" y="14242"/>
                        <a:pt x="15568" y="14191"/>
                        <a:pt x="15707" y="14191"/>
                      </a:cubicBezTo>
                      <a:close/>
                      <a:moveTo>
                        <a:pt x="8917" y="14122"/>
                      </a:moveTo>
                      <a:cubicBezTo>
                        <a:pt x="9623" y="14448"/>
                        <a:pt x="10348" y="14735"/>
                        <a:pt x="11084" y="14980"/>
                      </a:cubicBezTo>
                      <a:cubicBezTo>
                        <a:pt x="10994" y="15297"/>
                        <a:pt x="10894" y="15602"/>
                        <a:pt x="10789" y="15892"/>
                      </a:cubicBezTo>
                      <a:cubicBezTo>
                        <a:pt x="10251" y="17332"/>
                        <a:pt x="9551" y="18192"/>
                        <a:pt x="8917" y="18192"/>
                      </a:cubicBezTo>
                      <a:cubicBezTo>
                        <a:pt x="8282" y="18192"/>
                        <a:pt x="7582" y="17332"/>
                        <a:pt x="7044" y="15892"/>
                      </a:cubicBezTo>
                      <a:cubicBezTo>
                        <a:pt x="6939" y="15602"/>
                        <a:pt x="6839" y="15300"/>
                        <a:pt x="6749" y="14980"/>
                      </a:cubicBezTo>
                      <a:cubicBezTo>
                        <a:pt x="7488" y="14735"/>
                        <a:pt x="8213" y="14448"/>
                        <a:pt x="8917" y="14122"/>
                      </a:cubicBezTo>
                      <a:close/>
                      <a:moveTo>
                        <a:pt x="8917" y="0"/>
                      </a:moveTo>
                      <a:cubicBezTo>
                        <a:pt x="7757" y="0"/>
                        <a:pt x="6715" y="1081"/>
                        <a:pt x="5985" y="3041"/>
                      </a:cubicBezTo>
                      <a:cubicBezTo>
                        <a:pt x="5867" y="3355"/>
                        <a:pt x="5758" y="3687"/>
                        <a:pt x="5662" y="4031"/>
                      </a:cubicBezTo>
                      <a:cubicBezTo>
                        <a:pt x="4919" y="3844"/>
                        <a:pt x="4215" y="3732"/>
                        <a:pt x="3587" y="3702"/>
                      </a:cubicBezTo>
                      <a:cubicBezTo>
                        <a:pt x="3271" y="3173"/>
                        <a:pt x="2709" y="2871"/>
                        <a:pt x="2126" y="2871"/>
                      </a:cubicBezTo>
                      <a:cubicBezTo>
                        <a:pt x="1901" y="2871"/>
                        <a:pt x="1673" y="2916"/>
                        <a:pt x="1455" y="3011"/>
                      </a:cubicBezTo>
                      <a:cubicBezTo>
                        <a:pt x="670" y="3346"/>
                        <a:pt x="260" y="4212"/>
                        <a:pt x="492" y="5034"/>
                      </a:cubicBezTo>
                      <a:cubicBezTo>
                        <a:pt x="54" y="6024"/>
                        <a:pt x="489" y="7389"/>
                        <a:pt x="1733" y="8898"/>
                      </a:cubicBezTo>
                      <a:cubicBezTo>
                        <a:pt x="1942" y="9152"/>
                        <a:pt x="2171" y="9409"/>
                        <a:pt x="2416" y="9662"/>
                      </a:cubicBezTo>
                      <a:cubicBezTo>
                        <a:pt x="2171" y="9916"/>
                        <a:pt x="1942" y="10170"/>
                        <a:pt x="1733" y="10426"/>
                      </a:cubicBezTo>
                      <a:cubicBezTo>
                        <a:pt x="411" y="12033"/>
                        <a:pt x="0" y="13470"/>
                        <a:pt x="583" y="14475"/>
                      </a:cubicBezTo>
                      <a:cubicBezTo>
                        <a:pt x="1021" y="15233"/>
                        <a:pt x="1954" y="15629"/>
                        <a:pt x="3270" y="15629"/>
                      </a:cubicBezTo>
                      <a:cubicBezTo>
                        <a:pt x="3738" y="15626"/>
                        <a:pt x="4203" y="15584"/>
                        <a:pt x="4662" y="15505"/>
                      </a:cubicBezTo>
                      <a:cubicBezTo>
                        <a:pt x="4985" y="15451"/>
                        <a:pt x="5320" y="15378"/>
                        <a:pt x="5662" y="15294"/>
                      </a:cubicBezTo>
                      <a:cubicBezTo>
                        <a:pt x="5761" y="15641"/>
                        <a:pt x="5867" y="15970"/>
                        <a:pt x="5985" y="16284"/>
                      </a:cubicBezTo>
                      <a:cubicBezTo>
                        <a:pt x="6715" y="18244"/>
                        <a:pt x="7757" y="19325"/>
                        <a:pt x="8917" y="19325"/>
                      </a:cubicBezTo>
                      <a:cubicBezTo>
                        <a:pt x="10076" y="19325"/>
                        <a:pt x="11118" y="18244"/>
                        <a:pt x="11848" y="16284"/>
                      </a:cubicBezTo>
                      <a:cubicBezTo>
                        <a:pt x="11966" y="15970"/>
                        <a:pt x="12075" y="15638"/>
                        <a:pt x="12171" y="15294"/>
                      </a:cubicBezTo>
                      <a:cubicBezTo>
                        <a:pt x="12917" y="15481"/>
                        <a:pt x="13618" y="15593"/>
                        <a:pt x="14246" y="15623"/>
                      </a:cubicBezTo>
                      <a:cubicBezTo>
                        <a:pt x="14562" y="16152"/>
                        <a:pt x="15123" y="16453"/>
                        <a:pt x="15705" y="16453"/>
                      </a:cubicBezTo>
                      <a:cubicBezTo>
                        <a:pt x="15930" y="16453"/>
                        <a:pt x="16159" y="16408"/>
                        <a:pt x="16378" y="16314"/>
                      </a:cubicBezTo>
                      <a:cubicBezTo>
                        <a:pt x="17163" y="15979"/>
                        <a:pt x="17573" y="15112"/>
                        <a:pt x="17341" y="14291"/>
                      </a:cubicBezTo>
                      <a:cubicBezTo>
                        <a:pt x="17779" y="13301"/>
                        <a:pt x="17344" y="11936"/>
                        <a:pt x="16100" y="10426"/>
                      </a:cubicBezTo>
                      <a:cubicBezTo>
                        <a:pt x="15891" y="10170"/>
                        <a:pt x="15662" y="9916"/>
                        <a:pt x="15417" y="9662"/>
                      </a:cubicBezTo>
                      <a:cubicBezTo>
                        <a:pt x="15662" y="9409"/>
                        <a:pt x="15891" y="9152"/>
                        <a:pt x="16100" y="8898"/>
                      </a:cubicBezTo>
                      <a:cubicBezTo>
                        <a:pt x="17347" y="7389"/>
                        <a:pt x="17779" y="6024"/>
                        <a:pt x="17341" y="5034"/>
                      </a:cubicBezTo>
                      <a:cubicBezTo>
                        <a:pt x="17573" y="4212"/>
                        <a:pt x="17163" y="3346"/>
                        <a:pt x="16378" y="3011"/>
                      </a:cubicBezTo>
                      <a:cubicBezTo>
                        <a:pt x="16159" y="2916"/>
                        <a:pt x="15930" y="2871"/>
                        <a:pt x="15705" y="2871"/>
                      </a:cubicBezTo>
                      <a:cubicBezTo>
                        <a:pt x="15123" y="2871"/>
                        <a:pt x="14562" y="3173"/>
                        <a:pt x="14246" y="3702"/>
                      </a:cubicBezTo>
                      <a:cubicBezTo>
                        <a:pt x="13615" y="3732"/>
                        <a:pt x="12914" y="3844"/>
                        <a:pt x="12171" y="4031"/>
                      </a:cubicBezTo>
                      <a:cubicBezTo>
                        <a:pt x="12075" y="3684"/>
                        <a:pt x="11966" y="3355"/>
                        <a:pt x="11848" y="3041"/>
                      </a:cubicBezTo>
                      <a:cubicBezTo>
                        <a:pt x="11118" y="1081"/>
                        <a:pt x="10076" y="0"/>
                        <a:pt x="8917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00B0F0"/>
                    </a:gs>
                    <a:gs pos="100000">
                      <a:srgbClr val="002060"/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rgbClr val="263A58"/>
                    </a:solidFill>
                  </a:endParaRPr>
                </a:p>
              </p:txBody>
            </p:sp>
            <p:sp>
              <p:nvSpPr>
                <p:cNvPr id="2185" name="Google Shape;2185;p45"/>
                <p:cNvSpPr/>
                <p:nvPr/>
              </p:nvSpPr>
              <p:spPr>
                <a:xfrm>
                  <a:off x="2280775" y="4003900"/>
                  <a:ext cx="88275" cy="85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31" h="3401" extrusionOk="0">
                      <a:moveTo>
                        <a:pt x="1698" y="1136"/>
                      </a:moveTo>
                      <a:cubicBezTo>
                        <a:pt x="2202" y="1136"/>
                        <a:pt x="2455" y="1743"/>
                        <a:pt x="2099" y="2102"/>
                      </a:cubicBezTo>
                      <a:cubicBezTo>
                        <a:pt x="1983" y="2217"/>
                        <a:pt x="1841" y="2268"/>
                        <a:pt x="1703" y="2268"/>
                      </a:cubicBezTo>
                      <a:cubicBezTo>
                        <a:pt x="1411" y="2268"/>
                        <a:pt x="1133" y="2042"/>
                        <a:pt x="1133" y="1700"/>
                      </a:cubicBezTo>
                      <a:cubicBezTo>
                        <a:pt x="1133" y="1386"/>
                        <a:pt x="1383" y="1136"/>
                        <a:pt x="1698" y="1136"/>
                      </a:cubicBezTo>
                      <a:close/>
                      <a:moveTo>
                        <a:pt x="1698" y="1"/>
                      </a:moveTo>
                      <a:cubicBezTo>
                        <a:pt x="1479" y="1"/>
                        <a:pt x="1258" y="43"/>
                        <a:pt x="1048" y="130"/>
                      </a:cubicBezTo>
                      <a:cubicBezTo>
                        <a:pt x="414" y="393"/>
                        <a:pt x="1" y="1012"/>
                        <a:pt x="1" y="1700"/>
                      </a:cubicBezTo>
                      <a:cubicBezTo>
                        <a:pt x="1" y="2639"/>
                        <a:pt x="758" y="3397"/>
                        <a:pt x="1698" y="3400"/>
                      </a:cubicBezTo>
                      <a:cubicBezTo>
                        <a:pt x="2386" y="3400"/>
                        <a:pt x="3005" y="2984"/>
                        <a:pt x="3268" y="2350"/>
                      </a:cubicBezTo>
                      <a:cubicBezTo>
                        <a:pt x="3530" y="1715"/>
                        <a:pt x="3385" y="985"/>
                        <a:pt x="2899" y="499"/>
                      </a:cubicBezTo>
                      <a:cubicBezTo>
                        <a:pt x="2574" y="173"/>
                        <a:pt x="2140" y="1"/>
                        <a:pt x="1698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00B0F0"/>
                    </a:gs>
                    <a:gs pos="100000">
                      <a:srgbClr val="002060"/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rgbClr val="263A58"/>
                    </a:solidFill>
                  </a:endParaRPr>
                </a:p>
              </p:txBody>
            </p:sp>
          </p:grpSp>
        </p:grpSp>
      </p:grpSp>
      <p:grpSp>
        <p:nvGrpSpPr>
          <p:cNvPr id="2186" name="Google Shape;2186;p45"/>
          <p:cNvGrpSpPr/>
          <p:nvPr/>
        </p:nvGrpSpPr>
        <p:grpSpPr>
          <a:xfrm>
            <a:off x="4524351" y="1255825"/>
            <a:ext cx="3431224" cy="627300"/>
            <a:chOff x="4524351" y="1255825"/>
            <a:chExt cx="3431224" cy="627300"/>
          </a:xfrm>
        </p:grpSpPr>
        <p:grpSp>
          <p:nvGrpSpPr>
            <p:cNvPr id="2187" name="Google Shape;2187;p45"/>
            <p:cNvGrpSpPr/>
            <p:nvPr/>
          </p:nvGrpSpPr>
          <p:grpSpPr>
            <a:xfrm>
              <a:off x="4524351" y="1255825"/>
              <a:ext cx="3431224" cy="627300"/>
              <a:chOff x="4524351" y="1255825"/>
              <a:chExt cx="3431224" cy="627300"/>
            </a:xfrm>
          </p:grpSpPr>
          <p:sp>
            <p:nvSpPr>
              <p:cNvPr id="2188" name="Google Shape;2188;p45"/>
              <p:cNvSpPr/>
              <p:nvPr/>
            </p:nvSpPr>
            <p:spPr>
              <a:xfrm>
                <a:off x="4524351" y="1255825"/>
                <a:ext cx="2902200" cy="627300"/>
              </a:xfrm>
              <a:prstGeom prst="roundRect">
                <a:avLst>
                  <a:gd name="adj" fmla="val 48997"/>
                </a:avLst>
              </a:prstGeom>
              <a:gradFill>
                <a:gsLst>
                  <a:gs pos="0">
                    <a:srgbClr val="F3F3F3"/>
                  </a:gs>
                  <a:gs pos="100000">
                    <a:srgbClr val="D9D9D9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9" name="Google Shape;2189;p45"/>
              <p:cNvSpPr/>
              <p:nvPr/>
            </p:nvSpPr>
            <p:spPr>
              <a:xfrm>
                <a:off x="4724052" y="1411763"/>
                <a:ext cx="204550" cy="315414"/>
              </a:xfrm>
              <a:custGeom>
                <a:avLst/>
                <a:gdLst/>
                <a:ahLst/>
                <a:cxnLst/>
                <a:rect l="l" t="t" r="r" b="b"/>
                <a:pathLst>
                  <a:path w="12526" h="19315" extrusionOk="0">
                    <a:moveTo>
                      <a:pt x="9690" y="1133"/>
                    </a:moveTo>
                    <a:cubicBezTo>
                      <a:pt x="9980" y="1139"/>
                      <a:pt x="10213" y="1377"/>
                      <a:pt x="10213" y="1670"/>
                    </a:cubicBezTo>
                    <a:cubicBezTo>
                      <a:pt x="10213" y="1960"/>
                      <a:pt x="9980" y="2199"/>
                      <a:pt x="9690" y="2208"/>
                    </a:cubicBezTo>
                    <a:lnTo>
                      <a:pt x="2836" y="2208"/>
                    </a:lnTo>
                    <a:cubicBezTo>
                      <a:pt x="2540" y="2208"/>
                      <a:pt x="2302" y="1966"/>
                      <a:pt x="2302" y="1670"/>
                    </a:cubicBezTo>
                    <a:cubicBezTo>
                      <a:pt x="2302" y="1371"/>
                      <a:pt x="2540" y="1133"/>
                      <a:pt x="2839" y="1133"/>
                    </a:cubicBezTo>
                    <a:close/>
                    <a:moveTo>
                      <a:pt x="8564" y="3340"/>
                    </a:moveTo>
                    <a:lnTo>
                      <a:pt x="8564" y="9554"/>
                    </a:lnTo>
                    <a:cubicBezTo>
                      <a:pt x="8543" y="9781"/>
                      <a:pt x="8658" y="10001"/>
                      <a:pt x="8860" y="10110"/>
                    </a:cubicBezTo>
                    <a:cubicBezTo>
                      <a:pt x="9805" y="10620"/>
                      <a:pt x="10581" y="11396"/>
                      <a:pt x="11088" y="12341"/>
                    </a:cubicBezTo>
                    <a:lnTo>
                      <a:pt x="1435" y="12341"/>
                    </a:lnTo>
                    <a:cubicBezTo>
                      <a:pt x="1946" y="11396"/>
                      <a:pt x="2718" y="10620"/>
                      <a:pt x="3667" y="10110"/>
                    </a:cubicBezTo>
                    <a:cubicBezTo>
                      <a:pt x="3869" y="10001"/>
                      <a:pt x="3984" y="9784"/>
                      <a:pt x="3959" y="9554"/>
                    </a:cubicBezTo>
                    <a:lnTo>
                      <a:pt x="3959" y="3340"/>
                    </a:lnTo>
                    <a:close/>
                    <a:moveTo>
                      <a:pt x="6731" y="13476"/>
                    </a:moveTo>
                    <a:lnTo>
                      <a:pt x="6731" y="16263"/>
                    </a:lnTo>
                    <a:cubicBezTo>
                      <a:pt x="6734" y="16879"/>
                      <a:pt x="6571" y="17486"/>
                      <a:pt x="6263" y="18024"/>
                    </a:cubicBezTo>
                    <a:cubicBezTo>
                      <a:pt x="5955" y="17486"/>
                      <a:pt x="5792" y="16879"/>
                      <a:pt x="5795" y="16263"/>
                    </a:cubicBezTo>
                    <a:lnTo>
                      <a:pt x="5795" y="13476"/>
                    </a:lnTo>
                    <a:close/>
                    <a:moveTo>
                      <a:pt x="2831" y="1"/>
                    </a:moveTo>
                    <a:cubicBezTo>
                      <a:pt x="1912" y="1"/>
                      <a:pt x="1166" y="745"/>
                      <a:pt x="1163" y="1664"/>
                    </a:cubicBezTo>
                    <a:cubicBezTo>
                      <a:pt x="1160" y="2585"/>
                      <a:pt x="1906" y="3337"/>
                      <a:pt x="2827" y="3340"/>
                    </a:cubicBezTo>
                    <a:lnTo>
                      <a:pt x="2827" y="9285"/>
                    </a:lnTo>
                    <a:cubicBezTo>
                      <a:pt x="1529" y="10077"/>
                      <a:pt x="544" y="11287"/>
                      <a:pt x="34" y="12719"/>
                    </a:cubicBezTo>
                    <a:lnTo>
                      <a:pt x="31" y="12728"/>
                    </a:lnTo>
                    <a:cubicBezTo>
                      <a:pt x="28" y="12740"/>
                      <a:pt x="25" y="12749"/>
                      <a:pt x="22" y="12761"/>
                    </a:cubicBezTo>
                    <a:cubicBezTo>
                      <a:pt x="19" y="12773"/>
                      <a:pt x="19" y="12776"/>
                      <a:pt x="16" y="12785"/>
                    </a:cubicBezTo>
                    <a:cubicBezTo>
                      <a:pt x="13" y="12791"/>
                      <a:pt x="13" y="12803"/>
                      <a:pt x="10" y="12812"/>
                    </a:cubicBezTo>
                    <a:cubicBezTo>
                      <a:pt x="10" y="12821"/>
                      <a:pt x="7" y="12833"/>
                      <a:pt x="7" y="12842"/>
                    </a:cubicBezTo>
                    <a:lnTo>
                      <a:pt x="4" y="12866"/>
                    </a:lnTo>
                    <a:lnTo>
                      <a:pt x="4" y="12900"/>
                    </a:lnTo>
                    <a:cubicBezTo>
                      <a:pt x="4" y="12903"/>
                      <a:pt x="4" y="12906"/>
                      <a:pt x="4" y="12909"/>
                    </a:cubicBezTo>
                    <a:cubicBezTo>
                      <a:pt x="1" y="12912"/>
                      <a:pt x="1" y="12918"/>
                      <a:pt x="1" y="12921"/>
                    </a:cubicBezTo>
                    <a:cubicBezTo>
                      <a:pt x="1" y="12933"/>
                      <a:pt x="1" y="12945"/>
                      <a:pt x="4" y="12957"/>
                    </a:cubicBezTo>
                    <a:lnTo>
                      <a:pt x="7" y="12978"/>
                    </a:lnTo>
                    <a:cubicBezTo>
                      <a:pt x="7" y="12990"/>
                      <a:pt x="10" y="12999"/>
                      <a:pt x="10" y="13008"/>
                    </a:cubicBezTo>
                    <a:cubicBezTo>
                      <a:pt x="13" y="13020"/>
                      <a:pt x="13" y="13030"/>
                      <a:pt x="16" y="13039"/>
                    </a:cubicBezTo>
                    <a:cubicBezTo>
                      <a:pt x="19" y="13048"/>
                      <a:pt x="19" y="13054"/>
                      <a:pt x="22" y="13063"/>
                    </a:cubicBezTo>
                    <a:cubicBezTo>
                      <a:pt x="25" y="13069"/>
                      <a:pt x="28" y="13081"/>
                      <a:pt x="31" y="13093"/>
                    </a:cubicBezTo>
                    <a:cubicBezTo>
                      <a:pt x="34" y="13102"/>
                      <a:pt x="37" y="13105"/>
                      <a:pt x="40" y="13111"/>
                    </a:cubicBezTo>
                    <a:cubicBezTo>
                      <a:pt x="43" y="13120"/>
                      <a:pt x="46" y="13132"/>
                      <a:pt x="52" y="13144"/>
                    </a:cubicBezTo>
                    <a:lnTo>
                      <a:pt x="61" y="13162"/>
                    </a:lnTo>
                    <a:cubicBezTo>
                      <a:pt x="67" y="13171"/>
                      <a:pt x="70" y="13181"/>
                      <a:pt x="76" y="13190"/>
                    </a:cubicBezTo>
                    <a:cubicBezTo>
                      <a:pt x="83" y="13199"/>
                      <a:pt x="86" y="13205"/>
                      <a:pt x="89" y="13211"/>
                    </a:cubicBezTo>
                    <a:cubicBezTo>
                      <a:pt x="92" y="13217"/>
                      <a:pt x="98" y="13229"/>
                      <a:pt x="104" y="13235"/>
                    </a:cubicBezTo>
                    <a:lnTo>
                      <a:pt x="122" y="13256"/>
                    </a:lnTo>
                    <a:lnTo>
                      <a:pt x="137" y="13277"/>
                    </a:lnTo>
                    <a:cubicBezTo>
                      <a:pt x="143" y="13286"/>
                      <a:pt x="152" y="13292"/>
                      <a:pt x="158" y="13298"/>
                    </a:cubicBezTo>
                    <a:cubicBezTo>
                      <a:pt x="164" y="13307"/>
                      <a:pt x="167" y="13310"/>
                      <a:pt x="173" y="13316"/>
                    </a:cubicBezTo>
                    <a:cubicBezTo>
                      <a:pt x="179" y="13322"/>
                      <a:pt x="188" y="13331"/>
                      <a:pt x="197" y="13338"/>
                    </a:cubicBezTo>
                    <a:lnTo>
                      <a:pt x="215" y="13353"/>
                    </a:lnTo>
                    <a:lnTo>
                      <a:pt x="240" y="13371"/>
                    </a:lnTo>
                    <a:lnTo>
                      <a:pt x="264" y="13386"/>
                    </a:lnTo>
                    <a:lnTo>
                      <a:pt x="285" y="13398"/>
                    </a:lnTo>
                    <a:cubicBezTo>
                      <a:pt x="294" y="13404"/>
                      <a:pt x="303" y="13410"/>
                      <a:pt x="312" y="13413"/>
                    </a:cubicBezTo>
                    <a:lnTo>
                      <a:pt x="333" y="13422"/>
                    </a:lnTo>
                    <a:lnTo>
                      <a:pt x="366" y="13437"/>
                    </a:lnTo>
                    <a:lnTo>
                      <a:pt x="378" y="13443"/>
                    </a:lnTo>
                    <a:lnTo>
                      <a:pt x="384" y="13446"/>
                    </a:lnTo>
                    <a:lnTo>
                      <a:pt x="415" y="13452"/>
                    </a:lnTo>
                    <a:cubicBezTo>
                      <a:pt x="421" y="13455"/>
                      <a:pt x="430" y="13458"/>
                      <a:pt x="439" y="13458"/>
                    </a:cubicBezTo>
                    <a:lnTo>
                      <a:pt x="463" y="13464"/>
                    </a:lnTo>
                    <a:cubicBezTo>
                      <a:pt x="475" y="13467"/>
                      <a:pt x="484" y="13467"/>
                      <a:pt x="496" y="13470"/>
                    </a:cubicBezTo>
                    <a:lnTo>
                      <a:pt x="514" y="13470"/>
                    </a:lnTo>
                    <a:cubicBezTo>
                      <a:pt x="532" y="13473"/>
                      <a:pt x="548" y="13473"/>
                      <a:pt x="566" y="13473"/>
                    </a:cubicBezTo>
                    <a:lnTo>
                      <a:pt x="4663" y="13473"/>
                    </a:lnTo>
                    <a:lnTo>
                      <a:pt x="4663" y="16263"/>
                    </a:lnTo>
                    <a:cubicBezTo>
                      <a:pt x="4660" y="17205"/>
                      <a:pt x="4947" y="18126"/>
                      <a:pt x="5481" y="18902"/>
                    </a:cubicBezTo>
                    <a:cubicBezTo>
                      <a:pt x="5670" y="19177"/>
                      <a:pt x="5967" y="19315"/>
                      <a:pt x="6263" y="19315"/>
                    </a:cubicBezTo>
                    <a:cubicBezTo>
                      <a:pt x="6560" y="19315"/>
                      <a:pt x="6857" y="19177"/>
                      <a:pt x="7045" y="18902"/>
                    </a:cubicBezTo>
                    <a:cubicBezTo>
                      <a:pt x="7580" y="18126"/>
                      <a:pt x="7867" y="17205"/>
                      <a:pt x="7864" y="16263"/>
                    </a:cubicBezTo>
                    <a:lnTo>
                      <a:pt x="7864" y="13476"/>
                    </a:lnTo>
                    <a:lnTo>
                      <a:pt x="11961" y="13476"/>
                    </a:lnTo>
                    <a:cubicBezTo>
                      <a:pt x="11979" y="13473"/>
                      <a:pt x="11997" y="13473"/>
                      <a:pt x="12015" y="13473"/>
                    </a:cubicBezTo>
                    <a:lnTo>
                      <a:pt x="12024" y="13473"/>
                    </a:lnTo>
                    <a:cubicBezTo>
                      <a:pt x="12040" y="13473"/>
                      <a:pt x="12052" y="13467"/>
                      <a:pt x="12067" y="13464"/>
                    </a:cubicBezTo>
                    <a:lnTo>
                      <a:pt x="12085" y="13461"/>
                    </a:lnTo>
                    <a:lnTo>
                      <a:pt x="12115" y="13455"/>
                    </a:lnTo>
                    <a:lnTo>
                      <a:pt x="12139" y="13446"/>
                    </a:lnTo>
                    <a:cubicBezTo>
                      <a:pt x="12142" y="13446"/>
                      <a:pt x="12145" y="13443"/>
                      <a:pt x="12148" y="13443"/>
                    </a:cubicBezTo>
                    <a:lnTo>
                      <a:pt x="12163" y="13437"/>
                    </a:lnTo>
                    <a:cubicBezTo>
                      <a:pt x="12172" y="13434"/>
                      <a:pt x="12181" y="13431"/>
                      <a:pt x="12194" y="13425"/>
                    </a:cubicBezTo>
                    <a:lnTo>
                      <a:pt x="12218" y="13413"/>
                    </a:lnTo>
                    <a:cubicBezTo>
                      <a:pt x="12224" y="13410"/>
                      <a:pt x="12233" y="13404"/>
                      <a:pt x="12242" y="13401"/>
                    </a:cubicBezTo>
                    <a:cubicBezTo>
                      <a:pt x="12248" y="13395"/>
                      <a:pt x="12257" y="13392"/>
                      <a:pt x="12266" y="13386"/>
                    </a:cubicBezTo>
                    <a:lnTo>
                      <a:pt x="12284" y="13374"/>
                    </a:lnTo>
                    <a:cubicBezTo>
                      <a:pt x="12296" y="13365"/>
                      <a:pt x="12305" y="13359"/>
                      <a:pt x="12311" y="13353"/>
                    </a:cubicBezTo>
                    <a:lnTo>
                      <a:pt x="12329" y="13341"/>
                    </a:lnTo>
                    <a:cubicBezTo>
                      <a:pt x="12335" y="13331"/>
                      <a:pt x="12344" y="13325"/>
                      <a:pt x="12354" y="13316"/>
                    </a:cubicBezTo>
                    <a:cubicBezTo>
                      <a:pt x="12363" y="13307"/>
                      <a:pt x="12363" y="13307"/>
                      <a:pt x="12369" y="13301"/>
                    </a:cubicBezTo>
                    <a:cubicBezTo>
                      <a:pt x="12372" y="13295"/>
                      <a:pt x="12384" y="13286"/>
                      <a:pt x="12390" y="13277"/>
                    </a:cubicBezTo>
                    <a:cubicBezTo>
                      <a:pt x="12399" y="13268"/>
                      <a:pt x="12399" y="13265"/>
                      <a:pt x="12405" y="13259"/>
                    </a:cubicBezTo>
                    <a:lnTo>
                      <a:pt x="12423" y="13235"/>
                    </a:lnTo>
                    <a:cubicBezTo>
                      <a:pt x="12429" y="13229"/>
                      <a:pt x="12432" y="13220"/>
                      <a:pt x="12438" y="13214"/>
                    </a:cubicBezTo>
                    <a:cubicBezTo>
                      <a:pt x="12441" y="13205"/>
                      <a:pt x="12447" y="13199"/>
                      <a:pt x="12450" y="13190"/>
                    </a:cubicBezTo>
                    <a:cubicBezTo>
                      <a:pt x="12456" y="13184"/>
                      <a:pt x="12459" y="13174"/>
                      <a:pt x="12465" y="13165"/>
                    </a:cubicBezTo>
                    <a:cubicBezTo>
                      <a:pt x="12468" y="13156"/>
                      <a:pt x="12471" y="13150"/>
                      <a:pt x="12474" y="13144"/>
                    </a:cubicBezTo>
                    <a:cubicBezTo>
                      <a:pt x="12477" y="13135"/>
                      <a:pt x="12483" y="13123"/>
                      <a:pt x="12486" y="13114"/>
                    </a:cubicBezTo>
                    <a:cubicBezTo>
                      <a:pt x="12492" y="13105"/>
                      <a:pt x="12492" y="13099"/>
                      <a:pt x="12495" y="13093"/>
                    </a:cubicBezTo>
                    <a:cubicBezTo>
                      <a:pt x="12498" y="13084"/>
                      <a:pt x="12501" y="13072"/>
                      <a:pt x="12505" y="13063"/>
                    </a:cubicBezTo>
                    <a:cubicBezTo>
                      <a:pt x="12508" y="13054"/>
                      <a:pt x="12511" y="13045"/>
                      <a:pt x="12511" y="13039"/>
                    </a:cubicBezTo>
                    <a:cubicBezTo>
                      <a:pt x="12514" y="13030"/>
                      <a:pt x="12514" y="13020"/>
                      <a:pt x="12517" y="13011"/>
                    </a:cubicBezTo>
                    <a:cubicBezTo>
                      <a:pt x="12517" y="13002"/>
                      <a:pt x="12520" y="12990"/>
                      <a:pt x="12523" y="12981"/>
                    </a:cubicBezTo>
                    <a:cubicBezTo>
                      <a:pt x="12523" y="12969"/>
                      <a:pt x="12523" y="12966"/>
                      <a:pt x="12523" y="12957"/>
                    </a:cubicBezTo>
                    <a:cubicBezTo>
                      <a:pt x="12523" y="12948"/>
                      <a:pt x="12523" y="12933"/>
                      <a:pt x="12526" y="12921"/>
                    </a:cubicBezTo>
                    <a:lnTo>
                      <a:pt x="12526" y="12909"/>
                    </a:lnTo>
                    <a:cubicBezTo>
                      <a:pt x="12526" y="12906"/>
                      <a:pt x="12526" y="12903"/>
                      <a:pt x="12526" y="12900"/>
                    </a:cubicBezTo>
                    <a:lnTo>
                      <a:pt x="12526" y="12866"/>
                    </a:lnTo>
                    <a:cubicBezTo>
                      <a:pt x="12526" y="12854"/>
                      <a:pt x="12526" y="12851"/>
                      <a:pt x="12523" y="12842"/>
                    </a:cubicBezTo>
                    <a:cubicBezTo>
                      <a:pt x="12520" y="12833"/>
                      <a:pt x="12520" y="12824"/>
                      <a:pt x="12520" y="12815"/>
                    </a:cubicBezTo>
                    <a:cubicBezTo>
                      <a:pt x="12517" y="12803"/>
                      <a:pt x="12517" y="12794"/>
                      <a:pt x="12514" y="12785"/>
                    </a:cubicBezTo>
                    <a:cubicBezTo>
                      <a:pt x="12511" y="12773"/>
                      <a:pt x="12511" y="12770"/>
                      <a:pt x="12508" y="12764"/>
                    </a:cubicBezTo>
                    <a:cubicBezTo>
                      <a:pt x="12505" y="12755"/>
                      <a:pt x="12501" y="12740"/>
                      <a:pt x="12498" y="12728"/>
                    </a:cubicBezTo>
                    <a:lnTo>
                      <a:pt x="12495" y="12719"/>
                    </a:lnTo>
                    <a:cubicBezTo>
                      <a:pt x="11985" y="11290"/>
                      <a:pt x="11001" y="10077"/>
                      <a:pt x="9702" y="9288"/>
                    </a:cubicBezTo>
                    <a:lnTo>
                      <a:pt x="9702" y="3340"/>
                    </a:lnTo>
                    <a:cubicBezTo>
                      <a:pt x="10623" y="3337"/>
                      <a:pt x="11369" y="2585"/>
                      <a:pt x="11366" y="1664"/>
                    </a:cubicBezTo>
                    <a:cubicBezTo>
                      <a:pt x="11363" y="745"/>
                      <a:pt x="10617" y="1"/>
                      <a:pt x="9699" y="1"/>
                    </a:cubicBezTo>
                    <a:cubicBezTo>
                      <a:pt x="9697" y="1"/>
                      <a:pt x="9695" y="1"/>
                      <a:pt x="9693" y="1"/>
                    </a:cubicBezTo>
                    <a:lnTo>
                      <a:pt x="2836" y="1"/>
                    </a:lnTo>
                    <a:cubicBezTo>
                      <a:pt x="2834" y="1"/>
                      <a:pt x="2833" y="1"/>
                      <a:pt x="2831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00B0F0"/>
                  </a:gs>
                  <a:gs pos="100000">
                    <a:srgbClr val="002060"/>
                  </a:gs>
                </a:gsLst>
                <a:lin ang="108014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263A58"/>
                  </a:solidFill>
                </a:endParaRPr>
              </a:p>
            </p:txBody>
          </p:sp>
          <p:sp>
            <p:nvSpPr>
              <p:cNvPr id="2190" name="Google Shape;2190;p45"/>
              <p:cNvSpPr/>
              <p:nvPr/>
            </p:nvSpPr>
            <p:spPr>
              <a:xfrm>
                <a:off x="5053375" y="1255825"/>
                <a:ext cx="2902200" cy="627300"/>
              </a:xfrm>
              <a:prstGeom prst="roundRect">
                <a:avLst>
                  <a:gd name="adj" fmla="val 48997"/>
                </a:avLst>
              </a:prstGeom>
              <a:gradFill>
                <a:gsLst>
                  <a:gs pos="0">
                    <a:srgbClr val="00B0F0"/>
                  </a:gs>
                  <a:gs pos="100000">
                    <a:srgbClr val="002060"/>
                  </a:gs>
                </a:gsLst>
                <a:lin ang="108014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1" name="Google Shape;2191;p45"/>
              <p:cNvSpPr/>
              <p:nvPr/>
            </p:nvSpPr>
            <p:spPr>
              <a:xfrm>
                <a:off x="6783875" y="1455325"/>
                <a:ext cx="943375" cy="228325"/>
              </a:xfrm>
              <a:custGeom>
                <a:avLst/>
                <a:gdLst/>
                <a:ahLst/>
                <a:cxnLst/>
                <a:rect l="l" t="t" r="r" b="b"/>
                <a:pathLst>
                  <a:path w="37735" h="9133" extrusionOk="0">
                    <a:moveTo>
                      <a:pt x="0" y="4086"/>
                    </a:moveTo>
                    <a:lnTo>
                      <a:pt x="13941" y="9133"/>
                    </a:lnTo>
                    <a:lnTo>
                      <a:pt x="25959" y="2355"/>
                    </a:lnTo>
                    <a:lnTo>
                      <a:pt x="37735" y="0"/>
                    </a:lnTo>
                  </a:path>
                </a:pathLst>
              </a:cu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es-CO"/>
              </a:p>
            </p:txBody>
          </p:sp>
        </p:grpSp>
        <p:grpSp>
          <p:nvGrpSpPr>
            <p:cNvPr id="2192" name="Google Shape;2192;p45"/>
            <p:cNvGrpSpPr/>
            <p:nvPr/>
          </p:nvGrpSpPr>
          <p:grpSpPr>
            <a:xfrm>
              <a:off x="5192100" y="1297875"/>
              <a:ext cx="1525802" cy="542000"/>
              <a:chOff x="5192100" y="1297875"/>
              <a:chExt cx="1525802" cy="542000"/>
            </a:xfrm>
          </p:grpSpPr>
          <p:sp>
            <p:nvSpPr>
              <p:cNvPr id="2193" name="Google Shape;2193;p45"/>
              <p:cNvSpPr txBox="1"/>
              <p:nvPr/>
            </p:nvSpPr>
            <p:spPr>
              <a:xfrm>
                <a:off x="5192102" y="1297875"/>
                <a:ext cx="1525800" cy="253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>
                    <a:solidFill>
                      <a:schemeClr val="lt1"/>
                    </a:solidFill>
                    <a:latin typeface="Fira Sans Extra Condensed Medium"/>
                    <a:ea typeface="Fira Sans Extra Condensed Medium"/>
                    <a:cs typeface="Fira Sans Extra Condensed Medium"/>
                    <a:sym typeface="Fira Sans Extra Condensed Medium"/>
                  </a:rPr>
                  <a:t>IA en 30 programas</a:t>
                </a:r>
                <a:endParaRPr sz="1600">
                  <a:solidFill>
                    <a:schemeClr val="lt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endParaRPr>
              </a:p>
            </p:txBody>
          </p:sp>
          <p:sp>
            <p:nvSpPr>
              <p:cNvPr id="2194" name="Google Shape;2194;p45"/>
              <p:cNvSpPr txBox="1"/>
              <p:nvPr/>
            </p:nvSpPr>
            <p:spPr>
              <a:xfrm>
                <a:off x="5192100" y="1524575"/>
                <a:ext cx="1525800" cy="315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900">
                    <a:solidFill>
                      <a:schemeClr val="lt1"/>
                    </a:solidFill>
                    <a:latin typeface="Roboto"/>
                    <a:ea typeface="Roboto"/>
                    <a:cs typeface="Roboto"/>
                    <a:sym typeface="Roboto"/>
                  </a:rPr>
                  <a:t>77 %; 57 de 1.616 asignaturas</a:t>
                </a:r>
                <a:endParaRPr sz="10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</p:grpSp>
      <p:grpSp>
        <p:nvGrpSpPr>
          <p:cNvPr id="2195" name="Google Shape;2195;p45"/>
          <p:cNvGrpSpPr/>
          <p:nvPr/>
        </p:nvGrpSpPr>
        <p:grpSpPr>
          <a:xfrm>
            <a:off x="4524351" y="2058850"/>
            <a:ext cx="3431224" cy="627300"/>
            <a:chOff x="4524351" y="2058850"/>
            <a:chExt cx="3431224" cy="627300"/>
          </a:xfrm>
        </p:grpSpPr>
        <p:grpSp>
          <p:nvGrpSpPr>
            <p:cNvPr id="2196" name="Google Shape;2196;p45"/>
            <p:cNvGrpSpPr/>
            <p:nvPr/>
          </p:nvGrpSpPr>
          <p:grpSpPr>
            <a:xfrm>
              <a:off x="4524351" y="2058850"/>
              <a:ext cx="3431224" cy="627300"/>
              <a:chOff x="4524351" y="2058850"/>
              <a:chExt cx="3431224" cy="627300"/>
            </a:xfrm>
          </p:grpSpPr>
          <p:sp>
            <p:nvSpPr>
              <p:cNvPr id="2197" name="Google Shape;2197;p45"/>
              <p:cNvSpPr/>
              <p:nvPr/>
            </p:nvSpPr>
            <p:spPr>
              <a:xfrm>
                <a:off x="4524351" y="2058850"/>
                <a:ext cx="2902200" cy="627300"/>
              </a:xfrm>
              <a:prstGeom prst="roundRect">
                <a:avLst>
                  <a:gd name="adj" fmla="val 48997"/>
                </a:avLst>
              </a:prstGeom>
              <a:gradFill>
                <a:gsLst>
                  <a:gs pos="0">
                    <a:srgbClr val="F3F3F3"/>
                  </a:gs>
                  <a:gs pos="100000">
                    <a:srgbClr val="D9D9D9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8" name="Google Shape;2198;p45"/>
              <p:cNvSpPr/>
              <p:nvPr/>
            </p:nvSpPr>
            <p:spPr>
              <a:xfrm>
                <a:off x="5053375" y="2058850"/>
                <a:ext cx="2902200" cy="627300"/>
              </a:xfrm>
              <a:prstGeom prst="roundRect">
                <a:avLst>
                  <a:gd name="adj" fmla="val 48997"/>
                </a:avLst>
              </a:prstGeom>
              <a:gradFill>
                <a:gsLst>
                  <a:gs pos="0">
                    <a:srgbClr val="22B2DE"/>
                  </a:gs>
                  <a:gs pos="100000">
                    <a:srgbClr val="0A3F80"/>
                  </a:gs>
                </a:gsLst>
                <a:lin ang="108014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2199" name="Google Shape;2199;p45"/>
              <p:cNvGrpSpPr/>
              <p:nvPr/>
            </p:nvGrpSpPr>
            <p:grpSpPr>
              <a:xfrm>
                <a:off x="4695164" y="2220831"/>
                <a:ext cx="262332" cy="303354"/>
                <a:chOff x="2708700" y="3804850"/>
                <a:chExt cx="417925" cy="483125"/>
              </a:xfrm>
            </p:grpSpPr>
            <p:sp>
              <p:nvSpPr>
                <p:cNvPr id="2200" name="Google Shape;2200;p45"/>
                <p:cNvSpPr/>
                <p:nvPr/>
              </p:nvSpPr>
              <p:spPr>
                <a:xfrm>
                  <a:off x="2708700" y="3804850"/>
                  <a:ext cx="417925" cy="483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717" h="19325" extrusionOk="0">
                      <a:moveTo>
                        <a:pt x="10354" y="1132"/>
                      </a:moveTo>
                      <a:lnTo>
                        <a:pt x="10354" y="8618"/>
                      </a:lnTo>
                      <a:cubicBezTo>
                        <a:pt x="10354" y="8714"/>
                        <a:pt x="10379" y="8811"/>
                        <a:pt x="10430" y="8898"/>
                      </a:cubicBezTo>
                      <a:lnTo>
                        <a:pt x="12447" y="12425"/>
                      </a:lnTo>
                      <a:lnTo>
                        <a:pt x="4273" y="12425"/>
                      </a:lnTo>
                      <a:lnTo>
                        <a:pt x="6290" y="8898"/>
                      </a:lnTo>
                      <a:cubicBezTo>
                        <a:pt x="6339" y="8811"/>
                        <a:pt x="6366" y="8714"/>
                        <a:pt x="6366" y="8618"/>
                      </a:cubicBezTo>
                      <a:lnTo>
                        <a:pt x="6366" y="1132"/>
                      </a:lnTo>
                      <a:close/>
                      <a:moveTo>
                        <a:pt x="13090" y="13557"/>
                      </a:moveTo>
                      <a:lnTo>
                        <a:pt x="15469" y="17718"/>
                      </a:lnTo>
                      <a:cubicBezTo>
                        <a:pt x="15527" y="17818"/>
                        <a:pt x="15530" y="17939"/>
                        <a:pt x="15472" y="18038"/>
                      </a:cubicBezTo>
                      <a:cubicBezTo>
                        <a:pt x="15418" y="18135"/>
                        <a:pt x="15318" y="18192"/>
                        <a:pt x="15210" y="18192"/>
                      </a:cubicBezTo>
                      <a:lnTo>
                        <a:pt x="1511" y="18192"/>
                      </a:lnTo>
                      <a:cubicBezTo>
                        <a:pt x="1399" y="18192"/>
                        <a:pt x="1299" y="18135"/>
                        <a:pt x="1245" y="18038"/>
                      </a:cubicBezTo>
                      <a:cubicBezTo>
                        <a:pt x="1187" y="17939"/>
                        <a:pt x="1187" y="17818"/>
                        <a:pt x="1245" y="17718"/>
                      </a:cubicBezTo>
                      <a:lnTo>
                        <a:pt x="3624" y="13557"/>
                      </a:lnTo>
                      <a:close/>
                      <a:moveTo>
                        <a:pt x="4717" y="0"/>
                      </a:moveTo>
                      <a:cubicBezTo>
                        <a:pt x="4403" y="0"/>
                        <a:pt x="4153" y="254"/>
                        <a:pt x="4153" y="568"/>
                      </a:cubicBezTo>
                      <a:cubicBezTo>
                        <a:pt x="4153" y="879"/>
                        <a:pt x="4403" y="1132"/>
                        <a:pt x="4717" y="1132"/>
                      </a:cubicBezTo>
                      <a:lnTo>
                        <a:pt x="5234" y="1132"/>
                      </a:lnTo>
                      <a:lnTo>
                        <a:pt x="5234" y="8467"/>
                      </a:lnTo>
                      <a:lnTo>
                        <a:pt x="264" y="17157"/>
                      </a:lnTo>
                      <a:cubicBezTo>
                        <a:pt x="1" y="17604"/>
                        <a:pt x="4" y="18159"/>
                        <a:pt x="267" y="18606"/>
                      </a:cubicBezTo>
                      <a:cubicBezTo>
                        <a:pt x="519" y="19050"/>
                        <a:pt x="992" y="19325"/>
                        <a:pt x="1502" y="19325"/>
                      </a:cubicBezTo>
                      <a:cubicBezTo>
                        <a:pt x="1505" y="19325"/>
                        <a:pt x="1508" y="19325"/>
                        <a:pt x="1511" y="19325"/>
                      </a:cubicBezTo>
                      <a:lnTo>
                        <a:pt x="15207" y="19325"/>
                      </a:lnTo>
                      <a:cubicBezTo>
                        <a:pt x="15210" y="19325"/>
                        <a:pt x="15212" y="19325"/>
                        <a:pt x="15215" y="19325"/>
                      </a:cubicBezTo>
                      <a:cubicBezTo>
                        <a:pt x="15725" y="19325"/>
                        <a:pt x="16198" y="19050"/>
                        <a:pt x="16451" y="18606"/>
                      </a:cubicBezTo>
                      <a:cubicBezTo>
                        <a:pt x="16713" y="18159"/>
                        <a:pt x="16716" y="17607"/>
                        <a:pt x="16454" y="17157"/>
                      </a:cubicBezTo>
                      <a:lnTo>
                        <a:pt x="11487" y="8467"/>
                      </a:lnTo>
                      <a:lnTo>
                        <a:pt x="11487" y="1132"/>
                      </a:lnTo>
                      <a:lnTo>
                        <a:pt x="12003" y="1132"/>
                      </a:lnTo>
                      <a:cubicBezTo>
                        <a:pt x="12314" y="1132"/>
                        <a:pt x="12568" y="879"/>
                        <a:pt x="12568" y="568"/>
                      </a:cubicBezTo>
                      <a:cubicBezTo>
                        <a:pt x="12568" y="254"/>
                        <a:pt x="12314" y="0"/>
                        <a:pt x="12003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2B2DE"/>
                    </a:gs>
                    <a:gs pos="100000">
                      <a:srgbClr val="0A3F80"/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rgbClr val="263A58"/>
                    </a:solidFill>
                  </a:endParaRPr>
                </a:p>
              </p:txBody>
            </p:sp>
            <p:sp>
              <p:nvSpPr>
                <p:cNvPr id="2201" name="Google Shape;2201;p45"/>
                <p:cNvSpPr/>
                <p:nvPr/>
              </p:nvSpPr>
              <p:spPr>
                <a:xfrm>
                  <a:off x="2875975" y="4055200"/>
                  <a:ext cx="33100" cy="28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24" h="1134" extrusionOk="0">
                      <a:moveTo>
                        <a:pt x="570" y="1"/>
                      </a:moveTo>
                      <a:cubicBezTo>
                        <a:pt x="280" y="1"/>
                        <a:pt x="1" y="225"/>
                        <a:pt x="1" y="566"/>
                      </a:cubicBezTo>
                      <a:cubicBezTo>
                        <a:pt x="1" y="880"/>
                        <a:pt x="255" y="1134"/>
                        <a:pt x="569" y="1134"/>
                      </a:cubicBezTo>
                      <a:cubicBezTo>
                        <a:pt x="1073" y="1134"/>
                        <a:pt x="1323" y="524"/>
                        <a:pt x="967" y="168"/>
                      </a:cubicBezTo>
                      <a:cubicBezTo>
                        <a:pt x="852" y="52"/>
                        <a:pt x="710" y="1"/>
                        <a:pt x="570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2B2DE"/>
                    </a:gs>
                    <a:gs pos="100000">
                      <a:srgbClr val="0A3F80"/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rgbClr val="263A58"/>
                    </a:solidFill>
                  </a:endParaRPr>
                </a:p>
              </p:txBody>
            </p:sp>
            <p:sp>
              <p:nvSpPr>
                <p:cNvPr id="2202" name="Google Shape;2202;p45"/>
                <p:cNvSpPr/>
                <p:nvPr/>
              </p:nvSpPr>
              <p:spPr>
                <a:xfrm>
                  <a:off x="2931025" y="4055200"/>
                  <a:ext cx="33075" cy="28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23" h="1134" extrusionOk="0">
                      <a:moveTo>
                        <a:pt x="569" y="1"/>
                      </a:moveTo>
                      <a:cubicBezTo>
                        <a:pt x="279" y="1"/>
                        <a:pt x="0" y="225"/>
                        <a:pt x="0" y="566"/>
                      </a:cubicBezTo>
                      <a:cubicBezTo>
                        <a:pt x="0" y="880"/>
                        <a:pt x="254" y="1134"/>
                        <a:pt x="565" y="1134"/>
                      </a:cubicBezTo>
                      <a:cubicBezTo>
                        <a:pt x="1069" y="1134"/>
                        <a:pt x="1323" y="524"/>
                        <a:pt x="966" y="168"/>
                      </a:cubicBezTo>
                      <a:cubicBezTo>
                        <a:pt x="851" y="52"/>
                        <a:pt x="709" y="1"/>
                        <a:pt x="56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2B2DE"/>
                    </a:gs>
                    <a:gs pos="100000">
                      <a:srgbClr val="0A3F80"/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rgbClr val="263A58"/>
                    </a:solidFill>
                  </a:endParaRPr>
                </a:p>
              </p:txBody>
            </p:sp>
            <p:sp>
              <p:nvSpPr>
                <p:cNvPr id="2203" name="Google Shape;2203;p45"/>
                <p:cNvSpPr/>
                <p:nvPr/>
              </p:nvSpPr>
              <p:spPr>
                <a:xfrm>
                  <a:off x="2903525" y="4008200"/>
                  <a:ext cx="28350" cy="28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34" h="1133" extrusionOk="0">
                      <a:moveTo>
                        <a:pt x="566" y="1"/>
                      </a:moveTo>
                      <a:cubicBezTo>
                        <a:pt x="252" y="1"/>
                        <a:pt x="1" y="254"/>
                        <a:pt x="1" y="568"/>
                      </a:cubicBezTo>
                      <a:cubicBezTo>
                        <a:pt x="1" y="879"/>
                        <a:pt x="252" y="1133"/>
                        <a:pt x="566" y="1133"/>
                      </a:cubicBezTo>
                      <a:cubicBezTo>
                        <a:pt x="880" y="1133"/>
                        <a:pt x="1133" y="879"/>
                        <a:pt x="1133" y="568"/>
                      </a:cubicBezTo>
                      <a:cubicBezTo>
                        <a:pt x="1133" y="254"/>
                        <a:pt x="880" y="1"/>
                        <a:pt x="566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2B2DE"/>
                    </a:gs>
                    <a:gs pos="100000">
                      <a:srgbClr val="0A3F80"/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rgbClr val="263A58"/>
                    </a:solidFill>
                  </a:endParaRPr>
                </a:p>
              </p:txBody>
            </p:sp>
          </p:grpSp>
          <p:sp>
            <p:nvSpPr>
              <p:cNvPr id="2204" name="Google Shape;2204;p45"/>
              <p:cNvSpPr/>
              <p:nvPr/>
            </p:nvSpPr>
            <p:spPr>
              <a:xfrm>
                <a:off x="6783900" y="2258950"/>
                <a:ext cx="943350" cy="192625"/>
              </a:xfrm>
              <a:custGeom>
                <a:avLst/>
                <a:gdLst/>
                <a:ahLst/>
                <a:cxnLst/>
                <a:rect l="l" t="t" r="r" b="b"/>
                <a:pathLst>
                  <a:path w="37734" h="7705" extrusionOk="0">
                    <a:moveTo>
                      <a:pt x="0" y="6263"/>
                    </a:moveTo>
                    <a:lnTo>
                      <a:pt x="13459" y="5301"/>
                    </a:lnTo>
                    <a:lnTo>
                      <a:pt x="25477" y="7705"/>
                    </a:lnTo>
                    <a:lnTo>
                      <a:pt x="37734" y="0"/>
                    </a:lnTo>
                  </a:path>
                </a:pathLst>
              </a:cu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es-CO"/>
              </a:p>
            </p:txBody>
          </p:sp>
        </p:grpSp>
        <p:grpSp>
          <p:nvGrpSpPr>
            <p:cNvPr id="2205" name="Google Shape;2205;p45"/>
            <p:cNvGrpSpPr/>
            <p:nvPr/>
          </p:nvGrpSpPr>
          <p:grpSpPr>
            <a:xfrm>
              <a:off x="5192100" y="2101500"/>
              <a:ext cx="1525802" cy="542000"/>
              <a:chOff x="5192100" y="2101500"/>
              <a:chExt cx="1525802" cy="542000"/>
            </a:xfrm>
          </p:grpSpPr>
          <p:sp>
            <p:nvSpPr>
              <p:cNvPr id="2206" name="Google Shape;2206;p45"/>
              <p:cNvSpPr txBox="1"/>
              <p:nvPr/>
            </p:nvSpPr>
            <p:spPr>
              <a:xfrm>
                <a:off x="5192102" y="2101500"/>
                <a:ext cx="1525800" cy="253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>
                    <a:solidFill>
                      <a:schemeClr val="lt1"/>
                    </a:solidFill>
                    <a:latin typeface="Fira Sans Extra Condensed Medium"/>
                    <a:ea typeface="Fira Sans Extra Condensed Medium"/>
                    <a:cs typeface="Fira Sans Extra Condensed Medium"/>
                    <a:sym typeface="Fira Sans Extra Condensed Medium"/>
                  </a:rPr>
                  <a:t>Sostenibilidad en 31</a:t>
                </a:r>
                <a:endParaRPr sz="1600">
                  <a:solidFill>
                    <a:schemeClr val="lt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endParaRPr>
              </a:p>
            </p:txBody>
          </p:sp>
          <p:sp>
            <p:nvSpPr>
              <p:cNvPr id="2207" name="Google Shape;2207;p45"/>
              <p:cNvSpPr txBox="1"/>
              <p:nvPr/>
            </p:nvSpPr>
            <p:spPr>
              <a:xfrm>
                <a:off x="5192100" y="2328200"/>
                <a:ext cx="1525800" cy="315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900">
                    <a:solidFill>
                      <a:schemeClr val="lt1"/>
                    </a:solidFill>
                    <a:latin typeface="Roboto"/>
                    <a:ea typeface="Roboto"/>
                    <a:cs typeface="Roboto"/>
                    <a:sym typeface="Roboto"/>
                  </a:rPr>
                  <a:t>79 %; 18 fuera del núcleo</a:t>
                </a:r>
                <a:endParaRPr sz="10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</p:grpSp>
      <p:grpSp>
        <p:nvGrpSpPr>
          <p:cNvPr id="2208" name="Google Shape;2208;p45"/>
          <p:cNvGrpSpPr/>
          <p:nvPr/>
        </p:nvGrpSpPr>
        <p:grpSpPr>
          <a:xfrm>
            <a:off x="4524351" y="2861874"/>
            <a:ext cx="3431224" cy="627300"/>
            <a:chOff x="4524351" y="2861874"/>
            <a:chExt cx="3431224" cy="627300"/>
          </a:xfrm>
        </p:grpSpPr>
        <p:grpSp>
          <p:nvGrpSpPr>
            <p:cNvPr id="2209" name="Google Shape;2209;p45"/>
            <p:cNvGrpSpPr/>
            <p:nvPr/>
          </p:nvGrpSpPr>
          <p:grpSpPr>
            <a:xfrm>
              <a:off x="4524351" y="2861874"/>
              <a:ext cx="3431224" cy="627300"/>
              <a:chOff x="4524351" y="2861874"/>
              <a:chExt cx="3431224" cy="627300"/>
            </a:xfrm>
          </p:grpSpPr>
          <p:sp>
            <p:nvSpPr>
              <p:cNvPr id="2210" name="Google Shape;2210;p45"/>
              <p:cNvSpPr/>
              <p:nvPr/>
            </p:nvSpPr>
            <p:spPr>
              <a:xfrm>
                <a:off x="4524351" y="2861874"/>
                <a:ext cx="2902200" cy="627300"/>
              </a:xfrm>
              <a:prstGeom prst="roundRect">
                <a:avLst>
                  <a:gd name="adj" fmla="val 48997"/>
                </a:avLst>
              </a:prstGeom>
              <a:gradFill>
                <a:gsLst>
                  <a:gs pos="0">
                    <a:srgbClr val="F3F3F3"/>
                  </a:gs>
                  <a:gs pos="100000">
                    <a:srgbClr val="D9D9D9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1" name="Google Shape;2211;p45"/>
              <p:cNvSpPr/>
              <p:nvPr/>
            </p:nvSpPr>
            <p:spPr>
              <a:xfrm>
                <a:off x="4687048" y="3017727"/>
                <a:ext cx="278557" cy="315594"/>
              </a:xfrm>
              <a:custGeom>
                <a:avLst/>
                <a:gdLst/>
                <a:ahLst/>
                <a:cxnLst/>
                <a:rect l="l" t="t" r="r" b="b"/>
                <a:pathLst>
                  <a:path w="17058" h="19326" extrusionOk="0">
                    <a:moveTo>
                      <a:pt x="15013" y="2021"/>
                    </a:moveTo>
                    <a:lnTo>
                      <a:pt x="11577" y="5741"/>
                    </a:lnTo>
                    <a:cubicBezTo>
                      <a:pt x="11378" y="5958"/>
                      <a:pt x="11378" y="6290"/>
                      <a:pt x="11577" y="6507"/>
                    </a:cubicBezTo>
                    <a:lnTo>
                      <a:pt x="15013" y="10230"/>
                    </a:lnTo>
                    <a:lnTo>
                      <a:pt x="3195" y="10230"/>
                    </a:lnTo>
                    <a:lnTo>
                      <a:pt x="3195" y="2021"/>
                    </a:lnTo>
                    <a:close/>
                    <a:moveTo>
                      <a:pt x="1716" y="1133"/>
                    </a:moveTo>
                    <a:cubicBezTo>
                      <a:pt x="1906" y="1136"/>
                      <a:pt x="2060" y="1290"/>
                      <a:pt x="2063" y="1480"/>
                    </a:cubicBezTo>
                    <a:lnTo>
                      <a:pt x="2063" y="17846"/>
                    </a:lnTo>
                    <a:cubicBezTo>
                      <a:pt x="2060" y="18036"/>
                      <a:pt x="1906" y="18190"/>
                      <a:pt x="1716" y="18193"/>
                    </a:cubicBezTo>
                    <a:lnTo>
                      <a:pt x="1483" y="18193"/>
                    </a:lnTo>
                    <a:cubicBezTo>
                      <a:pt x="1290" y="18190"/>
                      <a:pt x="1136" y="18036"/>
                      <a:pt x="1133" y="17846"/>
                    </a:cubicBezTo>
                    <a:lnTo>
                      <a:pt x="1133" y="1480"/>
                    </a:lnTo>
                    <a:cubicBezTo>
                      <a:pt x="1136" y="1290"/>
                      <a:pt x="1290" y="1136"/>
                      <a:pt x="1483" y="1133"/>
                    </a:cubicBezTo>
                    <a:close/>
                    <a:moveTo>
                      <a:pt x="1483" y="1"/>
                    </a:moveTo>
                    <a:cubicBezTo>
                      <a:pt x="665" y="1"/>
                      <a:pt x="4" y="665"/>
                      <a:pt x="1" y="1480"/>
                    </a:cubicBezTo>
                    <a:lnTo>
                      <a:pt x="1" y="17846"/>
                    </a:lnTo>
                    <a:cubicBezTo>
                      <a:pt x="4" y="18661"/>
                      <a:pt x="665" y="19325"/>
                      <a:pt x="1483" y="19325"/>
                    </a:cubicBezTo>
                    <a:lnTo>
                      <a:pt x="1716" y="19325"/>
                    </a:lnTo>
                    <a:cubicBezTo>
                      <a:pt x="2531" y="19325"/>
                      <a:pt x="3195" y="18661"/>
                      <a:pt x="3195" y="17846"/>
                    </a:cubicBezTo>
                    <a:lnTo>
                      <a:pt x="3195" y="11363"/>
                    </a:lnTo>
                    <a:lnTo>
                      <a:pt x="16306" y="11363"/>
                    </a:lnTo>
                    <a:cubicBezTo>
                      <a:pt x="16801" y="11360"/>
                      <a:pt x="17058" y="10774"/>
                      <a:pt x="16722" y="10412"/>
                    </a:cubicBezTo>
                    <a:lnTo>
                      <a:pt x="12764" y="6124"/>
                    </a:lnTo>
                    <a:lnTo>
                      <a:pt x="16722" y="1836"/>
                    </a:lnTo>
                    <a:cubicBezTo>
                      <a:pt x="16873" y="1673"/>
                      <a:pt x="16916" y="1432"/>
                      <a:pt x="16825" y="1226"/>
                    </a:cubicBezTo>
                    <a:cubicBezTo>
                      <a:pt x="16734" y="1021"/>
                      <a:pt x="16532" y="885"/>
                      <a:pt x="16306" y="885"/>
                    </a:cubicBezTo>
                    <a:lnTo>
                      <a:pt x="3071" y="885"/>
                    </a:lnTo>
                    <a:cubicBezTo>
                      <a:pt x="2833" y="348"/>
                      <a:pt x="2302" y="1"/>
                      <a:pt x="1716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7FD8F5"/>
                  </a:gs>
                  <a:gs pos="100000">
                    <a:srgbClr val="15BECE"/>
                  </a:gs>
                </a:gsLst>
                <a:lin ang="108014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263A58"/>
                  </a:solidFill>
                </a:endParaRPr>
              </a:p>
            </p:txBody>
          </p:sp>
          <p:sp>
            <p:nvSpPr>
              <p:cNvPr id="2212" name="Google Shape;2212;p45"/>
              <p:cNvSpPr/>
              <p:nvPr/>
            </p:nvSpPr>
            <p:spPr>
              <a:xfrm>
                <a:off x="5053375" y="2861874"/>
                <a:ext cx="2902200" cy="627300"/>
              </a:xfrm>
              <a:prstGeom prst="roundRect">
                <a:avLst>
                  <a:gd name="adj" fmla="val 48997"/>
                </a:avLst>
              </a:prstGeom>
              <a:gradFill>
                <a:gsLst>
                  <a:gs pos="0">
                    <a:srgbClr val="7FD8F5"/>
                  </a:gs>
                  <a:gs pos="100000">
                    <a:srgbClr val="15BECE"/>
                  </a:gs>
                </a:gsLst>
                <a:lin ang="108014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3" name="Google Shape;2213;p45"/>
              <p:cNvSpPr/>
              <p:nvPr/>
            </p:nvSpPr>
            <p:spPr>
              <a:xfrm>
                <a:off x="6783900" y="3052450"/>
                <a:ext cx="973400" cy="216325"/>
              </a:xfrm>
              <a:custGeom>
                <a:avLst/>
                <a:gdLst/>
                <a:ahLst/>
                <a:cxnLst/>
                <a:rect l="l" t="t" r="r" b="b"/>
                <a:pathLst>
                  <a:path w="38936" h="8653" extrusionOk="0">
                    <a:moveTo>
                      <a:pt x="0" y="8653"/>
                    </a:moveTo>
                    <a:lnTo>
                      <a:pt x="12017" y="0"/>
                    </a:lnTo>
                    <a:lnTo>
                      <a:pt x="24756" y="6009"/>
                    </a:lnTo>
                    <a:lnTo>
                      <a:pt x="38936" y="4807"/>
                    </a:lnTo>
                  </a:path>
                </a:pathLst>
              </a:cu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es-CO"/>
              </a:p>
            </p:txBody>
          </p:sp>
        </p:grpSp>
        <p:grpSp>
          <p:nvGrpSpPr>
            <p:cNvPr id="2214" name="Google Shape;2214;p45"/>
            <p:cNvGrpSpPr/>
            <p:nvPr/>
          </p:nvGrpSpPr>
          <p:grpSpPr>
            <a:xfrm>
              <a:off x="5192100" y="2904525"/>
              <a:ext cx="1525802" cy="542000"/>
              <a:chOff x="5192100" y="2904525"/>
              <a:chExt cx="1525802" cy="542000"/>
            </a:xfrm>
          </p:grpSpPr>
          <p:sp>
            <p:nvSpPr>
              <p:cNvPr id="2215" name="Google Shape;2215;p45"/>
              <p:cNvSpPr txBox="1"/>
              <p:nvPr/>
            </p:nvSpPr>
            <p:spPr>
              <a:xfrm>
                <a:off x="5192102" y="2904525"/>
                <a:ext cx="1525800" cy="253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>
                    <a:solidFill>
                      <a:schemeClr val="lt1"/>
                    </a:solidFill>
                    <a:latin typeface="Fira Sans Extra Condensed Medium"/>
                    <a:ea typeface="Fira Sans Extra Condensed Medium"/>
                    <a:cs typeface="Fira Sans Extra Condensed Medium"/>
                    <a:sym typeface="Fira Sans Extra Condensed Medium"/>
                  </a:rPr>
                  <a:t>IA solo por el núcleo</a:t>
                </a:r>
                <a:endParaRPr sz="1600">
                  <a:solidFill>
                    <a:schemeClr val="lt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endParaRPr>
              </a:p>
            </p:txBody>
          </p:sp>
          <p:sp>
            <p:nvSpPr>
              <p:cNvPr id="2216" name="Google Shape;2216;p45"/>
              <p:cNvSpPr txBox="1"/>
              <p:nvPr/>
            </p:nvSpPr>
            <p:spPr>
              <a:xfrm>
                <a:off x="5192100" y="3131225"/>
                <a:ext cx="1525800" cy="315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900">
                    <a:solidFill>
                      <a:schemeClr val="lt1"/>
                    </a:solidFill>
                    <a:latin typeface="Roboto"/>
                    <a:ea typeface="Roboto"/>
                    <a:cs typeface="Roboto"/>
                    <a:sym typeface="Roboto"/>
                  </a:rPr>
                  <a:t>21 programas (54 %)</a:t>
                </a:r>
                <a:endParaRPr sz="10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</p:grpSp>
      <p:grpSp>
        <p:nvGrpSpPr>
          <p:cNvPr id="2217" name="Google Shape;2217;p45"/>
          <p:cNvGrpSpPr/>
          <p:nvPr/>
        </p:nvGrpSpPr>
        <p:grpSpPr>
          <a:xfrm>
            <a:off x="4524351" y="3664899"/>
            <a:ext cx="3431224" cy="627300"/>
            <a:chOff x="4524351" y="3664899"/>
            <a:chExt cx="3431224" cy="627300"/>
          </a:xfrm>
        </p:grpSpPr>
        <p:grpSp>
          <p:nvGrpSpPr>
            <p:cNvPr id="2218" name="Google Shape;2218;p45"/>
            <p:cNvGrpSpPr/>
            <p:nvPr/>
          </p:nvGrpSpPr>
          <p:grpSpPr>
            <a:xfrm>
              <a:off x="4524351" y="3664899"/>
              <a:ext cx="3431224" cy="627300"/>
              <a:chOff x="4524351" y="3664899"/>
              <a:chExt cx="3431224" cy="627300"/>
            </a:xfrm>
          </p:grpSpPr>
          <p:sp>
            <p:nvSpPr>
              <p:cNvPr id="2219" name="Google Shape;2219;p45"/>
              <p:cNvSpPr/>
              <p:nvPr/>
            </p:nvSpPr>
            <p:spPr>
              <a:xfrm>
                <a:off x="4524351" y="3664899"/>
                <a:ext cx="2902200" cy="627300"/>
              </a:xfrm>
              <a:prstGeom prst="roundRect">
                <a:avLst>
                  <a:gd name="adj" fmla="val 48997"/>
                </a:avLst>
              </a:prstGeom>
              <a:gradFill>
                <a:gsLst>
                  <a:gs pos="0">
                    <a:srgbClr val="F3F3F3"/>
                  </a:gs>
                  <a:gs pos="100000">
                    <a:srgbClr val="D9D9D9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2220" name="Google Shape;2220;p45"/>
              <p:cNvGrpSpPr/>
              <p:nvPr/>
            </p:nvGrpSpPr>
            <p:grpSpPr>
              <a:xfrm>
                <a:off x="4668334" y="3820761"/>
                <a:ext cx="315985" cy="315577"/>
                <a:chOff x="5053900" y="2021500"/>
                <a:chExt cx="483750" cy="483125"/>
              </a:xfrm>
            </p:grpSpPr>
            <p:sp>
              <p:nvSpPr>
                <p:cNvPr id="2221" name="Google Shape;2221;p45"/>
                <p:cNvSpPr/>
                <p:nvPr/>
              </p:nvSpPr>
              <p:spPr>
                <a:xfrm>
                  <a:off x="5281350" y="2078100"/>
                  <a:ext cx="127375" cy="127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95" h="5094" extrusionOk="0">
                      <a:moveTo>
                        <a:pt x="565" y="0"/>
                      </a:moveTo>
                      <a:cubicBezTo>
                        <a:pt x="251" y="0"/>
                        <a:pt x="1" y="254"/>
                        <a:pt x="1" y="568"/>
                      </a:cubicBezTo>
                      <a:cubicBezTo>
                        <a:pt x="1" y="879"/>
                        <a:pt x="251" y="1132"/>
                        <a:pt x="565" y="1132"/>
                      </a:cubicBezTo>
                      <a:cubicBezTo>
                        <a:pt x="2440" y="1135"/>
                        <a:pt x="3959" y="2654"/>
                        <a:pt x="3962" y="4529"/>
                      </a:cubicBezTo>
                      <a:cubicBezTo>
                        <a:pt x="3962" y="4843"/>
                        <a:pt x="4216" y="5094"/>
                        <a:pt x="4530" y="5094"/>
                      </a:cubicBezTo>
                      <a:cubicBezTo>
                        <a:pt x="4841" y="5094"/>
                        <a:pt x="5094" y="4843"/>
                        <a:pt x="5094" y="4529"/>
                      </a:cubicBezTo>
                      <a:cubicBezTo>
                        <a:pt x="5091" y="2029"/>
                        <a:pt x="3065" y="3"/>
                        <a:pt x="565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D5E66A"/>
                    </a:gs>
                    <a:gs pos="100000">
                      <a:srgbClr val="B1C900"/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rgbClr val="263A58"/>
                    </a:solidFill>
                  </a:endParaRPr>
                </a:p>
              </p:txBody>
            </p:sp>
            <p:sp>
              <p:nvSpPr>
                <p:cNvPr id="2222" name="Google Shape;2222;p45"/>
                <p:cNvSpPr/>
                <p:nvPr/>
              </p:nvSpPr>
              <p:spPr>
                <a:xfrm>
                  <a:off x="5118000" y="2021500"/>
                  <a:ext cx="368700" cy="483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748" h="19325" extrusionOk="0">
                      <a:moveTo>
                        <a:pt x="7088" y="1135"/>
                      </a:moveTo>
                      <a:cubicBezTo>
                        <a:pt x="8391" y="1135"/>
                        <a:pt x="9651" y="1571"/>
                        <a:pt x="10668" y="2397"/>
                      </a:cubicBezTo>
                      <a:cubicBezTo>
                        <a:pt x="13159" y="4417"/>
                        <a:pt x="13473" y="8104"/>
                        <a:pt x="11360" y="10516"/>
                      </a:cubicBezTo>
                      <a:cubicBezTo>
                        <a:pt x="10572" y="11419"/>
                        <a:pt x="10085" y="12503"/>
                        <a:pt x="9962" y="13626"/>
                      </a:cubicBezTo>
                      <a:lnTo>
                        <a:pt x="4237" y="13626"/>
                      </a:lnTo>
                      <a:cubicBezTo>
                        <a:pt x="4107" y="12482"/>
                        <a:pt x="3630" y="11407"/>
                        <a:pt x="2866" y="10550"/>
                      </a:cubicBezTo>
                      <a:cubicBezTo>
                        <a:pt x="1658" y="9191"/>
                        <a:pt x="1184" y="7367"/>
                        <a:pt x="1571" y="5549"/>
                      </a:cubicBezTo>
                      <a:cubicBezTo>
                        <a:pt x="2020" y="3427"/>
                        <a:pt x="3748" y="1706"/>
                        <a:pt x="5873" y="1262"/>
                      </a:cubicBezTo>
                      <a:cubicBezTo>
                        <a:pt x="6278" y="1177"/>
                        <a:pt x="6685" y="1135"/>
                        <a:pt x="7088" y="1135"/>
                      </a:cubicBezTo>
                      <a:close/>
                      <a:moveTo>
                        <a:pt x="9931" y="14759"/>
                      </a:moveTo>
                      <a:lnTo>
                        <a:pt x="9931" y="15323"/>
                      </a:lnTo>
                      <a:cubicBezTo>
                        <a:pt x="9931" y="15637"/>
                        <a:pt x="9678" y="15891"/>
                        <a:pt x="9364" y="15891"/>
                      </a:cubicBezTo>
                      <a:lnTo>
                        <a:pt x="4835" y="15891"/>
                      </a:lnTo>
                      <a:cubicBezTo>
                        <a:pt x="4521" y="15891"/>
                        <a:pt x="4270" y="15637"/>
                        <a:pt x="4270" y="15323"/>
                      </a:cubicBezTo>
                      <a:lnTo>
                        <a:pt x="4270" y="14759"/>
                      </a:lnTo>
                      <a:close/>
                      <a:moveTo>
                        <a:pt x="8699" y="17023"/>
                      </a:moveTo>
                      <a:cubicBezTo>
                        <a:pt x="8464" y="17694"/>
                        <a:pt x="7827" y="18192"/>
                        <a:pt x="7099" y="18192"/>
                      </a:cubicBezTo>
                      <a:cubicBezTo>
                        <a:pt x="6371" y="18192"/>
                        <a:pt x="5734" y="17694"/>
                        <a:pt x="5499" y="17023"/>
                      </a:cubicBezTo>
                      <a:close/>
                      <a:moveTo>
                        <a:pt x="7087" y="0"/>
                      </a:moveTo>
                      <a:cubicBezTo>
                        <a:pt x="6607" y="0"/>
                        <a:pt x="6123" y="50"/>
                        <a:pt x="5641" y="151"/>
                      </a:cubicBezTo>
                      <a:cubicBezTo>
                        <a:pt x="3053" y="712"/>
                        <a:pt x="1027" y="2729"/>
                        <a:pt x="462" y="5314"/>
                      </a:cubicBezTo>
                      <a:cubicBezTo>
                        <a:pt x="0" y="7488"/>
                        <a:pt x="568" y="9671"/>
                        <a:pt x="2020" y="11301"/>
                      </a:cubicBezTo>
                      <a:cubicBezTo>
                        <a:pt x="2730" y="12099"/>
                        <a:pt x="3135" y="13149"/>
                        <a:pt x="3135" y="14191"/>
                      </a:cubicBezTo>
                      <a:lnTo>
                        <a:pt x="3135" y="15323"/>
                      </a:lnTo>
                      <a:cubicBezTo>
                        <a:pt x="3138" y="16060"/>
                        <a:pt x="3612" y="16709"/>
                        <a:pt x="4309" y="16939"/>
                      </a:cubicBezTo>
                      <a:cubicBezTo>
                        <a:pt x="4409" y="17518"/>
                        <a:pt x="4681" y="18053"/>
                        <a:pt x="5094" y="18473"/>
                      </a:cubicBezTo>
                      <a:cubicBezTo>
                        <a:pt x="5642" y="19040"/>
                        <a:pt x="6371" y="19324"/>
                        <a:pt x="7099" y="19324"/>
                      </a:cubicBezTo>
                      <a:cubicBezTo>
                        <a:pt x="7828" y="19324"/>
                        <a:pt x="8556" y="19040"/>
                        <a:pt x="9104" y="18473"/>
                      </a:cubicBezTo>
                      <a:cubicBezTo>
                        <a:pt x="9518" y="18053"/>
                        <a:pt x="9790" y="17518"/>
                        <a:pt x="9889" y="16939"/>
                      </a:cubicBezTo>
                      <a:cubicBezTo>
                        <a:pt x="10587" y="16709"/>
                        <a:pt x="11061" y="16060"/>
                        <a:pt x="11064" y="15323"/>
                      </a:cubicBezTo>
                      <a:lnTo>
                        <a:pt x="11064" y="14191"/>
                      </a:lnTo>
                      <a:cubicBezTo>
                        <a:pt x="11064" y="13149"/>
                        <a:pt x="11471" y="12108"/>
                        <a:pt x="12211" y="11262"/>
                      </a:cubicBezTo>
                      <a:cubicBezTo>
                        <a:pt x="14747" y="8366"/>
                        <a:pt x="14370" y="3943"/>
                        <a:pt x="11381" y="1518"/>
                      </a:cubicBezTo>
                      <a:cubicBezTo>
                        <a:pt x="10159" y="525"/>
                        <a:pt x="8647" y="0"/>
                        <a:pt x="7087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D5E66A"/>
                    </a:gs>
                    <a:gs pos="100000">
                      <a:srgbClr val="B1C900"/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rgbClr val="263A58"/>
                    </a:solidFill>
                  </a:endParaRPr>
                </a:p>
              </p:txBody>
            </p:sp>
            <p:sp>
              <p:nvSpPr>
                <p:cNvPr id="2223" name="Google Shape;2223;p45"/>
                <p:cNvSpPr/>
                <p:nvPr/>
              </p:nvSpPr>
              <p:spPr>
                <a:xfrm>
                  <a:off x="5053900" y="2191325"/>
                  <a:ext cx="56650" cy="28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66" h="1133" extrusionOk="0">
                      <a:moveTo>
                        <a:pt x="569" y="0"/>
                      </a:moveTo>
                      <a:cubicBezTo>
                        <a:pt x="255" y="0"/>
                        <a:pt x="1" y="254"/>
                        <a:pt x="1" y="568"/>
                      </a:cubicBezTo>
                      <a:cubicBezTo>
                        <a:pt x="1" y="879"/>
                        <a:pt x="255" y="1133"/>
                        <a:pt x="569" y="1133"/>
                      </a:cubicBezTo>
                      <a:lnTo>
                        <a:pt x="1701" y="1133"/>
                      </a:lnTo>
                      <a:cubicBezTo>
                        <a:pt x="2012" y="1133"/>
                        <a:pt x="2266" y="879"/>
                        <a:pt x="2266" y="568"/>
                      </a:cubicBezTo>
                      <a:cubicBezTo>
                        <a:pt x="2266" y="254"/>
                        <a:pt x="2012" y="0"/>
                        <a:pt x="1701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D5E66A"/>
                    </a:gs>
                    <a:gs pos="100000">
                      <a:srgbClr val="B1C900"/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rgbClr val="263A58"/>
                    </a:solidFill>
                  </a:endParaRPr>
                </a:p>
              </p:txBody>
            </p:sp>
            <p:sp>
              <p:nvSpPr>
                <p:cNvPr id="2224" name="Google Shape;2224;p45"/>
                <p:cNvSpPr/>
                <p:nvPr/>
              </p:nvSpPr>
              <p:spPr>
                <a:xfrm>
                  <a:off x="5056850" y="2096550"/>
                  <a:ext cx="50750" cy="48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30" h="1921" extrusionOk="0">
                      <a:moveTo>
                        <a:pt x="622" y="0"/>
                      </a:moveTo>
                      <a:cubicBezTo>
                        <a:pt x="476" y="0"/>
                        <a:pt x="331" y="56"/>
                        <a:pt x="221" y="168"/>
                      </a:cubicBezTo>
                      <a:cubicBezTo>
                        <a:pt x="4" y="385"/>
                        <a:pt x="1" y="739"/>
                        <a:pt x="215" y="962"/>
                      </a:cubicBezTo>
                      <a:lnTo>
                        <a:pt x="1015" y="1762"/>
                      </a:lnTo>
                      <a:cubicBezTo>
                        <a:pt x="1125" y="1868"/>
                        <a:pt x="1267" y="1921"/>
                        <a:pt x="1409" y="1921"/>
                      </a:cubicBezTo>
                      <a:cubicBezTo>
                        <a:pt x="1554" y="1921"/>
                        <a:pt x="1699" y="1865"/>
                        <a:pt x="1809" y="1753"/>
                      </a:cubicBezTo>
                      <a:cubicBezTo>
                        <a:pt x="2027" y="1536"/>
                        <a:pt x="2030" y="1183"/>
                        <a:pt x="1815" y="962"/>
                      </a:cubicBezTo>
                      <a:lnTo>
                        <a:pt x="1015" y="159"/>
                      </a:lnTo>
                      <a:cubicBezTo>
                        <a:pt x="905" y="53"/>
                        <a:pt x="763" y="0"/>
                        <a:pt x="622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D5E66A"/>
                    </a:gs>
                    <a:gs pos="100000">
                      <a:srgbClr val="B1C900"/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rgbClr val="263A58"/>
                    </a:solidFill>
                  </a:endParaRPr>
                </a:p>
              </p:txBody>
            </p:sp>
            <p:sp>
              <p:nvSpPr>
                <p:cNvPr id="2225" name="Google Shape;2225;p45"/>
                <p:cNvSpPr/>
                <p:nvPr/>
              </p:nvSpPr>
              <p:spPr>
                <a:xfrm>
                  <a:off x="5056400" y="2266400"/>
                  <a:ext cx="51200" cy="48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48" h="1934" extrusionOk="0">
                      <a:moveTo>
                        <a:pt x="1427" y="0"/>
                      </a:moveTo>
                      <a:cubicBezTo>
                        <a:pt x="1285" y="0"/>
                        <a:pt x="1143" y="53"/>
                        <a:pt x="1033" y="159"/>
                      </a:cubicBezTo>
                      <a:lnTo>
                        <a:pt x="233" y="962"/>
                      </a:lnTo>
                      <a:cubicBezTo>
                        <a:pt x="4" y="1179"/>
                        <a:pt x="1" y="1545"/>
                        <a:pt x="227" y="1768"/>
                      </a:cubicBezTo>
                      <a:cubicBezTo>
                        <a:pt x="338" y="1879"/>
                        <a:pt x="482" y="1934"/>
                        <a:pt x="627" y="1934"/>
                      </a:cubicBezTo>
                      <a:cubicBezTo>
                        <a:pt x="774" y="1934"/>
                        <a:pt x="922" y="1876"/>
                        <a:pt x="1033" y="1762"/>
                      </a:cubicBezTo>
                      <a:lnTo>
                        <a:pt x="1833" y="962"/>
                      </a:lnTo>
                      <a:cubicBezTo>
                        <a:pt x="2048" y="738"/>
                        <a:pt x="2045" y="385"/>
                        <a:pt x="1827" y="168"/>
                      </a:cubicBezTo>
                      <a:cubicBezTo>
                        <a:pt x="1717" y="56"/>
                        <a:pt x="1572" y="0"/>
                        <a:pt x="1427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D5E66A"/>
                    </a:gs>
                    <a:gs pos="100000">
                      <a:srgbClr val="B1C900"/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rgbClr val="263A58"/>
                    </a:solidFill>
                  </a:endParaRPr>
                </a:p>
              </p:txBody>
            </p:sp>
            <p:sp>
              <p:nvSpPr>
                <p:cNvPr id="2226" name="Google Shape;2226;p45"/>
                <p:cNvSpPr/>
                <p:nvPr/>
              </p:nvSpPr>
              <p:spPr>
                <a:xfrm>
                  <a:off x="5480400" y="2191325"/>
                  <a:ext cx="56650" cy="28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66" h="1133" extrusionOk="0">
                      <a:moveTo>
                        <a:pt x="568" y="0"/>
                      </a:moveTo>
                      <a:cubicBezTo>
                        <a:pt x="254" y="0"/>
                        <a:pt x="1" y="254"/>
                        <a:pt x="1" y="568"/>
                      </a:cubicBezTo>
                      <a:cubicBezTo>
                        <a:pt x="1" y="879"/>
                        <a:pt x="254" y="1133"/>
                        <a:pt x="568" y="1133"/>
                      </a:cubicBezTo>
                      <a:lnTo>
                        <a:pt x="1701" y="1133"/>
                      </a:lnTo>
                      <a:cubicBezTo>
                        <a:pt x="2012" y="1133"/>
                        <a:pt x="2265" y="879"/>
                        <a:pt x="2265" y="568"/>
                      </a:cubicBezTo>
                      <a:cubicBezTo>
                        <a:pt x="2265" y="254"/>
                        <a:pt x="2012" y="0"/>
                        <a:pt x="1701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D5E66A"/>
                    </a:gs>
                    <a:gs pos="100000">
                      <a:srgbClr val="B1C900"/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rgbClr val="263A58"/>
                    </a:solidFill>
                  </a:endParaRPr>
                </a:p>
              </p:txBody>
            </p:sp>
            <p:sp>
              <p:nvSpPr>
                <p:cNvPr id="2227" name="Google Shape;2227;p45"/>
                <p:cNvSpPr/>
                <p:nvPr/>
              </p:nvSpPr>
              <p:spPr>
                <a:xfrm>
                  <a:off x="5479800" y="2096550"/>
                  <a:ext cx="54300" cy="48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72" h="1929" extrusionOk="0">
                      <a:moveTo>
                        <a:pt x="1550" y="0"/>
                      </a:moveTo>
                      <a:cubicBezTo>
                        <a:pt x="1409" y="0"/>
                        <a:pt x="1267" y="53"/>
                        <a:pt x="1157" y="159"/>
                      </a:cubicBezTo>
                      <a:lnTo>
                        <a:pt x="357" y="962"/>
                      </a:lnTo>
                      <a:cubicBezTo>
                        <a:pt x="1" y="1318"/>
                        <a:pt x="251" y="1928"/>
                        <a:pt x="756" y="1928"/>
                      </a:cubicBezTo>
                      <a:cubicBezTo>
                        <a:pt x="907" y="1928"/>
                        <a:pt x="1051" y="1868"/>
                        <a:pt x="1157" y="1762"/>
                      </a:cubicBezTo>
                      <a:lnTo>
                        <a:pt x="1957" y="959"/>
                      </a:lnTo>
                      <a:cubicBezTo>
                        <a:pt x="2172" y="739"/>
                        <a:pt x="2169" y="385"/>
                        <a:pt x="1951" y="168"/>
                      </a:cubicBezTo>
                      <a:cubicBezTo>
                        <a:pt x="1841" y="56"/>
                        <a:pt x="1696" y="0"/>
                        <a:pt x="1550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D5E66A"/>
                    </a:gs>
                    <a:gs pos="100000">
                      <a:srgbClr val="B1C900"/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rgbClr val="263A58"/>
                    </a:solidFill>
                  </a:endParaRPr>
                </a:p>
              </p:txBody>
            </p:sp>
            <p:sp>
              <p:nvSpPr>
                <p:cNvPr id="2228" name="Google Shape;2228;p45"/>
                <p:cNvSpPr/>
                <p:nvPr/>
              </p:nvSpPr>
              <p:spPr>
                <a:xfrm>
                  <a:off x="5483350" y="2266400"/>
                  <a:ext cx="54300" cy="48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72" h="1929" extrusionOk="0">
                      <a:moveTo>
                        <a:pt x="622" y="0"/>
                      </a:moveTo>
                      <a:cubicBezTo>
                        <a:pt x="476" y="0"/>
                        <a:pt x="331" y="56"/>
                        <a:pt x="221" y="168"/>
                      </a:cubicBezTo>
                      <a:cubicBezTo>
                        <a:pt x="4" y="385"/>
                        <a:pt x="1" y="738"/>
                        <a:pt x="215" y="962"/>
                      </a:cubicBezTo>
                      <a:lnTo>
                        <a:pt x="1015" y="1762"/>
                      </a:lnTo>
                      <a:cubicBezTo>
                        <a:pt x="1121" y="1868"/>
                        <a:pt x="1266" y="1928"/>
                        <a:pt x="1417" y="1928"/>
                      </a:cubicBezTo>
                      <a:cubicBezTo>
                        <a:pt x="1921" y="1928"/>
                        <a:pt x="2172" y="1318"/>
                        <a:pt x="1815" y="962"/>
                      </a:cubicBezTo>
                      <a:lnTo>
                        <a:pt x="1015" y="159"/>
                      </a:lnTo>
                      <a:cubicBezTo>
                        <a:pt x="905" y="53"/>
                        <a:pt x="763" y="0"/>
                        <a:pt x="622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D5E66A"/>
                    </a:gs>
                    <a:gs pos="100000">
                      <a:srgbClr val="B1C900"/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rgbClr val="263A58"/>
                    </a:solidFill>
                  </a:endParaRPr>
                </a:p>
              </p:txBody>
            </p:sp>
          </p:grpSp>
          <p:sp>
            <p:nvSpPr>
              <p:cNvPr id="2229" name="Google Shape;2229;p45"/>
              <p:cNvSpPr/>
              <p:nvPr/>
            </p:nvSpPr>
            <p:spPr>
              <a:xfrm>
                <a:off x="5053375" y="3664899"/>
                <a:ext cx="2902200" cy="627300"/>
              </a:xfrm>
              <a:prstGeom prst="roundRect">
                <a:avLst>
                  <a:gd name="adj" fmla="val 48997"/>
                </a:avLst>
              </a:prstGeom>
              <a:gradFill>
                <a:gsLst>
                  <a:gs pos="0">
                    <a:srgbClr val="D5E66A"/>
                  </a:gs>
                  <a:gs pos="100000">
                    <a:srgbClr val="B1C900"/>
                  </a:gs>
                </a:gsLst>
                <a:lin ang="108014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0" name="Google Shape;2230;p45"/>
              <p:cNvSpPr/>
              <p:nvPr/>
            </p:nvSpPr>
            <p:spPr>
              <a:xfrm>
                <a:off x="6783900" y="3821575"/>
                <a:ext cx="919325" cy="324475"/>
              </a:xfrm>
              <a:custGeom>
                <a:avLst/>
                <a:gdLst/>
                <a:ahLst/>
                <a:cxnLst/>
                <a:rect l="l" t="t" r="r" b="b"/>
                <a:pathLst>
                  <a:path w="36773" h="12979" extrusionOk="0">
                    <a:moveTo>
                      <a:pt x="0" y="9854"/>
                    </a:moveTo>
                    <a:lnTo>
                      <a:pt x="14180" y="12979"/>
                    </a:lnTo>
                    <a:lnTo>
                      <a:pt x="26679" y="7210"/>
                    </a:lnTo>
                    <a:lnTo>
                      <a:pt x="36773" y="0"/>
                    </a:lnTo>
                  </a:path>
                </a:pathLst>
              </a:cu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es-CO"/>
              </a:p>
            </p:txBody>
          </p:sp>
        </p:grpSp>
        <p:grpSp>
          <p:nvGrpSpPr>
            <p:cNvPr id="2231" name="Google Shape;2231;p45"/>
            <p:cNvGrpSpPr/>
            <p:nvPr/>
          </p:nvGrpSpPr>
          <p:grpSpPr>
            <a:xfrm>
              <a:off x="5192100" y="3707550"/>
              <a:ext cx="1525802" cy="542000"/>
              <a:chOff x="5192100" y="3707550"/>
              <a:chExt cx="1525802" cy="542000"/>
            </a:xfrm>
          </p:grpSpPr>
          <p:sp>
            <p:nvSpPr>
              <p:cNvPr id="2232" name="Google Shape;2232;p45"/>
              <p:cNvSpPr txBox="1"/>
              <p:nvPr/>
            </p:nvSpPr>
            <p:spPr>
              <a:xfrm>
                <a:off x="5192102" y="3707550"/>
                <a:ext cx="1525800" cy="253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>
                    <a:solidFill>
                      <a:schemeClr val="lt1"/>
                    </a:solidFill>
                    <a:latin typeface="Fira Sans Extra Condensed Medium"/>
                    <a:ea typeface="Fira Sans Extra Condensed Medium"/>
                    <a:cs typeface="Fira Sans Extra Condensed Medium"/>
                    <a:sym typeface="Fira Sans Extra Condensed Medium"/>
                  </a:rPr>
                  <a:t>IA propia</a:t>
                </a:r>
                <a:endParaRPr sz="1600">
                  <a:solidFill>
                    <a:schemeClr val="lt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endParaRPr>
              </a:p>
            </p:txBody>
          </p:sp>
          <p:sp>
            <p:nvSpPr>
              <p:cNvPr id="2233" name="Google Shape;2233;p45"/>
              <p:cNvSpPr txBox="1"/>
              <p:nvPr/>
            </p:nvSpPr>
            <p:spPr>
              <a:xfrm>
                <a:off x="5192100" y="3934250"/>
                <a:ext cx="1525800" cy="315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900">
                    <a:solidFill>
                      <a:schemeClr val="lt1"/>
                    </a:solidFill>
                    <a:latin typeface="Roboto"/>
                    <a:ea typeface="Roboto"/>
                    <a:cs typeface="Roboto"/>
                    <a:sym typeface="Roboto"/>
                  </a:rPr>
                  <a:t>9 programas (23 %)</a:t>
                </a:r>
                <a:endParaRPr sz="10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</p:grpSp>
      <p:sp>
        <p:nvSpPr>
          <p:cNvPr id="2234" name="Titulo"/>
          <p:cNvSpPr txBox="1"/>
          <p:nvPr/>
        </p:nvSpPr>
        <p:spPr>
          <a:xfrm>
            <a:off x="457200" y="256032"/>
            <a:ext cx="70408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2100" b="1">
                <a:solidFill>
                  <a:srgbClr val="002060"/>
                </a:solidFill>
                <a:latin typeface="Area Normal Trial Black"/>
              </a:rPr>
              <a:t>La IA llega a 30 de 39 programas, casi siempre por el núcleo común</a:t>
            </a:r>
          </a:p>
        </p:txBody>
      </p:sp>
      <p:sp>
        <p:nvSpPr>
          <p:cNvPr id="2235" name="Nota"/>
          <p:cNvSpPr txBox="1"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4D6285"/>
                </a:solidFill>
                <a:latin typeface="Area Normal Trial Light"/>
              </a:rPr>
              <a:t>Menor amplitud: innovación educativa (13 programas), talento humano y operaciones (16 cada una).</a:t>
            </a:r>
          </a:p>
        </p:txBody>
      </p:sp>
      <p:pic>
        <p:nvPicPr>
          <p:cNvPr id="2237" name="Logo POLI" descr="logo_sell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8120" y="256032"/>
            <a:ext cx="914400" cy="203200"/>
          </a:xfrm>
          <a:prstGeom prst="rect">
            <a:avLst/>
          </a:prstGeom>
        </p:spPr>
      </p:pic>
      <p:sp>
        <p:nvSpPr>
          <p:cNvPr id="2238" name="Numero"/>
          <p:cNvSpPr txBox="1"/>
          <p:nvPr/>
        </p:nvSpPr>
        <p:spPr>
          <a:xfrm>
            <a:off x="8458200" y="4727448"/>
            <a:ext cx="3657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002060"/>
                </a:solidFill>
                <a:latin typeface="Area Normal Trial Light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81" name="Fondo POLI" descr="bg_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grpSp>
        <p:nvGrpSpPr>
          <p:cNvPr id="1931" name="Google Shape;1931;p42"/>
          <p:cNvGrpSpPr/>
          <p:nvPr/>
        </p:nvGrpSpPr>
        <p:grpSpPr>
          <a:xfrm>
            <a:off x="910675" y="2057325"/>
            <a:ext cx="1698000" cy="1698000"/>
            <a:chOff x="910675" y="2057325"/>
            <a:chExt cx="1698000" cy="1698000"/>
          </a:xfrm>
        </p:grpSpPr>
        <p:grpSp>
          <p:nvGrpSpPr>
            <p:cNvPr id="1932" name="Google Shape;1932;p42"/>
            <p:cNvGrpSpPr/>
            <p:nvPr/>
          </p:nvGrpSpPr>
          <p:grpSpPr>
            <a:xfrm>
              <a:off x="910675" y="2057325"/>
              <a:ext cx="1698000" cy="1698000"/>
              <a:chOff x="910675" y="2057325"/>
              <a:chExt cx="1698000" cy="1698000"/>
            </a:xfrm>
          </p:grpSpPr>
          <p:sp>
            <p:nvSpPr>
              <p:cNvPr id="1933" name="Google Shape;1933;p42"/>
              <p:cNvSpPr/>
              <p:nvPr/>
            </p:nvSpPr>
            <p:spPr>
              <a:xfrm>
                <a:off x="910675" y="2057325"/>
                <a:ext cx="1698000" cy="1698000"/>
              </a:xfrm>
              <a:prstGeom prst="ellipse">
                <a:avLst/>
              </a:prstGeom>
              <a:gradFill>
                <a:gsLst>
                  <a:gs pos="0">
                    <a:srgbClr val="22B2DE"/>
                  </a:gs>
                  <a:gs pos="100000">
                    <a:srgbClr val="0A3F80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4" name="Google Shape;1934;p42"/>
              <p:cNvSpPr txBox="1"/>
              <p:nvPr/>
            </p:nvSpPr>
            <p:spPr>
              <a:xfrm>
                <a:off x="1160275" y="2251475"/>
                <a:ext cx="1198800" cy="310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>
                    <a:solidFill>
                      <a:schemeClr val="lt1"/>
                    </a:solidFill>
                    <a:latin typeface="Fira Sans"/>
                    <a:ea typeface="Fira Sans"/>
                    <a:cs typeface="Fira Sans"/>
                    <a:sym typeface="Fira Sans"/>
                  </a:rPr>
                  <a:t>01</a:t>
                </a:r>
                <a:endParaRPr sz="1800">
                  <a:solidFill>
                    <a:schemeClr val="lt1"/>
                  </a:solidFill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</p:grpSp>
        <p:grpSp>
          <p:nvGrpSpPr>
            <p:cNvPr id="1935" name="Google Shape;1935;p42"/>
            <p:cNvGrpSpPr/>
            <p:nvPr/>
          </p:nvGrpSpPr>
          <p:grpSpPr>
            <a:xfrm>
              <a:off x="1049250" y="2560241"/>
              <a:ext cx="1420800" cy="955009"/>
              <a:chOff x="1049250" y="2560241"/>
              <a:chExt cx="1420800" cy="955009"/>
            </a:xfrm>
          </p:grpSpPr>
          <p:sp>
            <p:nvSpPr>
              <p:cNvPr id="1936" name="Google Shape;1936;p42"/>
              <p:cNvSpPr txBox="1"/>
              <p:nvPr/>
            </p:nvSpPr>
            <p:spPr>
              <a:xfrm>
                <a:off x="1160275" y="2560241"/>
                <a:ext cx="1198800" cy="310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600">
                    <a:solidFill>
                      <a:schemeClr val="lt1"/>
                    </a:solidFill>
                    <a:latin typeface="Fira Sans Extra Condensed Medium"/>
                    <a:ea typeface="Fira Sans Extra Condensed Medium"/>
                    <a:cs typeface="Fira Sans Extra Condensed Medium"/>
                    <a:sym typeface="Fira Sans Extra Condensed Medium"/>
                  </a:rPr>
                  <a:t>Elegir</a:t>
                </a:r>
                <a:endParaRPr sz="1800">
                  <a:solidFill>
                    <a:schemeClr val="lt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endParaRPr>
              </a:p>
            </p:txBody>
          </p:sp>
          <p:sp>
            <p:nvSpPr>
              <p:cNvPr id="1937" name="Google Shape;1937;p42"/>
              <p:cNvSpPr txBox="1"/>
              <p:nvPr/>
            </p:nvSpPr>
            <p:spPr>
              <a:xfrm>
                <a:off x="1049250" y="2876550"/>
                <a:ext cx="1420800" cy="63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900">
                    <a:solidFill>
                      <a:schemeClr val="lt1"/>
                    </a:solidFill>
                    <a:latin typeface="Roboto"/>
                    <a:ea typeface="Roboto"/>
                    <a:cs typeface="Roboto"/>
                    <a:sym typeface="Roboto"/>
                  </a:rPr>
                  <a:t>Programa–sede, frente al conjunto de las 50.</a:t>
                </a:r>
                <a:endParaRPr sz="12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</p:grpSp>
      <p:grpSp>
        <p:nvGrpSpPr>
          <p:cNvPr id="1938" name="Google Shape;1938;p42"/>
          <p:cNvGrpSpPr/>
          <p:nvPr/>
        </p:nvGrpSpPr>
        <p:grpSpPr>
          <a:xfrm>
            <a:off x="3722925" y="2057325"/>
            <a:ext cx="1698000" cy="1698000"/>
            <a:chOff x="3722925" y="2057325"/>
            <a:chExt cx="1698000" cy="1698000"/>
          </a:xfrm>
        </p:grpSpPr>
        <p:grpSp>
          <p:nvGrpSpPr>
            <p:cNvPr id="1939" name="Google Shape;1939;p42"/>
            <p:cNvGrpSpPr/>
            <p:nvPr/>
          </p:nvGrpSpPr>
          <p:grpSpPr>
            <a:xfrm>
              <a:off x="3722925" y="2057325"/>
              <a:ext cx="1698000" cy="1698000"/>
              <a:chOff x="3722925" y="2057325"/>
              <a:chExt cx="1698000" cy="1698000"/>
            </a:xfrm>
          </p:grpSpPr>
          <p:sp>
            <p:nvSpPr>
              <p:cNvPr id="1940" name="Google Shape;1940;p42"/>
              <p:cNvSpPr/>
              <p:nvPr/>
            </p:nvSpPr>
            <p:spPr>
              <a:xfrm>
                <a:off x="3722925" y="2057325"/>
                <a:ext cx="1698000" cy="1698000"/>
              </a:xfrm>
              <a:prstGeom prst="ellipse">
                <a:avLst/>
              </a:prstGeom>
              <a:gradFill>
                <a:gsLst>
                  <a:gs pos="0">
                    <a:srgbClr val="7FD8F5"/>
                  </a:gs>
                  <a:gs pos="100000">
                    <a:srgbClr val="15BECE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1" name="Google Shape;1941;p42"/>
              <p:cNvSpPr txBox="1"/>
              <p:nvPr/>
            </p:nvSpPr>
            <p:spPr>
              <a:xfrm>
                <a:off x="3972550" y="2251475"/>
                <a:ext cx="1198800" cy="310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>
                    <a:solidFill>
                      <a:schemeClr val="lt1"/>
                    </a:solidFill>
                    <a:latin typeface="Fira Sans"/>
                    <a:ea typeface="Fira Sans"/>
                    <a:cs typeface="Fira Sans"/>
                    <a:sym typeface="Fira Sans"/>
                  </a:rPr>
                  <a:t>02</a:t>
                </a:r>
                <a:endParaRPr sz="1800">
                  <a:solidFill>
                    <a:schemeClr val="lt1"/>
                  </a:solidFill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</p:grpSp>
        <p:grpSp>
          <p:nvGrpSpPr>
            <p:cNvPr id="1942" name="Google Shape;1942;p42"/>
            <p:cNvGrpSpPr/>
            <p:nvPr/>
          </p:nvGrpSpPr>
          <p:grpSpPr>
            <a:xfrm>
              <a:off x="3861525" y="2560241"/>
              <a:ext cx="1420800" cy="955009"/>
              <a:chOff x="3861525" y="2560241"/>
              <a:chExt cx="1420800" cy="955009"/>
            </a:xfrm>
          </p:grpSpPr>
          <p:sp>
            <p:nvSpPr>
              <p:cNvPr id="1943" name="Google Shape;1943;p42"/>
              <p:cNvSpPr txBox="1"/>
              <p:nvPr/>
            </p:nvSpPr>
            <p:spPr>
              <a:xfrm>
                <a:off x="3972550" y="2560241"/>
                <a:ext cx="1198800" cy="310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600">
                    <a:solidFill>
                      <a:schemeClr val="lt1"/>
                    </a:solidFill>
                    <a:latin typeface="Fira Sans Extra Condensed Medium"/>
                    <a:ea typeface="Fira Sans Extra Condensed Medium"/>
                    <a:cs typeface="Fira Sans Extra Condensed Medium"/>
                    <a:sym typeface="Fira Sans Extra Condensed Medium"/>
                  </a:rPr>
                  <a:t>Leer</a:t>
                </a:r>
                <a:endParaRPr sz="1800">
                  <a:solidFill>
                    <a:schemeClr val="lt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endParaRPr>
              </a:p>
            </p:txBody>
          </p:sp>
          <p:sp>
            <p:nvSpPr>
              <p:cNvPr id="1944" name="Google Shape;1944;p42"/>
              <p:cNvSpPr txBox="1"/>
              <p:nvPr/>
            </p:nvSpPr>
            <p:spPr>
              <a:xfrm>
                <a:off x="3861525" y="2876550"/>
                <a:ext cx="1420800" cy="63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900">
                    <a:solidFill>
                      <a:schemeClr val="lt1"/>
                    </a:solidFill>
                    <a:latin typeface="Roboto"/>
                    <a:ea typeface="Roboto"/>
                    <a:cs typeface="Roboto"/>
                    <a:sym typeface="Roboto"/>
                  </a:rPr>
                  <a:t>V1–V5 con «x de n» y la mediana.</a:t>
                </a:r>
                <a:endParaRPr sz="12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</p:grpSp>
      <p:grpSp>
        <p:nvGrpSpPr>
          <p:cNvPr id="1945" name="Google Shape;1945;p42"/>
          <p:cNvGrpSpPr/>
          <p:nvPr/>
        </p:nvGrpSpPr>
        <p:grpSpPr>
          <a:xfrm>
            <a:off x="6535175" y="2057325"/>
            <a:ext cx="1698000" cy="1698000"/>
            <a:chOff x="6535175" y="2057325"/>
            <a:chExt cx="1698000" cy="1698000"/>
          </a:xfrm>
        </p:grpSpPr>
        <p:grpSp>
          <p:nvGrpSpPr>
            <p:cNvPr id="1946" name="Google Shape;1946;p42"/>
            <p:cNvGrpSpPr/>
            <p:nvPr/>
          </p:nvGrpSpPr>
          <p:grpSpPr>
            <a:xfrm>
              <a:off x="6535175" y="2057325"/>
              <a:ext cx="1698000" cy="1698000"/>
              <a:chOff x="6535175" y="2057325"/>
              <a:chExt cx="1698000" cy="1698000"/>
            </a:xfrm>
          </p:grpSpPr>
          <p:sp>
            <p:nvSpPr>
              <p:cNvPr id="1947" name="Google Shape;1947;p42"/>
              <p:cNvSpPr/>
              <p:nvPr/>
            </p:nvSpPr>
            <p:spPr>
              <a:xfrm>
                <a:off x="6535175" y="2057325"/>
                <a:ext cx="1698000" cy="1698000"/>
              </a:xfrm>
              <a:prstGeom prst="ellipse">
                <a:avLst/>
              </a:prstGeom>
              <a:gradFill>
                <a:gsLst>
                  <a:gs pos="0">
                    <a:srgbClr val="D5E66A"/>
                  </a:gs>
                  <a:gs pos="100000">
                    <a:srgbClr val="B1C900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8" name="Google Shape;1948;p42"/>
              <p:cNvSpPr txBox="1"/>
              <p:nvPr/>
            </p:nvSpPr>
            <p:spPr>
              <a:xfrm>
                <a:off x="6784825" y="2251475"/>
                <a:ext cx="1198800" cy="310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>
                    <a:solidFill>
                      <a:schemeClr val="lt1"/>
                    </a:solidFill>
                    <a:latin typeface="Fira Sans"/>
                    <a:ea typeface="Fira Sans"/>
                    <a:cs typeface="Fira Sans"/>
                    <a:sym typeface="Fira Sans"/>
                  </a:rPr>
                  <a:t>03</a:t>
                </a:r>
                <a:endParaRPr sz="1800">
                  <a:solidFill>
                    <a:schemeClr val="lt1"/>
                  </a:solidFill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</p:grpSp>
        <p:grpSp>
          <p:nvGrpSpPr>
            <p:cNvPr id="1949" name="Google Shape;1949;p42"/>
            <p:cNvGrpSpPr/>
            <p:nvPr/>
          </p:nvGrpSpPr>
          <p:grpSpPr>
            <a:xfrm>
              <a:off x="6673800" y="2560241"/>
              <a:ext cx="1420800" cy="955009"/>
              <a:chOff x="6673800" y="2560241"/>
              <a:chExt cx="1420800" cy="955009"/>
            </a:xfrm>
          </p:grpSpPr>
          <p:sp>
            <p:nvSpPr>
              <p:cNvPr id="1950" name="Google Shape;1950;p42"/>
              <p:cNvSpPr txBox="1"/>
              <p:nvPr/>
            </p:nvSpPr>
            <p:spPr>
              <a:xfrm>
                <a:off x="6784825" y="2560241"/>
                <a:ext cx="1198800" cy="310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600">
                    <a:solidFill>
                      <a:schemeClr val="lt1"/>
                    </a:solidFill>
                    <a:latin typeface="Fira Sans Extra Condensed Medium"/>
                    <a:ea typeface="Fira Sans Extra Condensed Medium"/>
                    <a:cs typeface="Fira Sans Extra Condensed Medium"/>
                    <a:sym typeface="Fira Sans Extra Condensed Medium"/>
                  </a:rPr>
                  <a:t>Actuar</a:t>
                </a:r>
                <a:endParaRPr sz="1800">
                  <a:solidFill>
                    <a:schemeClr val="lt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endParaRPr>
              </a:p>
            </p:txBody>
          </p:sp>
          <p:sp>
            <p:nvSpPr>
              <p:cNvPr id="1951" name="Google Shape;1951;p42"/>
              <p:cNvSpPr txBox="1"/>
              <p:nvPr/>
            </p:nvSpPr>
            <p:spPr>
              <a:xfrm>
                <a:off x="6673800" y="2876550"/>
                <a:ext cx="1420800" cy="63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900">
                    <a:solidFill>
                      <a:schemeClr val="lt1"/>
                    </a:solidFill>
                    <a:latin typeface="Roboto"/>
                    <a:ea typeface="Roboto"/>
                    <a:cs typeface="Roboto"/>
                    <a:sym typeface="Roboto"/>
                  </a:rPr>
                  <a:t>Plan por causa, PDF y Excel.</a:t>
                </a:r>
                <a:endParaRPr sz="12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</p:grpSp>
      <p:sp>
        <p:nvSpPr>
          <p:cNvPr id="1952" name="Google Shape;1952;p42"/>
          <p:cNvSpPr/>
          <p:nvPr/>
        </p:nvSpPr>
        <p:spPr>
          <a:xfrm>
            <a:off x="2812100" y="1081575"/>
            <a:ext cx="3515400" cy="390300"/>
          </a:xfrm>
          <a:prstGeom prst="roundRect">
            <a:avLst>
              <a:gd name="adj" fmla="val 49263"/>
            </a:avLst>
          </a:prstGeom>
          <a:gradFill>
            <a:gsLst>
              <a:gs pos="0">
                <a:srgbClr val="00B0F0"/>
              </a:gs>
              <a:gs pos="100000">
                <a:srgbClr val="002060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Diseño propuesto para el dashboard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53" name="Google Shape;1953;p42"/>
          <p:cNvSpPr/>
          <p:nvPr/>
        </p:nvSpPr>
        <p:spPr>
          <a:xfrm>
            <a:off x="2812100" y="4340775"/>
            <a:ext cx="3515400" cy="390300"/>
          </a:xfrm>
          <a:prstGeom prst="roundRect">
            <a:avLst>
              <a:gd name="adj" fmla="val 49263"/>
            </a:avLst>
          </a:prstGeom>
          <a:gradFill>
            <a:gsLst>
              <a:gs pos="0">
                <a:srgbClr val="D5E66A"/>
              </a:gs>
              <a:gs pos="100000">
                <a:srgbClr val="B1C900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Lo inferencial solo en el conjunto · las matrices gemelas no se comparan</a:t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954" name="Google Shape;1954;p42"/>
          <p:cNvGrpSpPr/>
          <p:nvPr/>
        </p:nvGrpSpPr>
        <p:grpSpPr>
          <a:xfrm>
            <a:off x="1759675" y="1470750"/>
            <a:ext cx="5624430" cy="2871150"/>
            <a:chOff x="1759675" y="1470750"/>
            <a:chExt cx="5624430" cy="2871150"/>
          </a:xfrm>
        </p:grpSpPr>
        <p:grpSp>
          <p:nvGrpSpPr>
            <p:cNvPr id="1955" name="Google Shape;1955;p42"/>
            <p:cNvGrpSpPr/>
            <p:nvPr/>
          </p:nvGrpSpPr>
          <p:grpSpPr>
            <a:xfrm>
              <a:off x="1759675" y="1470750"/>
              <a:ext cx="5624430" cy="2871150"/>
              <a:chOff x="1759675" y="1470750"/>
              <a:chExt cx="5624430" cy="2871150"/>
            </a:xfrm>
          </p:grpSpPr>
          <p:grpSp>
            <p:nvGrpSpPr>
              <p:cNvPr id="1956" name="Google Shape;1956;p42"/>
              <p:cNvGrpSpPr/>
              <p:nvPr/>
            </p:nvGrpSpPr>
            <p:grpSpPr>
              <a:xfrm>
                <a:off x="1759675" y="1470750"/>
                <a:ext cx="5624430" cy="586800"/>
                <a:chOff x="1759675" y="1136100"/>
                <a:chExt cx="5624430" cy="586800"/>
              </a:xfrm>
            </p:grpSpPr>
            <p:sp>
              <p:nvSpPr>
                <p:cNvPr id="1957" name="Google Shape;1957;p42"/>
                <p:cNvSpPr/>
                <p:nvPr/>
              </p:nvSpPr>
              <p:spPr>
                <a:xfrm>
                  <a:off x="1759675" y="1527150"/>
                  <a:ext cx="5624430" cy="1955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208" h="15248" extrusionOk="0">
                      <a:moveTo>
                        <a:pt x="0" y="15172"/>
                      </a:moveTo>
                      <a:lnTo>
                        <a:pt x="0" y="0"/>
                      </a:lnTo>
                      <a:lnTo>
                        <a:pt x="75117" y="0"/>
                      </a:lnTo>
                      <a:lnTo>
                        <a:pt x="75208" y="15248"/>
                      </a:lnTo>
                    </a:path>
                  </a:pathLst>
                </a:custGeom>
                <a:noFill/>
                <a:ln w="19050" cap="flat" cmpd="sng">
                  <a:solidFill>
                    <a:schemeClr val="dk2"/>
                  </a:solidFill>
                  <a:prstDash val="solid"/>
                  <a:round/>
                  <a:headEnd type="stealth" w="med" len="med"/>
                  <a:tailEnd type="stealth" w="med" len="med"/>
                </a:ln>
              </p:spPr>
              <p:txBody>
                <a:bodyPr/>
                <a:lstStyle/>
                <a:p>
                  <a:endParaRPr lang="es-CO"/>
                </a:p>
              </p:txBody>
            </p:sp>
            <p:cxnSp>
              <p:nvCxnSpPr>
                <p:cNvPr id="1958" name="Google Shape;1958;p42"/>
                <p:cNvCxnSpPr>
                  <a:stCxn id="1959" idx="2"/>
                </p:cNvCxnSpPr>
                <p:nvPr/>
              </p:nvCxnSpPr>
              <p:spPr>
                <a:xfrm>
                  <a:off x="4571888" y="1136100"/>
                  <a:ext cx="0" cy="58680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stealth" w="med" len="med"/>
                </a:ln>
              </p:spPr>
            </p:cxnSp>
          </p:grpSp>
          <p:grpSp>
            <p:nvGrpSpPr>
              <p:cNvPr id="1960" name="Google Shape;1960;p42"/>
              <p:cNvGrpSpPr/>
              <p:nvPr/>
            </p:nvGrpSpPr>
            <p:grpSpPr>
              <a:xfrm rot="10800000" flipH="1">
                <a:off x="1759675" y="3755325"/>
                <a:ext cx="5624430" cy="586575"/>
                <a:chOff x="1759675" y="1136092"/>
                <a:chExt cx="5624430" cy="586575"/>
              </a:xfrm>
            </p:grpSpPr>
            <p:sp>
              <p:nvSpPr>
                <p:cNvPr id="1961" name="Google Shape;1961;p42"/>
                <p:cNvSpPr/>
                <p:nvPr/>
              </p:nvSpPr>
              <p:spPr>
                <a:xfrm>
                  <a:off x="1759675" y="1527150"/>
                  <a:ext cx="5624430" cy="1955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208" h="15248" extrusionOk="0">
                      <a:moveTo>
                        <a:pt x="0" y="15172"/>
                      </a:moveTo>
                      <a:lnTo>
                        <a:pt x="0" y="0"/>
                      </a:lnTo>
                      <a:lnTo>
                        <a:pt x="75117" y="0"/>
                      </a:lnTo>
                      <a:lnTo>
                        <a:pt x="75208" y="15248"/>
                      </a:lnTo>
                    </a:path>
                  </a:pathLst>
                </a:custGeom>
                <a:noFill/>
                <a:ln w="19050" cap="flat" cmpd="sng">
                  <a:solidFill>
                    <a:schemeClr val="dk2"/>
                  </a:solidFill>
                  <a:prstDash val="solid"/>
                  <a:round/>
                  <a:headEnd type="stealth" w="med" len="med"/>
                  <a:tailEnd type="stealth" w="med" len="med"/>
                </a:ln>
              </p:spPr>
              <p:txBody>
                <a:bodyPr/>
                <a:lstStyle/>
                <a:p>
                  <a:endParaRPr lang="es-CO"/>
                </a:p>
              </p:txBody>
            </p:sp>
            <p:cxnSp>
              <p:nvCxnSpPr>
                <p:cNvPr id="1962" name="Google Shape;1962;p42"/>
                <p:cNvCxnSpPr/>
                <p:nvPr/>
              </p:nvCxnSpPr>
              <p:spPr>
                <a:xfrm rot="10800000">
                  <a:off x="4571888" y="1136092"/>
                  <a:ext cx="0" cy="58650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stealth" w="med" len="med"/>
                </a:ln>
              </p:spPr>
            </p:cxnSp>
          </p:grpSp>
          <p:sp>
            <p:nvSpPr>
              <p:cNvPr id="1963" name="Google Shape;1963;p42"/>
              <p:cNvSpPr/>
              <p:nvPr/>
            </p:nvSpPr>
            <p:spPr>
              <a:xfrm>
                <a:off x="2890275" y="1586121"/>
                <a:ext cx="551100" cy="551100"/>
              </a:xfrm>
              <a:prstGeom prst="ellipse">
                <a:avLst/>
              </a:prstGeom>
              <a:solidFill>
                <a:srgbClr val="FFFFFF"/>
              </a:solidFill>
              <a:ln w="19050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4" name="Google Shape;1964;p42"/>
              <p:cNvSpPr/>
              <p:nvPr/>
            </p:nvSpPr>
            <p:spPr>
              <a:xfrm>
                <a:off x="5702500" y="1586121"/>
                <a:ext cx="551100" cy="551100"/>
              </a:xfrm>
              <a:prstGeom prst="ellipse">
                <a:avLst/>
              </a:prstGeom>
              <a:solidFill>
                <a:schemeClr val="lt1"/>
              </a:solidFill>
              <a:ln w="19050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5" name="Google Shape;1965;p42"/>
              <p:cNvSpPr/>
              <p:nvPr/>
            </p:nvSpPr>
            <p:spPr>
              <a:xfrm>
                <a:off x="2628525" y="3755325"/>
                <a:ext cx="1074600" cy="390300"/>
              </a:xfrm>
              <a:prstGeom prst="roundRect">
                <a:avLst>
                  <a:gd name="adj" fmla="val 49263"/>
                </a:avLst>
              </a:prstGeom>
              <a:solidFill>
                <a:schemeClr val="lt1"/>
              </a:solidFill>
              <a:ln w="19050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400">
                    <a:solidFill>
                      <a:schemeClr val="accent2"/>
                    </a:solidFill>
                    <a:latin typeface="Fira Sans Extra Condensed Medium"/>
                    <a:ea typeface="Fira Sans Extra Condensed Medium"/>
                    <a:cs typeface="Fira Sans Extra Condensed Medium"/>
                    <a:sym typeface="Fira Sans Extra Condensed Medium"/>
                  </a:rPr>
                  <a:t>x de n</a:t>
                </a:r>
                <a:endParaRPr sz="1900">
                  <a:solidFill>
                    <a:schemeClr val="accent2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endParaRPr>
              </a:p>
            </p:txBody>
          </p:sp>
          <p:sp>
            <p:nvSpPr>
              <p:cNvPr id="1966" name="Google Shape;1966;p42"/>
              <p:cNvSpPr/>
              <p:nvPr/>
            </p:nvSpPr>
            <p:spPr>
              <a:xfrm>
                <a:off x="5440750" y="3755325"/>
                <a:ext cx="1074600" cy="390300"/>
              </a:xfrm>
              <a:prstGeom prst="roundRect">
                <a:avLst>
                  <a:gd name="adj" fmla="val 49263"/>
                </a:avLst>
              </a:prstGeom>
              <a:solidFill>
                <a:schemeClr val="lt1"/>
              </a:solidFill>
              <a:ln w="19050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300">
                    <a:solidFill>
                      <a:schemeClr val="accent2"/>
                    </a:solidFill>
                    <a:latin typeface="Fira Sans Extra Condensed Medium"/>
                    <a:ea typeface="Fira Sans Extra Condensed Medium"/>
                    <a:cs typeface="Fira Sans Extra Condensed Medium"/>
                    <a:sym typeface="Fira Sans Extra Condensed Medium"/>
                  </a:rPr>
                  <a:t>sin índice</a:t>
                </a:r>
                <a:endParaRPr sz="1900">
                  <a:solidFill>
                    <a:schemeClr val="accent2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endParaRPr>
              </a:p>
            </p:txBody>
          </p:sp>
        </p:grpSp>
        <p:grpSp>
          <p:nvGrpSpPr>
            <p:cNvPr id="1967" name="Google Shape;1967;p42"/>
            <p:cNvGrpSpPr/>
            <p:nvPr/>
          </p:nvGrpSpPr>
          <p:grpSpPr>
            <a:xfrm>
              <a:off x="2995512" y="1691590"/>
              <a:ext cx="340608" cy="340168"/>
              <a:chOff x="5053900" y="2021500"/>
              <a:chExt cx="483750" cy="483125"/>
            </a:xfrm>
          </p:grpSpPr>
          <p:sp>
            <p:nvSpPr>
              <p:cNvPr id="1968" name="Google Shape;1968;p42"/>
              <p:cNvSpPr/>
              <p:nvPr/>
            </p:nvSpPr>
            <p:spPr>
              <a:xfrm>
                <a:off x="5281350" y="2078100"/>
                <a:ext cx="127375" cy="127350"/>
              </a:xfrm>
              <a:custGeom>
                <a:avLst/>
                <a:gdLst/>
                <a:ahLst/>
                <a:cxnLst/>
                <a:rect l="l" t="t" r="r" b="b"/>
                <a:pathLst>
                  <a:path w="5095" h="5094" extrusionOk="0">
                    <a:moveTo>
                      <a:pt x="565" y="0"/>
                    </a:moveTo>
                    <a:cubicBezTo>
                      <a:pt x="251" y="0"/>
                      <a:pt x="1" y="254"/>
                      <a:pt x="1" y="568"/>
                    </a:cubicBezTo>
                    <a:cubicBezTo>
                      <a:pt x="1" y="879"/>
                      <a:pt x="251" y="1132"/>
                      <a:pt x="565" y="1132"/>
                    </a:cubicBezTo>
                    <a:cubicBezTo>
                      <a:pt x="2440" y="1135"/>
                      <a:pt x="3959" y="2654"/>
                      <a:pt x="3962" y="4529"/>
                    </a:cubicBezTo>
                    <a:cubicBezTo>
                      <a:pt x="3962" y="4843"/>
                      <a:pt x="4216" y="5094"/>
                      <a:pt x="4530" y="5094"/>
                    </a:cubicBezTo>
                    <a:cubicBezTo>
                      <a:pt x="4841" y="5094"/>
                      <a:pt x="5094" y="4843"/>
                      <a:pt x="5094" y="4529"/>
                    </a:cubicBezTo>
                    <a:cubicBezTo>
                      <a:pt x="5091" y="2029"/>
                      <a:pt x="3065" y="3"/>
                      <a:pt x="56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263A58"/>
                  </a:solidFill>
                </a:endParaRPr>
              </a:p>
            </p:txBody>
          </p:sp>
          <p:sp>
            <p:nvSpPr>
              <p:cNvPr id="1969" name="Google Shape;1969;p42"/>
              <p:cNvSpPr/>
              <p:nvPr/>
            </p:nvSpPr>
            <p:spPr>
              <a:xfrm>
                <a:off x="5118000" y="2021500"/>
                <a:ext cx="368700" cy="483125"/>
              </a:xfrm>
              <a:custGeom>
                <a:avLst/>
                <a:gdLst/>
                <a:ahLst/>
                <a:cxnLst/>
                <a:rect l="l" t="t" r="r" b="b"/>
                <a:pathLst>
                  <a:path w="14748" h="19325" extrusionOk="0">
                    <a:moveTo>
                      <a:pt x="7088" y="1135"/>
                    </a:moveTo>
                    <a:cubicBezTo>
                      <a:pt x="8391" y="1135"/>
                      <a:pt x="9651" y="1571"/>
                      <a:pt x="10668" y="2397"/>
                    </a:cubicBezTo>
                    <a:cubicBezTo>
                      <a:pt x="13159" y="4417"/>
                      <a:pt x="13473" y="8104"/>
                      <a:pt x="11360" y="10516"/>
                    </a:cubicBezTo>
                    <a:cubicBezTo>
                      <a:pt x="10572" y="11419"/>
                      <a:pt x="10085" y="12503"/>
                      <a:pt x="9962" y="13626"/>
                    </a:cubicBezTo>
                    <a:lnTo>
                      <a:pt x="4237" y="13626"/>
                    </a:lnTo>
                    <a:cubicBezTo>
                      <a:pt x="4107" y="12482"/>
                      <a:pt x="3630" y="11407"/>
                      <a:pt x="2866" y="10550"/>
                    </a:cubicBezTo>
                    <a:cubicBezTo>
                      <a:pt x="1658" y="9191"/>
                      <a:pt x="1184" y="7367"/>
                      <a:pt x="1571" y="5549"/>
                    </a:cubicBezTo>
                    <a:cubicBezTo>
                      <a:pt x="2020" y="3427"/>
                      <a:pt x="3748" y="1706"/>
                      <a:pt x="5873" y="1262"/>
                    </a:cubicBezTo>
                    <a:cubicBezTo>
                      <a:pt x="6278" y="1177"/>
                      <a:pt x="6685" y="1135"/>
                      <a:pt x="7088" y="1135"/>
                    </a:cubicBezTo>
                    <a:close/>
                    <a:moveTo>
                      <a:pt x="9931" y="14759"/>
                    </a:moveTo>
                    <a:lnTo>
                      <a:pt x="9931" y="15323"/>
                    </a:lnTo>
                    <a:cubicBezTo>
                      <a:pt x="9931" y="15637"/>
                      <a:pt x="9678" y="15891"/>
                      <a:pt x="9364" y="15891"/>
                    </a:cubicBezTo>
                    <a:lnTo>
                      <a:pt x="4835" y="15891"/>
                    </a:lnTo>
                    <a:cubicBezTo>
                      <a:pt x="4521" y="15891"/>
                      <a:pt x="4270" y="15637"/>
                      <a:pt x="4270" y="15323"/>
                    </a:cubicBezTo>
                    <a:lnTo>
                      <a:pt x="4270" y="14759"/>
                    </a:lnTo>
                    <a:close/>
                    <a:moveTo>
                      <a:pt x="8699" y="17023"/>
                    </a:moveTo>
                    <a:cubicBezTo>
                      <a:pt x="8464" y="17694"/>
                      <a:pt x="7827" y="18192"/>
                      <a:pt x="7099" y="18192"/>
                    </a:cubicBezTo>
                    <a:cubicBezTo>
                      <a:pt x="6371" y="18192"/>
                      <a:pt x="5734" y="17694"/>
                      <a:pt x="5499" y="17023"/>
                    </a:cubicBezTo>
                    <a:close/>
                    <a:moveTo>
                      <a:pt x="7087" y="0"/>
                    </a:moveTo>
                    <a:cubicBezTo>
                      <a:pt x="6607" y="0"/>
                      <a:pt x="6123" y="50"/>
                      <a:pt x="5641" y="151"/>
                    </a:cubicBezTo>
                    <a:cubicBezTo>
                      <a:pt x="3053" y="712"/>
                      <a:pt x="1027" y="2729"/>
                      <a:pt x="462" y="5314"/>
                    </a:cubicBezTo>
                    <a:cubicBezTo>
                      <a:pt x="0" y="7488"/>
                      <a:pt x="568" y="9671"/>
                      <a:pt x="2020" y="11301"/>
                    </a:cubicBezTo>
                    <a:cubicBezTo>
                      <a:pt x="2730" y="12099"/>
                      <a:pt x="3135" y="13149"/>
                      <a:pt x="3135" y="14191"/>
                    </a:cubicBezTo>
                    <a:lnTo>
                      <a:pt x="3135" y="15323"/>
                    </a:lnTo>
                    <a:cubicBezTo>
                      <a:pt x="3138" y="16060"/>
                      <a:pt x="3612" y="16709"/>
                      <a:pt x="4309" y="16939"/>
                    </a:cubicBezTo>
                    <a:cubicBezTo>
                      <a:pt x="4409" y="17518"/>
                      <a:pt x="4681" y="18053"/>
                      <a:pt x="5094" y="18473"/>
                    </a:cubicBezTo>
                    <a:cubicBezTo>
                      <a:pt x="5642" y="19040"/>
                      <a:pt x="6371" y="19324"/>
                      <a:pt x="7099" y="19324"/>
                    </a:cubicBezTo>
                    <a:cubicBezTo>
                      <a:pt x="7828" y="19324"/>
                      <a:pt x="8556" y="19040"/>
                      <a:pt x="9104" y="18473"/>
                    </a:cubicBezTo>
                    <a:cubicBezTo>
                      <a:pt x="9518" y="18053"/>
                      <a:pt x="9790" y="17518"/>
                      <a:pt x="9889" y="16939"/>
                    </a:cubicBezTo>
                    <a:cubicBezTo>
                      <a:pt x="10587" y="16709"/>
                      <a:pt x="11061" y="16060"/>
                      <a:pt x="11064" y="15323"/>
                    </a:cubicBezTo>
                    <a:lnTo>
                      <a:pt x="11064" y="14191"/>
                    </a:lnTo>
                    <a:cubicBezTo>
                      <a:pt x="11064" y="13149"/>
                      <a:pt x="11471" y="12108"/>
                      <a:pt x="12211" y="11262"/>
                    </a:cubicBezTo>
                    <a:cubicBezTo>
                      <a:pt x="14747" y="8366"/>
                      <a:pt x="14370" y="3943"/>
                      <a:pt x="11381" y="1518"/>
                    </a:cubicBezTo>
                    <a:cubicBezTo>
                      <a:pt x="10159" y="525"/>
                      <a:pt x="8647" y="0"/>
                      <a:pt x="708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263A58"/>
                  </a:solidFill>
                </a:endParaRPr>
              </a:p>
            </p:txBody>
          </p:sp>
          <p:sp>
            <p:nvSpPr>
              <p:cNvPr id="1970" name="Google Shape;1970;p42"/>
              <p:cNvSpPr/>
              <p:nvPr/>
            </p:nvSpPr>
            <p:spPr>
              <a:xfrm>
                <a:off x="5053900" y="2191325"/>
                <a:ext cx="56650" cy="28325"/>
              </a:xfrm>
              <a:custGeom>
                <a:avLst/>
                <a:gdLst/>
                <a:ahLst/>
                <a:cxnLst/>
                <a:rect l="l" t="t" r="r" b="b"/>
                <a:pathLst>
                  <a:path w="2266" h="1133" extrusionOk="0">
                    <a:moveTo>
                      <a:pt x="569" y="0"/>
                    </a:moveTo>
                    <a:cubicBezTo>
                      <a:pt x="255" y="0"/>
                      <a:pt x="1" y="254"/>
                      <a:pt x="1" y="568"/>
                    </a:cubicBezTo>
                    <a:cubicBezTo>
                      <a:pt x="1" y="879"/>
                      <a:pt x="255" y="1133"/>
                      <a:pt x="569" y="1133"/>
                    </a:cubicBezTo>
                    <a:lnTo>
                      <a:pt x="1701" y="1133"/>
                    </a:lnTo>
                    <a:cubicBezTo>
                      <a:pt x="2012" y="1133"/>
                      <a:pt x="2266" y="879"/>
                      <a:pt x="2266" y="568"/>
                    </a:cubicBezTo>
                    <a:cubicBezTo>
                      <a:pt x="2266" y="254"/>
                      <a:pt x="2012" y="0"/>
                      <a:pt x="170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263A58"/>
                  </a:solidFill>
                </a:endParaRPr>
              </a:p>
            </p:txBody>
          </p:sp>
          <p:sp>
            <p:nvSpPr>
              <p:cNvPr id="1971" name="Google Shape;1971;p42"/>
              <p:cNvSpPr/>
              <p:nvPr/>
            </p:nvSpPr>
            <p:spPr>
              <a:xfrm>
                <a:off x="5056850" y="2096550"/>
                <a:ext cx="50750" cy="48025"/>
              </a:xfrm>
              <a:custGeom>
                <a:avLst/>
                <a:gdLst/>
                <a:ahLst/>
                <a:cxnLst/>
                <a:rect l="l" t="t" r="r" b="b"/>
                <a:pathLst>
                  <a:path w="2030" h="1921" extrusionOk="0">
                    <a:moveTo>
                      <a:pt x="622" y="0"/>
                    </a:moveTo>
                    <a:cubicBezTo>
                      <a:pt x="476" y="0"/>
                      <a:pt x="331" y="56"/>
                      <a:pt x="221" y="168"/>
                    </a:cubicBezTo>
                    <a:cubicBezTo>
                      <a:pt x="4" y="385"/>
                      <a:pt x="1" y="739"/>
                      <a:pt x="215" y="962"/>
                    </a:cubicBezTo>
                    <a:lnTo>
                      <a:pt x="1015" y="1762"/>
                    </a:lnTo>
                    <a:cubicBezTo>
                      <a:pt x="1125" y="1868"/>
                      <a:pt x="1267" y="1921"/>
                      <a:pt x="1409" y="1921"/>
                    </a:cubicBezTo>
                    <a:cubicBezTo>
                      <a:pt x="1554" y="1921"/>
                      <a:pt x="1699" y="1865"/>
                      <a:pt x="1809" y="1753"/>
                    </a:cubicBezTo>
                    <a:cubicBezTo>
                      <a:pt x="2027" y="1536"/>
                      <a:pt x="2030" y="1183"/>
                      <a:pt x="1815" y="962"/>
                    </a:cubicBezTo>
                    <a:lnTo>
                      <a:pt x="1015" y="159"/>
                    </a:lnTo>
                    <a:cubicBezTo>
                      <a:pt x="905" y="53"/>
                      <a:pt x="763" y="0"/>
                      <a:pt x="62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263A58"/>
                  </a:solidFill>
                </a:endParaRPr>
              </a:p>
            </p:txBody>
          </p:sp>
          <p:sp>
            <p:nvSpPr>
              <p:cNvPr id="1972" name="Google Shape;1972;p42"/>
              <p:cNvSpPr/>
              <p:nvPr/>
            </p:nvSpPr>
            <p:spPr>
              <a:xfrm>
                <a:off x="5056400" y="2266400"/>
                <a:ext cx="51200" cy="48350"/>
              </a:xfrm>
              <a:custGeom>
                <a:avLst/>
                <a:gdLst/>
                <a:ahLst/>
                <a:cxnLst/>
                <a:rect l="l" t="t" r="r" b="b"/>
                <a:pathLst>
                  <a:path w="2048" h="1934" extrusionOk="0">
                    <a:moveTo>
                      <a:pt x="1427" y="0"/>
                    </a:moveTo>
                    <a:cubicBezTo>
                      <a:pt x="1285" y="0"/>
                      <a:pt x="1143" y="53"/>
                      <a:pt x="1033" y="159"/>
                    </a:cubicBezTo>
                    <a:lnTo>
                      <a:pt x="233" y="962"/>
                    </a:lnTo>
                    <a:cubicBezTo>
                      <a:pt x="4" y="1179"/>
                      <a:pt x="1" y="1545"/>
                      <a:pt x="227" y="1768"/>
                    </a:cubicBezTo>
                    <a:cubicBezTo>
                      <a:pt x="338" y="1879"/>
                      <a:pt x="482" y="1934"/>
                      <a:pt x="627" y="1934"/>
                    </a:cubicBezTo>
                    <a:cubicBezTo>
                      <a:pt x="774" y="1934"/>
                      <a:pt x="922" y="1876"/>
                      <a:pt x="1033" y="1762"/>
                    </a:cubicBezTo>
                    <a:lnTo>
                      <a:pt x="1833" y="962"/>
                    </a:lnTo>
                    <a:cubicBezTo>
                      <a:pt x="2048" y="738"/>
                      <a:pt x="2045" y="385"/>
                      <a:pt x="1827" y="168"/>
                    </a:cubicBezTo>
                    <a:cubicBezTo>
                      <a:pt x="1717" y="56"/>
                      <a:pt x="1572" y="0"/>
                      <a:pt x="14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263A58"/>
                  </a:solidFill>
                </a:endParaRPr>
              </a:p>
            </p:txBody>
          </p:sp>
          <p:sp>
            <p:nvSpPr>
              <p:cNvPr id="1973" name="Google Shape;1973;p42"/>
              <p:cNvSpPr/>
              <p:nvPr/>
            </p:nvSpPr>
            <p:spPr>
              <a:xfrm>
                <a:off x="5480400" y="2191325"/>
                <a:ext cx="56650" cy="28325"/>
              </a:xfrm>
              <a:custGeom>
                <a:avLst/>
                <a:gdLst/>
                <a:ahLst/>
                <a:cxnLst/>
                <a:rect l="l" t="t" r="r" b="b"/>
                <a:pathLst>
                  <a:path w="2266" h="1133" extrusionOk="0">
                    <a:moveTo>
                      <a:pt x="568" y="0"/>
                    </a:moveTo>
                    <a:cubicBezTo>
                      <a:pt x="254" y="0"/>
                      <a:pt x="1" y="254"/>
                      <a:pt x="1" y="568"/>
                    </a:cubicBezTo>
                    <a:cubicBezTo>
                      <a:pt x="1" y="879"/>
                      <a:pt x="254" y="1133"/>
                      <a:pt x="568" y="1133"/>
                    </a:cubicBezTo>
                    <a:lnTo>
                      <a:pt x="1701" y="1133"/>
                    </a:lnTo>
                    <a:cubicBezTo>
                      <a:pt x="2012" y="1133"/>
                      <a:pt x="2265" y="879"/>
                      <a:pt x="2265" y="568"/>
                    </a:cubicBezTo>
                    <a:cubicBezTo>
                      <a:pt x="2265" y="254"/>
                      <a:pt x="2012" y="0"/>
                      <a:pt x="170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263A58"/>
                  </a:solidFill>
                </a:endParaRPr>
              </a:p>
            </p:txBody>
          </p:sp>
          <p:sp>
            <p:nvSpPr>
              <p:cNvPr id="1974" name="Google Shape;1974;p42"/>
              <p:cNvSpPr/>
              <p:nvPr/>
            </p:nvSpPr>
            <p:spPr>
              <a:xfrm>
                <a:off x="5479800" y="2096550"/>
                <a:ext cx="54300" cy="48225"/>
              </a:xfrm>
              <a:custGeom>
                <a:avLst/>
                <a:gdLst/>
                <a:ahLst/>
                <a:cxnLst/>
                <a:rect l="l" t="t" r="r" b="b"/>
                <a:pathLst>
                  <a:path w="2172" h="1929" extrusionOk="0">
                    <a:moveTo>
                      <a:pt x="1550" y="0"/>
                    </a:moveTo>
                    <a:cubicBezTo>
                      <a:pt x="1409" y="0"/>
                      <a:pt x="1267" y="53"/>
                      <a:pt x="1157" y="159"/>
                    </a:cubicBezTo>
                    <a:lnTo>
                      <a:pt x="357" y="962"/>
                    </a:lnTo>
                    <a:cubicBezTo>
                      <a:pt x="1" y="1318"/>
                      <a:pt x="251" y="1928"/>
                      <a:pt x="756" y="1928"/>
                    </a:cubicBezTo>
                    <a:cubicBezTo>
                      <a:pt x="907" y="1928"/>
                      <a:pt x="1051" y="1868"/>
                      <a:pt x="1157" y="1762"/>
                    </a:cubicBezTo>
                    <a:lnTo>
                      <a:pt x="1957" y="959"/>
                    </a:lnTo>
                    <a:cubicBezTo>
                      <a:pt x="2172" y="739"/>
                      <a:pt x="2169" y="385"/>
                      <a:pt x="1951" y="168"/>
                    </a:cubicBezTo>
                    <a:cubicBezTo>
                      <a:pt x="1841" y="56"/>
                      <a:pt x="1696" y="0"/>
                      <a:pt x="155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263A58"/>
                  </a:solidFill>
                </a:endParaRPr>
              </a:p>
            </p:txBody>
          </p:sp>
          <p:sp>
            <p:nvSpPr>
              <p:cNvPr id="1975" name="Google Shape;1975;p42"/>
              <p:cNvSpPr/>
              <p:nvPr/>
            </p:nvSpPr>
            <p:spPr>
              <a:xfrm>
                <a:off x="5483350" y="2266400"/>
                <a:ext cx="54300" cy="48225"/>
              </a:xfrm>
              <a:custGeom>
                <a:avLst/>
                <a:gdLst/>
                <a:ahLst/>
                <a:cxnLst/>
                <a:rect l="l" t="t" r="r" b="b"/>
                <a:pathLst>
                  <a:path w="2172" h="1929" extrusionOk="0">
                    <a:moveTo>
                      <a:pt x="622" y="0"/>
                    </a:moveTo>
                    <a:cubicBezTo>
                      <a:pt x="476" y="0"/>
                      <a:pt x="331" y="56"/>
                      <a:pt x="221" y="168"/>
                    </a:cubicBezTo>
                    <a:cubicBezTo>
                      <a:pt x="4" y="385"/>
                      <a:pt x="1" y="738"/>
                      <a:pt x="215" y="962"/>
                    </a:cubicBezTo>
                    <a:lnTo>
                      <a:pt x="1015" y="1762"/>
                    </a:lnTo>
                    <a:cubicBezTo>
                      <a:pt x="1121" y="1868"/>
                      <a:pt x="1266" y="1928"/>
                      <a:pt x="1417" y="1928"/>
                    </a:cubicBezTo>
                    <a:cubicBezTo>
                      <a:pt x="1921" y="1928"/>
                      <a:pt x="2172" y="1318"/>
                      <a:pt x="1815" y="962"/>
                    </a:cubicBezTo>
                    <a:lnTo>
                      <a:pt x="1015" y="159"/>
                    </a:lnTo>
                    <a:cubicBezTo>
                      <a:pt x="905" y="53"/>
                      <a:pt x="763" y="0"/>
                      <a:pt x="62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263A58"/>
                  </a:solidFill>
                </a:endParaRPr>
              </a:p>
            </p:txBody>
          </p:sp>
        </p:grpSp>
        <p:grpSp>
          <p:nvGrpSpPr>
            <p:cNvPr id="1976" name="Google Shape;1976;p42"/>
            <p:cNvGrpSpPr/>
            <p:nvPr/>
          </p:nvGrpSpPr>
          <p:grpSpPr>
            <a:xfrm>
              <a:off x="5818802" y="1706522"/>
              <a:ext cx="313329" cy="310311"/>
              <a:chOff x="3860250" y="1427025"/>
              <a:chExt cx="487900" cy="483200"/>
            </a:xfrm>
          </p:grpSpPr>
          <p:sp>
            <p:nvSpPr>
              <p:cNvPr id="1977" name="Google Shape;1977;p42"/>
              <p:cNvSpPr/>
              <p:nvPr/>
            </p:nvSpPr>
            <p:spPr>
              <a:xfrm>
                <a:off x="3875800" y="1427025"/>
                <a:ext cx="472350" cy="468650"/>
              </a:xfrm>
              <a:custGeom>
                <a:avLst/>
                <a:gdLst/>
                <a:ahLst/>
                <a:cxnLst/>
                <a:rect l="l" t="t" r="r" b="b"/>
                <a:pathLst>
                  <a:path w="18894" h="18746" extrusionOk="0">
                    <a:moveTo>
                      <a:pt x="15874" y="1821"/>
                    </a:moveTo>
                    <a:lnTo>
                      <a:pt x="6498" y="9403"/>
                    </a:lnTo>
                    <a:lnTo>
                      <a:pt x="1918" y="5629"/>
                    </a:lnTo>
                    <a:lnTo>
                      <a:pt x="15874" y="1821"/>
                    </a:lnTo>
                    <a:close/>
                    <a:moveTo>
                      <a:pt x="14524" y="4370"/>
                    </a:moveTo>
                    <a:lnTo>
                      <a:pt x="8425" y="11912"/>
                    </a:lnTo>
                    <a:lnTo>
                      <a:pt x="6257" y="12634"/>
                    </a:lnTo>
                    <a:lnTo>
                      <a:pt x="6981" y="10469"/>
                    </a:lnTo>
                    <a:lnTo>
                      <a:pt x="14524" y="4370"/>
                    </a:lnTo>
                    <a:close/>
                    <a:moveTo>
                      <a:pt x="17072" y="3020"/>
                    </a:moveTo>
                    <a:lnTo>
                      <a:pt x="13265" y="16976"/>
                    </a:lnTo>
                    <a:lnTo>
                      <a:pt x="9491" y="12392"/>
                    </a:lnTo>
                    <a:lnTo>
                      <a:pt x="17072" y="3020"/>
                    </a:lnTo>
                    <a:close/>
                    <a:moveTo>
                      <a:pt x="18298" y="0"/>
                    </a:moveTo>
                    <a:cubicBezTo>
                      <a:pt x="18286" y="0"/>
                      <a:pt x="18274" y="0"/>
                      <a:pt x="18262" y="3"/>
                    </a:cubicBezTo>
                    <a:lnTo>
                      <a:pt x="18253" y="3"/>
                    </a:lnTo>
                    <a:cubicBezTo>
                      <a:pt x="18238" y="6"/>
                      <a:pt x="18223" y="6"/>
                      <a:pt x="18211" y="12"/>
                    </a:cubicBezTo>
                    <a:lnTo>
                      <a:pt x="18193" y="15"/>
                    </a:lnTo>
                    <a:lnTo>
                      <a:pt x="18178" y="18"/>
                    </a:lnTo>
                    <a:lnTo>
                      <a:pt x="562" y="4822"/>
                    </a:lnTo>
                    <a:cubicBezTo>
                      <a:pt x="121" y="4943"/>
                      <a:pt x="0" y="5511"/>
                      <a:pt x="351" y="5804"/>
                    </a:cubicBezTo>
                    <a:lnTo>
                      <a:pt x="5834" y="10321"/>
                    </a:lnTo>
                    <a:lnTo>
                      <a:pt x="4826" y="13349"/>
                    </a:lnTo>
                    <a:cubicBezTo>
                      <a:pt x="4696" y="13732"/>
                      <a:pt x="4991" y="14098"/>
                      <a:pt x="5359" y="14098"/>
                    </a:cubicBezTo>
                    <a:cubicBezTo>
                      <a:pt x="5418" y="14098"/>
                      <a:pt x="5479" y="14089"/>
                      <a:pt x="5541" y="14068"/>
                    </a:cubicBezTo>
                    <a:lnTo>
                      <a:pt x="8570" y="13060"/>
                    </a:lnTo>
                    <a:lnTo>
                      <a:pt x="13087" y="18540"/>
                    </a:lnTo>
                    <a:cubicBezTo>
                      <a:pt x="13195" y="18670"/>
                      <a:pt x="13355" y="18745"/>
                      <a:pt x="13525" y="18745"/>
                    </a:cubicBezTo>
                    <a:cubicBezTo>
                      <a:pt x="13564" y="18745"/>
                      <a:pt x="13603" y="18742"/>
                      <a:pt x="13642" y="18733"/>
                    </a:cubicBezTo>
                    <a:cubicBezTo>
                      <a:pt x="13848" y="18691"/>
                      <a:pt x="14014" y="18534"/>
                      <a:pt x="14071" y="18328"/>
                    </a:cubicBezTo>
                    <a:lnTo>
                      <a:pt x="18875" y="716"/>
                    </a:lnTo>
                    <a:cubicBezTo>
                      <a:pt x="18875" y="710"/>
                      <a:pt x="18875" y="704"/>
                      <a:pt x="18878" y="698"/>
                    </a:cubicBezTo>
                    <a:lnTo>
                      <a:pt x="18881" y="683"/>
                    </a:lnTo>
                    <a:cubicBezTo>
                      <a:pt x="18884" y="668"/>
                      <a:pt x="18887" y="653"/>
                      <a:pt x="18890" y="637"/>
                    </a:cubicBezTo>
                    <a:cubicBezTo>
                      <a:pt x="18890" y="637"/>
                      <a:pt x="18890" y="634"/>
                      <a:pt x="18890" y="631"/>
                    </a:cubicBezTo>
                    <a:cubicBezTo>
                      <a:pt x="18890" y="619"/>
                      <a:pt x="18890" y="604"/>
                      <a:pt x="18893" y="592"/>
                    </a:cubicBezTo>
                    <a:lnTo>
                      <a:pt x="18893" y="580"/>
                    </a:lnTo>
                    <a:cubicBezTo>
                      <a:pt x="18893" y="568"/>
                      <a:pt x="18893" y="553"/>
                      <a:pt x="18893" y="541"/>
                    </a:cubicBezTo>
                    <a:cubicBezTo>
                      <a:pt x="18893" y="538"/>
                      <a:pt x="18893" y="535"/>
                      <a:pt x="18893" y="532"/>
                    </a:cubicBezTo>
                    <a:cubicBezTo>
                      <a:pt x="18893" y="517"/>
                      <a:pt x="18890" y="502"/>
                      <a:pt x="18890" y="487"/>
                    </a:cubicBezTo>
                    <a:cubicBezTo>
                      <a:pt x="18890" y="483"/>
                      <a:pt x="18890" y="480"/>
                      <a:pt x="18887" y="477"/>
                    </a:cubicBezTo>
                    <a:cubicBezTo>
                      <a:pt x="18887" y="465"/>
                      <a:pt x="18884" y="453"/>
                      <a:pt x="18881" y="441"/>
                    </a:cubicBezTo>
                    <a:lnTo>
                      <a:pt x="18878" y="429"/>
                    </a:lnTo>
                    <a:cubicBezTo>
                      <a:pt x="18875" y="417"/>
                      <a:pt x="18872" y="402"/>
                      <a:pt x="18866" y="390"/>
                    </a:cubicBezTo>
                    <a:cubicBezTo>
                      <a:pt x="18866" y="387"/>
                      <a:pt x="18866" y="384"/>
                      <a:pt x="18863" y="381"/>
                    </a:cubicBezTo>
                    <a:cubicBezTo>
                      <a:pt x="18860" y="369"/>
                      <a:pt x="18854" y="354"/>
                      <a:pt x="18848" y="345"/>
                    </a:cubicBezTo>
                    <a:cubicBezTo>
                      <a:pt x="18848" y="339"/>
                      <a:pt x="18845" y="333"/>
                      <a:pt x="18842" y="329"/>
                    </a:cubicBezTo>
                    <a:cubicBezTo>
                      <a:pt x="18839" y="323"/>
                      <a:pt x="18833" y="308"/>
                      <a:pt x="18830" y="299"/>
                    </a:cubicBezTo>
                    <a:cubicBezTo>
                      <a:pt x="18824" y="290"/>
                      <a:pt x="18824" y="290"/>
                      <a:pt x="18821" y="287"/>
                    </a:cubicBezTo>
                    <a:cubicBezTo>
                      <a:pt x="18815" y="275"/>
                      <a:pt x="18806" y="263"/>
                      <a:pt x="18797" y="248"/>
                    </a:cubicBezTo>
                    <a:lnTo>
                      <a:pt x="18790" y="239"/>
                    </a:lnTo>
                    <a:cubicBezTo>
                      <a:pt x="18784" y="230"/>
                      <a:pt x="18775" y="221"/>
                      <a:pt x="18769" y="212"/>
                    </a:cubicBezTo>
                    <a:cubicBezTo>
                      <a:pt x="18760" y="203"/>
                      <a:pt x="18763" y="203"/>
                      <a:pt x="18760" y="200"/>
                    </a:cubicBezTo>
                    <a:cubicBezTo>
                      <a:pt x="18751" y="188"/>
                      <a:pt x="18739" y="176"/>
                      <a:pt x="18727" y="163"/>
                    </a:cubicBezTo>
                    <a:cubicBezTo>
                      <a:pt x="18718" y="154"/>
                      <a:pt x="18706" y="142"/>
                      <a:pt x="18694" y="133"/>
                    </a:cubicBezTo>
                    <a:lnTo>
                      <a:pt x="18682" y="124"/>
                    </a:lnTo>
                    <a:cubicBezTo>
                      <a:pt x="18673" y="115"/>
                      <a:pt x="18664" y="109"/>
                      <a:pt x="18655" y="103"/>
                    </a:cubicBezTo>
                    <a:lnTo>
                      <a:pt x="18643" y="94"/>
                    </a:lnTo>
                    <a:cubicBezTo>
                      <a:pt x="18630" y="88"/>
                      <a:pt x="18618" y="79"/>
                      <a:pt x="18606" y="73"/>
                    </a:cubicBezTo>
                    <a:lnTo>
                      <a:pt x="18591" y="64"/>
                    </a:lnTo>
                    <a:lnTo>
                      <a:pt x="18564" y="52"/>
                    </a:lnTo>
                    <a:lnTo>
                      <a:pt x="18549" y="43"/>
                    </a:lnTo>
                    <a:cubicBezTo>
                      <a:pt x="18537" y="40"/>
                      <a:pt x="18522" y="34"/>
                      <a:pt x="18510" y="28"/>
                    </a:cubicBezTo>
                    <a:lnTo>
                      <a:pt x="18501" y="28"/>
                    </a:lnTo>
                    <a:cubicBezTo>
                      <a:pt x="18489" y="22"/>
                      <a:pt x="18476" y="18"/>
                      <a:pt x="18464" y="15"/>
                    </a:cubicBezTo>
                    <a:lnTo>
                      <a:pt x="18449" y="12"/>
                    </a:lnTo>
                    <a:lnTo>
                      <a:pt x="18416" y="6"/>
                    </a:lnTo>
                    <a:lnTo>
                      <a:pt x="18404" y="3"/>
                    </a:lnTo>
                    <a:cubicBezTo>
                      <a:pt x="18389" y="3"/>
                      <a:pt x="18374" y="0"/>
                      <a:pt x="1835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263A58"/>
                  </a:solidFill>
                </a:endParaRPr>
              </a:p>
            </p:txBody>
          </p:sp>
          <p:sp>
            <p:nvSpPr>
              <p:cNvPr id="1978" name="Google Shape;1978;p42"/>
              <p:cNvSpPr/>
              <p:nvPr/>
            </p:nvSpPr>
            <p:spPr>
              <a:xfrm>
                <a:off x="3860250" y="1861675"/>
                <a:ext cx="54675" cy="48550"/>
              </a:xfrm>
              <a:custGeom>
                <a:avLst/>
                <a:gdLst/>
                <a:ahLst/>
                <a:cxnLst/>
                <a:rect l="l" t="t" r="r" b="b"/>
                <a:pathLst>
                  <a:path w="2187" h="1942" extrusionOk="0">
                    <a:moveTo>
                      <a:pt x="1563" y="1"/>
                    </a:moveTo>
                    <a:cubicBezTo>
                      <a:pt x="1416" y="1"/>
                      <a:pt x="1268" y="58"/>
                      <a:pt x="1157" y="172"/>
                    </a:cubicBezTo>
                    <a:lnTo>
                      <a:pt x="357" y="976"/>
                    </a:lnTo>
                    <a:cubicBezTo>
                      <a:pt x="0" y="1332"/>
                      <a:pt x="254" y="1942"/>
                      <a:pt x="758" y="1942"/>
                    </a:cubicBezTo>
                    <a:cubicBezTo>
                      <a:pt x="906" y="1942"/>
                      <a:pt x="1051" y="1882"/>
                      <a:pt x="1157" y="1776"/>
                    </a:cubicBezTo>
                    <a:lnTo>
                      <a:pt x="1957" y="973"/>
                    </a:lnTo>
                    <a:cubicBezTo>
                      <a:pt x="2184" y="755"/>
                      <a:pt x="2187" y="390"/>
                      <a:pt x="1963" y="166"/>
                    </a:cubicBezTo>
                    <a:cubicBezTo>
                      <a:pt x="1853" y="56"/>
                      <a:pt x="1708" y="1"/>
                      <a:pt x="1563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263A58"/>
                  </a:solidFill>
                </a:endParaRPr>
              </a:p>
            </p:txBody>
          </p:sp>
          <p:sp>
            <p:nvSpPr>
              <p:cNvPr id="1979" name="Google Shape;1979;p42"/>
              <p:cNvSpPr/>
              <p:nvPr/>
            </p:nvSpPr>
            <p:spPr>
              <a:xfrm>
                <a:off x="3923425" y="1801775"/>
                <a:ext cx="51350" cy="48550"/>
              </a:xfrm>
              <a:custGeom>
                <a:avLst/>
                <a:gdLst/>
                <a:ahLst/>
                <a:cxnLst/>
                <a:rect l="l" t="t" r="r" b="b"/>
                <a:pathLst>
                  <a:path w="2054" h="1942" extrusionOk="0">
                    <a:moveTo>
                      <a:pt x="1430" y="0"/>
                    </a:moveTo>
                    <a:cubicBezTo>
                      <a:pt x="1286" y="0"/>
                      <a:pt x="1141" y="56"/>
                      <a:pt x="1030" y="168"/>
                    </a:cubicBezTo>
                    <a:lnTo>
                      <a:pt x="230" y="968"/>
                    </a:lnTo>
                    <a:cubicBezTo>
                      <a:pt x="4" y="1189"/>
                      <a:pt x="1" y="1551"/>
                      <a:pt x="224" y="1774"/>
                    </a:cubicBezTo>
                    <a:cubicBezTo>
                      <a:pt x="334" y="1886"/>
                      <a:pt x="478" y="1941"/>
                      <a:pt x="623" y="1941"/>
                    </a:cubicBezTo>
                    <a:cubicBezTo>
                      <a:pt x="771" y="1941"/>
                      <a:pt x="919" y="1883"/>
                      <a:pt x="1030" y="1768"/>
                    </a:cubicBezTo>
                    <a:lnTo>
                      <a:pt x="1831" y="968"/>
                    </a:lnTo>
                    <a:cubicBezTo>
                      <a:pt x="2054" y="745"/>
                      <a:pt x="2051" y="388"/>
                      <a:pt x="1831" y="168"/>
                    </a:cubicBezTo>
                    <a:cubicBezTo>
                      <a:pt x="1720" y="56"/>
                      <a:pt x="1575" y="0"/>
                      <a:pt x="143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263A58"/>
                  </a:solidFill>
                </a:endParaRPr>
              </a:p>
            </p:txBody>
          </p:sp>
        </p:grpSp>
      </p:grpSp>
      <p:sp>
        <p:nvSpPr>
          <p:cNvPr id="1980" name="Titulo"/>
          <p:cNvSpPr txBox="1"/>
          <p:nvPr/>
        </p:nvSpPr>
        <p:spPr>
          <a:xfrm>
            <a:off x="457200" y="256032"/>
            <a:ext cx="70408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2100" b="1">
                <a:solidFill>
                  <a:srgbClr val="002060"/>
                </a:solidFill>
                <a:latin typeface="Area Normal Trial Black"/>
              </a:rPr>
              <a:t>Dashboard: de la mirada institucional a la matriz de cada programa</a:t>
            </a:r>
          </a:p>
        </p:txBody>
      </p:sp>
      <p:pic>
        <p:nvPicPr>
          <p:cNvPr id="1982" name="Logo POLI" descr="logo_sell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8120" y="256032"/>
            <a:ext cx="914400" cy="203200"/>
          </a:xfrm>
          <a:prstGeom prst="rect">
            <a:avLst/>
          </a:prstGeom>
        </p:spPr>
      </p:pic>
      <p:sp>
        <p:nvSpPr>
          <p:cNvPr id="1983" name="Numero"/>
          <p:cNvSpPr txBox="1"/>
          <p:nvPr/>
        </p:nvSpPr>
        <p:spPr>
          <a:xfrm>
            <a:off x="8458200" y="4727448"/>
            <a:ext cx="3657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002060"/>
                </a:solidFill>
                <a:latin typeface="Area Normal Trial Light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5" name="Fondo POLI" descr="bg_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grpSp>
        <p:nvGrpSpPr>
          <p:cNvPr id="1073" name="Google Shape;1073;p40"/>
          <p:cNvGrpSpPr/>
          <p:nvPr/>
        </p:nvGrpSpPr>
        <p:grpSpPr>
          <a:xfrm>
            <a:off x="6761603" y="1358177"/>
            <a:ext cx="1925188" cy="3043369"/>
            <a:chOff x="6761603" y="1358177"/>
            <a:chExt cx="1925188" cy="3043369"/>
          </a:xfrm>
        </p:grpSpPr>
        <p:sp>
          <p:nvSpPr>
            <p:cNvPr id="1074" name="Google Shape;1074;p40"/>
            <p:cNvSpPr/>
            <p:nvPr/>
          </p:nvSpPr>
          <p:spPr>
            <a:xfrm>
              <a:off x="6761603" y="1358177"/>
              <a:ext cx="1925188" cy="1576253"/>
            </a:xfrm>
            <a:custGeom>
              <a:avLst/>
              <a:gdLst/>
              <a:ahLst/>
              <a:cxnLst/>
              <a:rect l="l" t="t" r="r" b="b"/>
              <a:pathLst>
                <a:path w="12722" h="10416" extrusionOk="0">
                  <a:moveTo>
                    <a:pt x="1382" y="1"/>
                  </a:moveTo>
                  <a:cubicBezTo>
                    <a:pt x="626" y="1"/>
                    <a:pt x="1" y="617"/>
                    <a:pt x="1" y="1381"/>
                  </a:cubicBezTo>
                  <a:lnTo>
                    <a:pt x="1" y="9034"/>
                  </a:lnTo>
                  <a:cubicBezTo>
                    <a:pt x="1" y="9799"/>
                    <a:pt x="626" y="10416"/>
                    <a:pt x="1382" y="10416"/>
                  </a:cubicBezTo>
                  <a:lnTo>
                    <a:pt x="9044" y="10416"/>
                  </a:lnTo>
                  <a:cubicBezTo>
                    <a:pt x="9799" y="10416"/>
                    <a:pt x="10416" y="9799"/>
                    <a:pt x="10416" y="9034"/>
                  </a:cubicBezTo>
                  <a:lnTo>
                    <a:pt x="10416" y="6092"/>
                  </a:lnTo>
                  <a:cubicBezTo>
                    <a:pt x="10555" y="6152"/>
                    <a:pt x="10684" y="6222"/>
                    <a:pt x="10813" y="6291"/>
                  </a:cubicBezTo>
                  <a:cubicBezTo>
                    <a:pt x="11005" y="6406"/>
                    <a:pt x="11227" y="6473"/>
                    <a:pt x="11462" y="6473"/>
                  </a:cubicBezTo>
                  <a:cubicBezTo>
                    <a:pt x="11654" y="6473"/>
                    <a:pt x="11855" y="6429"/>
                    <a:pt x="12055" y="6331"/>
                  </a:cubicBezTo>
                  <a:cubicBezTo>
                    <a:pt x="12472" y="6132"/>
                    <a:pt x="12721" y="5714"/>
                    <a:pt x="12721" y="5257"/>
                  </a:cubicBezTo>
                  <a:cubicBezTo>
                    <a:pt x="12721" y="4562"/>
                    <a:pt x="12174" y="3956"/>
                    <a:pt x="11479" y="3945"/>
                  </a:cubicBezTo>
                  <a:cubicBezTo>
                    <a:pt x="11231" y="3945"/>
                    <a:pt x="11012" y="4005"/>
                    <a:pt x="10813" y="4124"/>
                  </a:cubicBezTo>
                  <a:cubicBezTo>
                    <a:pt x="10684" y="4194"/>
                    <a:pt x="10555" y="4264"/>
                    <a:pt x="10416" y="4323"/>
                  </a:cubicBezTo>
                  <a:lnTo>
                    <a:pt x="10416" y="1381"/>
                  </a:lnTo>
                  <a:cubicBezTo>
                    <a:pt x="10416" y="617"/>
                    <a:pt x="9799" y="1"/>
                    <a:pt x="904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5" name="Google Shape;1075;p40"/>
            <p:cNvSpPr txBox="1"/>
            <p:nvPr/>
          </p:nvSpPr>
          <p:spPr>
            <a:xfrm>
              <a:off x="6763275" y="1656966"/>
              <a:ext cx="1576200" cy="90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5000" b="1">
                  <a:solidFill>
                    <a:srgbClr val="FFFFFF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05</a:t>
              </a:r>
              <a:endParaRPr sz="5000" b="1">
                <a:solidFill>
                  <a:srgbClr val="FFFFFF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1076" name="Google Shape;1076;p40"/>
            <p:cNvSpPr txBox="1"/>
            <p:nvPr/>
          </p:nvSpPr>
          <p:spPr>
            <a:xfrm>
              <a:off x="6768103" y="3067875"/>
              <a:ext cx="1574100" cy="437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00" b="1">
                  <a:solidFill>
                    <a:schemeClr val="lt2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Tendencias</a:t>
              </a:r>
              <a:endParaRPr sz="1600" b="1">
                <a:solidFill>
                  <a:schemeClr val="lt2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1077" name="Google Shape;1077;p40"/>
            <p:cNvSpPr txBox="1"/>
            <p:nvPr/>
          </p:nvSpPr>
          <p:spPr>
            <a:xfrm>
              <a:off x="6765888" y="3605646"/>
              <a:ext cx="1574100" cy="79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50">
                  <a:solidFill>
                    <a:srgbClr val="666666"/>
                  </a:solidFill>
                  <a:latin typeface="Roboto"/>
                  <a:ea typeface="Roboto"/>
                  <a:cs typeface="Roboto"/>
                  <a:sym typeface="Roboto"/>
                </a:rPr>
                <a:t>Decidir cobertura o especialización: IA, 21 de 30 solo por el núcleo.</a:t>
              </a:r>
              <a:endParaRPr sz="12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1078" name="Google Shape;1078;p40"/>
            <p:cNvCxnSpPr/>
            <p:nvPr/>
          </p:nvCxnSpPr>
          <p:spPr>
            <a:xfrm>
              <a:off x="7302475" y="3545224"/>
              <a:ext cx="4962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079" name="Google Shape;1079;p40"/>
          <p:cNvGrpSpPr/>
          <p:nvPr/>
        </p:nvGrpSpPr>
        <p:grpSpPr>
          <a:xfrm>
            <a:off x="5185438" y="1358177"/>
            <a:ext cx="1925254" cy="3043369"/>
            <a:chOff x="5185438" y="1358177"/>
            <a:chExt cx="1925254" cy="3043369"/>
          </a:xfrm>
        </p:grpSpPr>
        <p:sp>
          <p:nvSpPr>
            <p:cNvPr id="1080" name="Google Shape;1080;p40"/>
            <p:cNvSpPr/>
            <p:nvPr/>
          </p:nvSpPr>
          <p:spPr>
            <a:xfrm>
              <a:off x="5185503" y="1358177"/>
              <a:ext cx="1925188" cy="1576253"/>
            </a:xfrm>
            <a:custGeom>
              <a:avLst/>
              <a:gdLst/>
              <a:ahLst/>
              <a:cxnLst/>
              <a:rect l="l" t="t" r="r" b="b"/>
              <a:pathLst>
                <a:path w="12722" h="10416" extrusionOk="0">
                  <a:moveTo>
                    <a:pt x="1382" y="1"/>
                  </a:moveTo>
                  <a:cubicBezTo>
                    <a:pt x="617" y="1"/>
                    <a:pt x="1" y="617"/>
                    <a:pt x="1" y="1381"/>
                  </a:cubicBezTo>
                  <a:lnTo>
                    <a:pt x="1" y="9034"/>
                  </a:lnTo>
                  <a:cubicBezTo>
                    <a:pt x="1" y="9799"/>
                    <a:pt x="617" y="10416"/>
                    <a:pt x="1382" y="10416"/>
                  </a:cubicBezTo>
                  <a:lnTo>
                    <a:pt x="9044" y="10416"/>
                  </a:lnTo>
                  <a:cubicBezTo>
                    <a:pt x="9800" y="10416"/>
                    <a:pt x="10416" y="9799"/>
                    <a:pt x="10416" y="9034"/>
                  </a:cubicBezTo>
                  <a:lnTo>
                    <a:pt x="10416" y="6092"/>
                  </a:lnTo>
                  <a:cubicBezTo>
                    <a:pt x="10555" y="6152"/>
                    <a:pt x="10684" y="6222"/>
                    <a:pt x="10813" y="6291"/>
                  </a:cubicBezTo>
                  <a:cubicBezTo>
                    <a:pt x="10999" y="6406"/>
                    <a:pt x="11222" y="6473"/>
                    <a:pt x="11459" y="6473"/>
                  </a:cubicBezTo>
                  <a:cubicBezTo>
                    <a:pt x="11652" y="6473"/>
                    <a:pt x="11855" y="6429"/>
                    <a:pt x="12055" y="6331"/>
                  </a:cubicBezTo>
                  <a:cubicBezTo>
                    <a:pt x="12472" y="6132"/>
                    <a:pt x="12721" y="5714"/>
                    <a:pt x="12721" y="5257"/>
                  </a:cubicBezTo>
                  <a:cubicBezTo>
                    <a:pt x="12721" y="4562"/>
                    <a:pt x="12174" y="3956"/>
                    <a:pt x="11479" y="3945"/>
                  </a:cubicBezTo>
                  <a:cubicBezTo>
                    <a:pt x="11231" y="3945"/>
                    <a:pt x="11002" y="4005"/>
                    <a:pt x="10813" y="4124"/>
                  </a:cubicBezTo>
                  <a:cubicBezTo>
                    <a:pt x="10684" y="4194"/>
                    <a:pt x="10555" y="4264"/>
                    <a:pt x="10416" y="4323"/>
                  </a:cubicBezTo>
                  <a:lnTo>
                    <a:pt x="10416" y="1381"/>
                  </a:lnTo>
                  <a:cubicBezTo>
                    <a:pt x="10416" y="617"/>
                    <a:pt x="9800" y="1"/>
                    <a:pt x="90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1" name="Google Shape;1081;p40"/>
            <p:cNvSpPr txBox="1"/>
            <p:nvPr/>
          </p:nvSpPr>
          <p:spPr>
            <a:xfrm>
              <a:off x="5185500" y="1656966"/>
              <a:ext cx="1576200" cy="90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5000" b="1">
                  <a:solidFill>
                    <a:srgbClr val="FFFFFF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04</a:t>
              </a:r>
              <a:endParaRPr sz="5000" b="1">
                <a:solidFill>
                  <a:srgbClr val="FFFFFF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1082" name="Google Shape;1082;p40"/>
            <p:cNvSpPr txBox="1"/>
            <p:nvPr/>
          </p:nvSpPr>
          <p:spPr>
            <a:xfrm>
              <a:off x="5187653" y="3067875"/>
              <a:ext cx="1574100" cy="437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00" b="1">
                  <a:solidFill>
                    <a:schemeClr val="lt2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Homónimas</a:t>
              </a:r>
              <a:endParaRPr sz="1600" b="1">
                <a:solidFill>
                  <a:schemeClr val="lt2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1083" name="Google Shape;1083;p40"/>
            <p:cNvSpPr txBox="1"/>
            <p:nvPr/>
          </p:nvSpPr>
          <p:spPr>
            <a:xfrm>
              <a:off x="5185438" y="3605646"/>
              <a:ext cx="1574100" cy="79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50">
                  <a:solidFill>
                    <a:srgbClr val="666666"/>
                  </a:solidFill>
                  <a:latin typeface="Roboto"/>
                  <a:ea typeface="Roboto"/>
                  <a:cs typeface="Roboto"/>
                  <a:sym typeface="Roboto"/>
                </a:rPr>
                <a:t>Definir contenido de 15 divergentes y corregir 14 nombres.</a:t>
              </a:r>
              <a:endParaRPr sz="12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1084" name="Google Shape;1084;p40"/>
            <p:cNvCxnSpPr/>
            <p:nvPr/>
          </p:nvCxnSpPr>
          <p:spPr>
            <a:xfrm>
              <a:off x="5726450" y="3545224"/>
              <a:ext cx="4962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085" name="Google Shape;1085;p40"/>
          <p:cNvGrpSpPr/>
          <p:nvPr/>
        </p:nvGrpSpPr>
        <p:grpSpPr>
          <a:xfrm>
            <a:off x="3609338" y="1358177"/>
            <a:ext cx="1925253" cy="3043369"/>
            <a:chOff x="3609338" y="1358177"/>
            <a:chExt cx="1925253" cy="3043369"/>
          </a:xfrm>
        </p:grpSpPr>
        <p:sp>
          <p:nvSpPr>
            <p:cNvPr id="1086" name="Google Shape;1086;p40"/>
            <p:cNvSpPr/>
            <p:nvPr/>
          </p:nvSpPr>
          <p:spPr>
            <a:xfrm>
              <a:off x="3609403" y="1358177"/>
              <a:ext cx="1925188" cy="1576253"/>
            </a:xfrm>
            <a:custGeom>
              <a:avLst/>
              <a:gdLst/>
              <a:ahLst/>
              <a:cxnLst/>
              <a:rect l="l" t="t" r="r" b="b"/>
              <a:pathLst>
                <a:path w="12722" h="10416" extrusionOk="0">
                  <a:moveTo>
                    <a:pt x="1382" y="1"/>
                  </a:moveTo>
                  <a:cubicBezTo>
                    <a:pt x="617" y="1"/>
                    <a:pt x="1" y="617"/>
                    <a:pt x="1" y="1381"/>
                  </a:cubicBezTo>
                  <a:lnTo>
                    <a:pt x="1" y="9034"/>
                  </a:lnTo>
                  <a:cubicBezTo>
                    <a:pt x="1" y="9799"/>
                    <a:pt x="617" y="10416"/>
                    <a:pt x="1382" y="10416"/>
                  </a:cubicBezTo>
                  <a:lnTo>
                    <a:pt x="9044" y="10416"/>
                  </a:lnTo>
                  <a:cubicBezTo>
                    <a:pt x="9800" y="10416"/>
                    <a:pt x="10416" y="9799"/>
                    <a:pt x="10416" y="9034"/>
                  </a:cubicBezTo>
                  <a:lnTo>
                    <a:pt x="10416" y="6092"/>
                  </a:lnTo>
                  <a:cubicBezTo>
                    <a:pt x="10555" y="6152"/>
                    <a:pt x="10684" y="6222"/>
                    <a:pt x="10813" y="6291"/>
                  </a:cubicBezTo>
                  <a:cubicBezTo>
                    <a:pt x="10999" y="6406"/>
                    <a:pt x="11222" y="6473"/>
                    <a:pt x="11459" y="6473"/>
                  </a:cubicBezTo>
                  <a:cubicBezTo>
                    <a:pt x="11652" y="6473"/>
                    <a:pt x="11855" y="6429"/>
                    <a:pt x="12055" y="6331"/>
                  </a:cubicBezTo>
                  <a:cubicBezTo>
                    <a:pt x="12463" y="6132"/>
                    <a:pt x="12721" y="5714"/>
                    <a:pt x="12721" y="5257"/>
                  </a:cubicBezTo>
                  <a:cubicBezTo>
                    <a:pt x="12721" y="4562"/>
                    <a:pt x="12174" y="3956"/>
                    <a:pt x="11479" y="3945"/>
                  </a:cubicBezTo>
                  <a:cubicBezTo>
                    <a:pt x="11231" y="3945"/>
                    <a:pt x="11002" y="4005"/>
                    <a:pt x="10813" y="4124"/>
                  </a:cubicBezTo>
                  <a:cubicBezTo>
                    <a:pt x="10684" y="4194"/>
                    <a:pt x="10555" y="4264"/>
                    <a:pt x="10416" y="4323"/>
                  </a:cubicBezTo>
                  <a:lnTo>
                    <a:pt x="10416" y="1381"/>
                  </a:lnTo>
                  <a:cubicBezTo>
                    <a:pt x="10416" y="617"/>
                    <a:pt x="9800" y="1"/>
                    <a:pt x="90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7" name="Google Shape;1087;p40"/>
            <p:cNvSpPr txBox="1"/>
            <p:nvPr/>
          </p:nvSpPr>
          <p:spPr>
            <a:xfrm>
              <a:off x="3609400" y="1656966"/>
              <a:ext cx="1576200" cy="90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5000" b="1">
                  <a:solidFill>
                    <a:srgbClr val="FFFFFF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03</a:t>
              </a:r>
              <a:endParaRPr sz="5000" b="1">
                <a:solidFill>
                  <a:srgbClr val="FFFFFF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1088" name="Google Shape;1088;p40"/>
            <p:cNvSpPr txBox="1"/>
            <p:nvPr/>
          </p:nvSpPr>
          <p:spPr>
            <a:xfrm>
              <a:off x="3611553" y="3067875"/>
              <a:ext cx="1574100" cy="437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00" b="1">
                  <a:solidFill>
                    <a:schemeClr val="lt2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Indicador N3</a:t>
              </a:r>
              <a:endParaRPr sz="1600" b="1">
                <a:solidFill>
                  <a:schemeClr val="lt2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1089" name="Google Shape;1089;p40"/>
            <p:cNvSpPr txBox="1"/>
            <p:nvPr/>
          </p:nvSpPr>
          <p:spPr>
            <a:xfrm>
              <a:off x="3609338" y="3605646"/>
              <a:ext cx="1574100" cy="79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50">
                  <a:solidFill>
                    <a:srgbClr val="666666"/>
                  </a:solidFill>
                  <a:latin typeface="Roboto"/>
                  <a:ea typeface="Roboto"/>
                  <a:cs typeface="Roboto"/>
                  <a:sym typeface="Roboto"/>
                </a:rPr>
                <a:t>Exigir aprendizaje demostrado por estrategia; hoy solo 3 de 391.</a:t>
              </a:r>
              <a:endParaRPr sz="12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1090" name="Google Shape;1090;p40"/>
            <p:cNvCxnSpPr/>
            <p:nvPr/>
          </p:nvCxnSpPr>
          <p:spPr>
            <a:xfrm>
              <a:off x="4150425" y="3545224"/>
              <a:ext cx="4962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091" name="Google Shape;1091;p40"/>
          <p:cNvGrpSpPr/>
          <p:nvPr/>
        </p:nvGrpSpPr>
        <p:grpSpPr>
          <a:xfrm>
            <a:off x="2033238" y="1358177"/>
            <a:ext cx="1925253" cy="3043369"/>
            <a:chOff x="2033238" y="1358177"/>
            <a:chExt cx="1925253" cy="3043369"/>
          </a:xfrm>
        </p:grpSpPr>
        <p:sp>
          <p:nvSpPr>
            <p:cNvPr id="1092" name="Google Shape;1092;p40"/>
            <p:cNvSpPr/>
            <p:nvPr/>
          </p:nvSpPr>
          <p:spPr>
            <a:xfrm>
              <a:off x="2033302" y="1358177"/>
              <a:ext cx="1925188" cy="1576253"/>
            </a:xfrm>
            <a:custGeom>
              <a:avLst/>
              <a:gdLst/>
              <a:ahLst/>
              <a:cxnLst/>
              <a:rect l="l" t="t" r="r" b="b"/>
              <a:pathLst>
                <a:path w="12722" h="10416" extrusionOk="0">
                  <a:moveTo>
                    <a:pt x="1382" y="1"/>
                  </a:moveTo>
                  <a:cubicBezTo>
                    <a:pt x="617" y="1"/>
                    <a:pt x="1" y="617"/>
                    <a:pt x="1" y="1381"/>
                  </a:cubicBezTo>
                  <a:lnTo>
                    <a:pt x="1" y="9034"/>
                  </a:lnTo>
                  <a:cubicBezTo>
                    <a:pt x="1" y="9799"/>
                    <a:pt x="617" y="10416"/>
                    <a:pt x="1382" y="10416"/>
                  </a:cubicBezTo>
                  <a:lnTo>
                    <a:pt x="9034" y="10416"/>
                  </a:lnTo>
                  <a:cubicBezTo>
                    <a:pt x="9800" y="10416"/>
                    <a:pt x="10416" y="9799"/>
                    <a:pt x="10416" y="9034"/>
                  </a:cubicBezTo>
                  <a:lnTo>
                    <a:pt x="10416" y="6092"/>
                  </a:lnTo>
                  <a:cubicBezTo>
                    <a:pt x="10555" y="6152"/>
                    <a:pt x="10684" y="6222"/>
                    <a:pt x="10813" y="6291"/>
                  </a:cubicBezTo>
                  <a:cubicBezTo>
                    <a:pt x="11000" y="6406"/>
                    <a:pt x="11219" y="6473"/>
                    <a:pt x="11455" y="6473"/>
                  </a:cubicBezTo>
                  <a:cubicBezTo>
                    <a:pt x="11647" y="6473"/>
                    <a:pt x="11850" y="6429"/>
                    <a:pt x="12055" y="6331"/>
                  </a:cubicBezTo>
                  <a:cubicBezTo>
                    <a:pt x="12463" y="6132"/>
                    <a:pt x="12721" y="5714"/>
                    <a:pt x="12721" y="5257"/>
                  </a:cubicBezTo>
                  <a:cubicBezTo>
                    <a:pt x="12721" y="4562"/>
                    <a:pt x="12174" y="3956"/>
                    <a:pt x="11479" y="3945"/>
                  </a:cubicBezTo>
                  <a:cubicBezTo>
                    <a:pt x="11231" y="3945"/>
                    <a:pt x="11002" y="4005"/>
                    <a:pt x="10813" y="4124"/>
                  </a:cubicBezTo>
                  <a:cubicBezTo>
                    <a:pt x="10684" y="4194"/>
                    <a:pt x="10555" y="4264"/>
                    <a:pt x="10416" y="4323"/>
                  </a:cubicBezTo>
                  <a:lnTo>
                    <a:pt x="10416" y="1381"/>
                  </a:lnTo>
                  <a:cubicBezTo>
                    <a:pt x="10416" y="617"/>
                    <a:pt x="9800" y="1"/>
                    <a:pt x="903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3" name="Google Shape;1093;p40"/>
            <p:cNvSpPr txBox="1"/>
            <p:nvPr/>
          </p:nvSpPr>
          <p:spPr>
            <a:xfrm>
              <a:off x="2033300" y="1656966"/>
              <a:ext cx="1576200" cy="90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5000" b="1">
                  <a:solidFill>
                    <a:srgbClr val="FFFFFF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02</a:t>
              </a:r>
              <a:endParaRPr sz="5000" b="1">
                <a:solidFill>
                  <a:srgbClr val="FFFFFF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1094" name="Google Shape;1094;p40"/>
            <p:cNvSpPr txBox="1"/>
            <p:nvPr/>
          </p:nvSpPr>
          <p:spPr>
            <a:xfrm>
              <a:off x="2035453" y="3067875"/>
              <a:ext cx="1574100" cy="437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00" b="1">
                  <a:solidFill>
                    <a:schemeClr val="lt2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Formulación</a:t>
              </a:r>
              <a:endParaRPr sz="1600" b="1">
                <a:solidFill>
                  <a:schemeClr val="lt2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1095" name="Google Shape;1095;p40"/>
            <p:cNvSpPr txBox="1"/>
            <p:nvPr/>
          </p:nvSpPr>
          <p:spPr>
            <a:xfrm>
              <a:off x="2033238" y="3605646"/>
              <a:ext cx="1574100" cy="79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50">
                  <a:solidFill>
                    <a:srgbClr val="666666"/>
                  </a:solidFill>
                  <a:latin typeface="Roboto"/>
                  <a:ea typeface="Roboto"/>
                  <a:cs typeface="Roboto"/>
                  <a:sym typeface="Roboto"/>
                </a:rPr>
                <a:t>Revisar perfil, competencias y RA; 98 atributos sin alineación.</a:t>
              </a:r>
              <a:endParaRPr sz="12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1096" name="Google Shape;1096;p40"/>
            <p:cNvCxnSpPr/>
            <p:nvPr/>
          </p:nvCxnSpPr>
          <p:spPr>
            <a:xfrm>
              <a:off x="2574400" y="3545224"/>
              <a:ext cx="4962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097" name="Google Shape;1097;p40"/>
          <p:cNvGrpSpPr/>
          <p:nvPr/>
        </p:nvGrpSpPr>
        <p:grpSpPr>
          <a:xfrm>
            <a:off x="457200" y="1358177"/>
            <a:ext cx="1923526" cy="3043369"/>
            <a:chOff x="457200" y="1358177"/>
            <a:chExt cx="1923526" cy="3043369"/>
          </a:xfrm>
        </p:grpSpPr>
        <p:sp>
          <p:nvSpPr>
            <p:cNvPr id="1098" name="Google Shape;1098;p40"/>
            <p:cNvSpPr/>
            <p:nvPr/>
          </p:nvSpPr>
          <p:spPr>
            <a:xfrm>
              <a:off x="457202" y="1358177"/>
              <a:ext cx="1923524" cy="1576253"/>
            </a:xfrm>
            <a:custGeom>
              <a:avLst/>
              <a:gdLst/>
              <a:ahLst/>
              <a:cxnLst/>
              <a:rect l="l" t="t" r="r" b="b"/>
              <a:pathLst>
                <a:path w="12711" h="10416" extrusionOk="0">
                  <a:moveTo>
                    <a:pt x="1382" y="1"/>
                  </a:moveTo>
                  <a:cubicBezTo>
                    <a:pt x="617" y="1"/>
                    <a:pt x="1" y="617"/>
                    <a:pt x="1" y="1381"/>
                  </a:cubicBezTo>
                  <a:lnTo>
                    <a:pt x="1" y="9034"/>
                  </a:lnTo>
                  <a:cubicBezTo>
                    <a:pt x="1" y="9799"/>
                    <a:pt x="617" y="10416"/>
                    <a:pt x="1382" y="10416"/>
                  </a:cubicBezTo>
                  <a:lnTo>
                    <a:pt x="9034" y="10416"/>
                  </a:lnTo>
                  <a:cubicBezTo>
                    <a:pt x="9800" y="10416"/>
                    <a:pt x="10416" y="9799"/>
                    <a:pt x="10416" y="9034"/>
                  </a:cubicBezTo>
                  <a:lnTo>
                    <a:pt x="10416" y="6092"/>
                  </a:lnTo>
                  <a:cubicBezTo>
                    <a:pt x="10555" y="6152"/>
                    <a:pt x="10684" y="6222"/>
                    <a:pt x="10813" y="6291"/>
                  </a:cubicBezTo>
                  <a:cubicBezTo>
                    <a:pt x="11000" y="6406"/>
                    <a:pt x="11219" y="6473"/>
                    <a:pt x="11455" y="6473"/>
                  </a:cubicBezTo>
                  <a:cubicBezTo>
                    <a:pt x="11647" y="6473"/>
                    <a:pt x="11850" y="6429"/>
                    <a:pt x="12055" y="6331"/>
                  </a:cubicBezTo>
                  <a:cubicBezTo>
                    <a:pt x="12463" y="6132"/>
                    <a:pt x="12711" y="5714"/>
                    <a:pt x="12711" y="5257"/>
                  </a:cubicBezTo>
                  <a:cubicBezTo>
                    <a:pt x="12711" y="4562"/>
                    <a:pt x="12174" y="3956"/>
                    <a:pt x="11479" y="3945"/>
                  </a:cubicBezTo>
                  <a:cubicBezTo>
                    <a:pt x="11231" y="3945"/>
                    <a:pt x="11002" y="4005"/>
                    <a:pt x="10813" y="4124"/>
                  </a:cubicBezTo>
                  <a:cubicBezTo>
                    <a:pt x="10684" y="4194"/>
                    <a:pt x="10555" y="4264"/>
                    <a:pt x="10416" y="4323"/>
                  </a:cubicBezTo>
                  <a:lnTo>
                    <a:pt x="10416" y="1381"/>
                  </a:lnTo>
                  <a:cubicBezTo>
                    <a:pt x="10416" y="617"/>
                    <a:pt x="9800" y="1"/>
                    <a:pt x="903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9" name="Google Shape;1099;p40"/>
            <p:cNvSpPr txBox="1"/>
            <p:nvPr/>
          </p:nvSpPr>
          <p:spPr>
            <a:xfrm>
              <a:off x="457200" y="1656966"/>
              <a:ext cx="1576200" cy="90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5000" b="1">
                  <a:solidFill>
                    <a:srgbClr val="FFFFFF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01</a:t>
              </a:r>
              <a:endParaRPr sz="5000" b="1">
                <a:solidFill>
                  <a:srgbClr val="FFFFFF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1100" name="Google Shape;1100;p40"/>
            <p:cNvSpPr txBox="1"/>
            <p:nvPr/>
          </p:nvSpPr>
          <p:spPr>
            <a:xfrm>
              <a:off x="459416" y="3067875"/>
              <a:ext cx="1574100" cy="437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00" b="1">
                  <a:solidFill>
                    <a:schemeClr val="lt2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RA genérico</a:t>
              </a:r>
              <a:endParaRPr sz="1600" b="1">
                <a:solidFill>
                  <a:schemeClr val="lt2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1101" name="Google Shape;1101;p40"/>
            <p:cNvSpPr txBox="1"/>
            <p:nvPr/>
          </p:nvSpPr>
          <p:spPr>
            <a:xfrm>
              <a:off x="457200" y="3605646"/>
              <a:ext cx="1574100" cy="79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50">
                  <a:solidFill>
                    <a:srgbClr val="666666"/>
                  </a:solidFill>
                  <a:latin typeface="Roboto"/>
                  <a:ea typeface="Roboto"/>
                  <a:cs typeface="Roboto"/>
                  <a:sym typeface="Roboto"/>
                </a:rPr>
                <a:t>Planearlo resuelve 38 de 44 RA sin estrategia: V4 pasa de 87,0 % a 98,0 %.</a:t>
              </a:r>
              <a:endParaRPr sz="12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1102" name="Google Shape;1102;p40"/>
            <p:cNvCxnSpPr/>
            <p:nvPr/>
          </p:nvCxnSpPr>
          <p:spPr>
            <a:xfrm>
              <a:off x="998375" y="3545224"/>
              <a:ext cx="4962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103" name="Titulo"/>
          <p:cNvSpPr txBox="1"/>
          <p:nvPr/>
        </p:nvSpPr>
        <p:spPr>
          <a:xfrm>
            <a:off x="457200" y="256032"/>
            <a:ext cx="70408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2100" b="1">
                <a:solidFill>
                  <a:srgbClr val="002060"/>
                </a:solidFill>
                <a:latin typeface="Area Normal Trial Black"/>
              </a:rPr>
              <a:t>Cinco decisiones para la Vicerrectoría Académica</a:t>
            </a:r>
          </a:p>
        </p:txBody>
      </p:sp>
      <p:sp>
        <p:nvSpPr>
          <p:cNvPr id="1104" name="Cautelas"/>
          <p:cNvSpPr txBox="1"/>
          <p:nvPr/>
        </p:nvSpPr>
        <p:spPr>
          <a:xfrm>
            <a:off x="457200" y="452628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00B0F0"/>
                </a:solidFill>
                <a:latin typeface="Area Normal Trial Black"/>
              </a:rPr>
              <a:t>CAUTELAS  </a:t>
            </a:r>
            <a:r>
              <a:rPr sz="950" b="0">
                <a:solidFill>
                  <a:srgbClr val="263A58"/>
                </a:solidFill>
                <a:latin typeface="Area Normal Trial Light"/>
              </a:rPr>
              <a:t>Referencia del perfil asistida por IAg y no validada por el comité (acuerdo 80,1 %; κ = 0,44) · N1–N5 por un solo codificador · tendencias por palabras clave · diseño descriptivo, no causal.</a:t>
            </a:r>
          </a:p>
        </p:txBody>
      </p:sp>
      <p:pic>
        <p:nvPicPr>
          <p:cNvPr id="1106" name="Logo POLI" descr="logo_sell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8120" y="256032"/>
            <a:ext cx="914400" cy="203200"/>
          </a:xfrm>
          <a:prstGeom prst="rect">
            <a:avLst/>
          </a:prstGeom>
        </p:spPr>
      </p:pic>
      <p:sp>
        <p:nvSpPr>
          <p:cNvPr id="1107" name="Numero"/>
          <p:cNvSpPr txBox="1"/>
          <p:nvPr/>
        </p:nvSpPr>
        <p:spPr>
          <a:xfrm>
            <a:off x="8458200" y="4727448"/>
            <a:ext cx="3657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002060"/>
                </a:solidFill>
                <a:latin typeface="Area Normal Trial Light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radient KPI Infographics by Slidesgo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2E2E2"/>
      </a:lt2>
      <a:accent1>
        <a:srgbClr val="002060"/>
      </a:accent1>
      <a:accent2>
        <a:srgbClr val="00B0F0"/>
      </a:accent2>
      <a:accent3>
        <a:srgbClr val="22B2DE"/>
      </a:accent3>
      <a:accent4>
        <a:srgbClr val="15BECE"/>
      </a:accent4>
      <a:accent5>
        <a:srgbClr val="B1C900"/>
      </a:accent5>
      <a:accent6>
        <a:srgbClr val="B1C900"/>
      </a:accent6>
      <a:hlink>
        <a:srgbClr val="002060"/>
      </a:hlink>
      <a:folHlink>
        <a:srgbClr val="15BEC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Business Process Infographics by Slidesgo">
  <a:themeElements>
    <a:clrScheme name="Simple Light">
      <a:dk1>
        <a:srgbClr val="15BECE"/>
      </a:dk1>
      <a:lt1>
        <a:srgbClr val="22B2DE"/>
      </a:lt1>
      <a:dk2>
        <a:srgbClr val="00B0F0"/>
      </a:dk2>
      <a:lt2>
        <a:srgbClr val="000000"/>
      </a:lt2>
      <a:accent1>
        <a:srgbClr val="15BECE"/>
      </a:accent1>
      <a:accent2>
        <a:srgbClr val="22B2DE"/>
      </a:accent2>
      <a:accent3>
        <a:srgbClr val="00B0F0"/>
      </a:accent3>
      <a:accent4>
        <a:srgbClr val="1470B8"/>
      </a:accent4>
      <a:accent5>
        <a:srgbClr val="0A3F80"/>
      </a:accent5>
      <a:accent6>
        <a:srgbClr val="002060"/>
      </a:accent6>
      <a:hlink>
        <a:srgbClr val="15BECE"/>
      </a:hlink>
      <a:folHlink>
        <a:srgbClr val="15BEC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Pyramid Infographics by Slidesgo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00B0F0"/>
      </a:accent1>
      <a:accent2>
        <a:srgbClr val="15BECE"/>
      </a:accent2>
      <a:accent3>
        <a:srgbClr val="263A58"/>
      </a:accent3>
      <a:accent4>
        <a:srgbClr val="002060"/>
      </a:accent4>
      <a:accent5>
        <a:srgbClr val="22B2DE"/>
      </a:accent5>
      <a:accent6>
        <a:srgbClr val="0A3F80"/>
      </a:accent6>
      <a:hlink>
        <a:srgbClr val="15BECE"/>
      </a:hlink>
      <a:folHlink>
        <a:srgbClr val="15BEC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1652</Words>
  <Application>Microsoft Office PowerPoint</Application>
  <PresentationFormat>Presentación en pantalla (16:9)</PresentationFormat>
  <Paragraphs>167</Paragraphs>
  <Slides>12</Slides>
  <Notes>12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3</vt:i4>
      </vt:variant>
      <vt:variant>
        <vt:lpstr>Títulos de diapositiva</vt:lpstr>
      </vt:variant>
      <vt:variant>
        <vt:i4>12</vt:i4>
      </vt:variant>
    </vt:vector>
  </HeadingPairs>
  <TitlesOfParts>
    <vt:vector size="22" baseType="lpstr">
      <vt:lpstr>Area Normal Trial Black</vt:lpstr>
      <vt:lpstr>Area Normal Trial Light</vt:lpstr>
      <vt:lpstr>Roboto</vt:lpstr>
      <vt:lpstr>Fira Sans Extra Condensed</vt:lpstr>
      <vt:lpstr>Fira Sans</vt:lpstr>
      <vt:lpstr>Fira Sans Extra Condensed Medium</vt:lpstr>
      <vt:lpstr>Arial</vt:lpstr>
      <vt:lpstr>Gradient KPI Infographics by Slidesgo</vt:lpstr>
      <vt:lpstr>Business Process Infographics by Slidesgo</vt:lpstr>
      <vt:lpstr>Pyramid Infographics by Slidesgo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</dc:title>
  <cp:lastModifiedBy>Ximena Silva</cp:lastModifiedBy>
  <cp:revision>1</cp:revision>
  <dcterms:modified xsi:type="dcterms:W3CDTF">2026-10-14T19:42:09Z</dcterms:modified>
</cp:coreProperties>
</file>